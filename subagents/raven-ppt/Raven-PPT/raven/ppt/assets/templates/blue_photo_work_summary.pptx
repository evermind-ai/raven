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7" r:id="rId11"/>
    <p:sldId id="268" r:id="rId12"/>
    <p:sldId id="270" r:id="rId13"/>
    <p:sldId id="271" r:id="rId14"/>
    <p:sldId id="273" r:id="rId15"/>
    <p:sldId id="274" r:id="rId16"/>
    <p:sldId id="278" r:id="rId17"/>
    <p:sldId id="281" r:id="rId18"/>
    <p:sldId id="282" r:id="rId19"/>
    <p:sldId id="284" r:id="rId20"/>
    <p:sldId id="292" r:id="rId21"/>
    <p:sldId id="293" r:id="Rd2ea9733908043e6"/>
    <p:sldId id="294" r:id="Re45f0fc4622642d2"/>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105" d="100"/>
          <a:sy n="105" d="100"/>
        </p:scale>
        <p:origin x="120" y="22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tableStyles" Target="tableStyles.xml" Id="rId26" /><Relationship Type="http://schemas.openxmlformats.org/officeDocument/2006/relationships/slide" Target="slides/slide2.xml" Id="rId3" /><Relationship Type="http://schemas.openxmlformats.org/officeDocument/2006/relationships/slide" Target="slides/slide20.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theme" Target="theme/theme1.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19.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viewProps" Target="viewProps.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presProps" Target="presProps.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tags" Target="tags/tag1.xml" Id="rId22" /><Relationship Type="http://schemas.openxmlformats.org/officeDocument/2006/relationships/slide" Target="/ppt/slides/slide21.xml" Id="Rd2ea9733908043e6" /><Relationship Type="http://schemas.openxmlformats.org/officeDocument/2006/relationships/slide" Target="/ppt/slides/slide22.xml" Id="Re45f0fc4622642d2"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1"/>
        </a:solidFill>
        <a:effectLst/>
      </p:bgPr>
    </p:bg>
    <p:spTree>
      <p:nvGrpSpPr>
        <p:cNvPr id="1" name=""/>
        <p:cNvGrpSpPr/>
        <p:nvPr/>
      </p:nvGrpSpPr>
      <p:grpSpPr>
        <a:xfrm>
          <a:off x="0" y="0"/>
          <a:ext cx="0" cy="0"/>
          <a:chOff x="0" y="0"/>
          <a:chExt cx="0" cy="0"/>
        </a:xfrm>
      </p:grpSpPr>
      <p:grpSp>
        <p:nvGrpSpPr>
          <p:cNvPr id="49" name="组合 48"/>
          <p:cNvGrpSpPr/>
          <p:nvPr/>
        </p:nvGrpSpPr>
        <p:grpSpPr>
          <a:xfrm>
            <a:off x="0" y="0"/>
            <a:ext cx="12192000" cy="6858000"/>
            <a:chOff x="0" y="0"/>
            <a:chExt cx="12192000" cy="6858000"/>
          </a:xfrm>
        </p:grpSpPr>
        <p:sp>
          <p:nvSpPr>
            <p:cNvPr id="6" name="矩形 5"/>
            <p:cNvSpPr/>
            <p:nvPr/>
          </p:nvSpPr>
          <p:spPr>
            <a:xfrm>
              <a:off x="0" y="0"/>
              <a:ext cx="12192000" cy="6858000"/>
            </a:xfrm>
            <a:prstGeom prst="rect">
              <a:avLst/>
            </a:prstGeom>
            <a:blipFill>
              <a:blip r:embed="rId2">
                <a:alphaModFix amt="20000"/>
                <a:grayscl/>
              </a:blip>
              <a:srcRect/>
              <a:stretch>
                <a:fillRect t="-22593" b="-1457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660400" y="596700"/>
              <a:ext cx="3088477" cy="432000"/>
              <a:chOff x="1185569" y="534464"/>
              <a:chExt cx="3088477" cy="432000"/>
            </a:xfrm>
          </p:grpSpPr>
          <p:sp>
            <p:nvSpPr>
              <p:cNvPr id="47" name="矩形: 圆角 46"/>
              <p:cNvSpPr/>
              <p:nvPr/>
            </p:nvSpPr>
            <p:spPr>
              <a:xfrm>
                <a:off x="1185569" y="534464"/>
                <a:ext cx="2520000" cy="432000"/>
              </a:xfrm>
              <a:prstGeom prst="roundRect">
                <a:avLst>
                  <a:gd name="adj" fmla="val 50000"/>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4" name="组合 43"/>
              <p:cNvGrpSpPr>
                <a:grpSpLocks noChangeAspect="1"/>
              </p:cNvGrpSpPr>
              <p:nvPr/>
            </p:nvGrpSpPr>
            <p:grpSpPr>
              <a:xfrm>
                <a:off x="3842046" y="534464"/>
                <a:ext cx="432000" cy="432000"/>
                <a:chOff x="4493158" y="5424487"/>
                <a:chExt cx="519545" cy="519545"/>
              </a:xfrm>
              <a:gradFill flip="none" rotWithShape="1">
                <a:gsLst>
                  <a:gs pos="3000">
                    <a:schemeClr val="tx1"/>
                  </a:gs>
                  <a:gs pos="100000">
                    <a:schemeClr val="accent1">
                      <a:lumMod val="20000"/>
                      <a:lumOff val="80000"/>
                    </a:schemeClr>
                  </a:gs>
                </a:gsLst>
                <a:lin ang="2700000" scaled="1"/>
                <a:tileRect/>
              </a:gradFill>
            </p:grpSpPr>
            <p:sp>
              <p:nvSpPr>
                <p:cNvPr id="45" name="椭圆 44"/>
                <p:cNvSpPr>
                  <a:spLocks noChangeAspect="1"/>
                </p:cNvSpPr>
                <p:nvPr/>
              </p:nvSpPr>
              <p:spPr>
                <a:xfrm>
                  <a:off x="4493158" y="5424487"/>
                  <a:ext cx="519545" cy="519545"/>
                </a:xfrm>
                <a:prstGeom prst="ellipse">
                  <a:avLst/>
                </a:prstGeom>
                <a:solidFill>
                  <a:schemeClr val="tx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46" name="任意多边形: 形状 45"/>
                <p:cNvSpPr>
                  <a:spLocks noChangeAspect="1"/>
                </p:cNvSpPr>
                <p:nvPr/>
              </p:nvSpPr>
              <p:spPr>
                <a:xfrm>
                  <a:off x="4610517" y="5563266"/>
                  <a:ext cx="252000" cy="24198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27" name="组合 26"/>
            <p:cNvGrpSpPr/>
            <p:nvPr/>
          </p:nvGrpSpPr>
          <p:grpSpPr>
            <a:xfrm>
              <a:off x="11297364" y="3327708"/>
              <a:ext cx="126000" cy="608984"/>
              <a:chOff x="11297364" y="3218524"/>
              <a:chExt cx="126000" cy="608984"/>
            </a:xfrm>
          </p:grpSpPr>
          <p:sp>
            <p:nvSpPr>
              <p:cNvPr id="21" name="椭圆 20"/>
              <p:cNvSpPr>
                <a:spLocks noChangeAspect="1"/>
              </p:cNvSpPr>
              <p:nvPr/>
            </p:nvSpPr>
            <p:spPr>
              <a:xfrm>
                <a:off x="11297364" y="3218524"/>
                <a:ext cx="126000" cy="12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11297364" y="3460017"/>
                <a:ext cx="126000" cy="126000"/>
              </a:xfrm>
              <a:prstGeom prst="ellipse">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11297364" y="3701508"/>
                <a:ext cx="126000" cy="126000"/>
              </a:xfrm>
              <a:prstGeom prst="ellipse">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标题 4"/>
          <p:cNvSpPr>
            <a:spLocks noGrp="1"/>
          </p:cNvSpPr>
          <p:nvPr>
            <p:ph type="ctrTitle" hasCustomPrompt="1"/>
          </p:nvPr>
        </p:nvSpPr>
        <p:spPr>
          <a:xfrm>
            <a:off x="660401" y="1563143"/>
            <a:ext cx="9720000" cy="2376000"/>
          </a:xfrm>
          <a:prstGeom prst="rect">
            <a:avLst/>
          </a:prstGeom>
          <a:noFill/>
        </p:spPr>
        <p:txBody>
          <a:bodyPr wrap="square" anchor="b">
            <a:normAutofit/>
          </a:bodyPr>
          <a:lstStyle>
            <a:lvl1pPr algn="l">
              <a:lnSpc>
                <a:spcPct val="100000"/>
              </a:lnSpc>
              <a:defRPr sz="6600">
                <a:ln w="19050">
                  <a:noFill/>
                </a:ln>
                <a:solidFill>
                  <a:schemeClr val="tx1"/>
                </a:solidFill>
                <a:latin typeface="Times New Roman" panose="02020603050405020304" pitchFamily="18" charset="0"/>
                <a:cs typeface="Times New Roman" panose="02020603050405020304" pitchFamily="18" charset="0"/>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660400" y="4057805"/>
            <a:ext cx="9720000" cy="900000"/>
          </a:xfrm>
          <a:prstGeom prst="roundRect">
            <a:avLst>
              <a:gd name="adj" fmla="val 0"/>
            </a:avLst>
          </a:prstGeom>
          <a:noFill/>
          <a:ln>
            <a:noFill/>
          </a:ln>
        </p:spPr>
        <p:txBody>
          <a:bodyPr vert="horz" wrap="square" lIns="91440" tIns="45720" rIns="91440" bIns="45720" rtlCol="0" anchor="t" anchorCtr="0">
            <a:normAutofit/>
          </a:bodyPr>
          <a:lstStyle>
            <a:lvl1pPr marL="0" indent="0" algn="l">
              <a:lnSpc>
                <a:spcPct val="100000"/>
              </a:lnSpc>
              <a:buNone/>
              <a:defRPr lang="en-US" sz="2000" dirty="0">
                <a:solidFill>
                  <a:schemeClr val="tx1"/>
                </a:solidFill>
                <a:latin typeface="Times New Roman" panose="02020603050405020304" pitchFamily="18" charset="0"/>
                <a:cs typeface="Times New Roman" panose="02020603050405020304" pitchFamily="18" charset="0"/>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6118900" y="5577929"/>
            <a:ext cx="5400000" cy="288000"/>
          </a:xfrm>
          <a:prstGeom prst="roundRect">
            <a:avLst>
              <a:gd name="adj" fmla="val 0"/>
            </a:avLst>
          </a:prstGeom>
          <a:noFill/>
          <a:ln>
            <a:noFill/>
          </a:ln>
        </p:spPr>
        <p:txBody>
          <a:bodyPr wrap="square" lIns="90000" anchor="t">
            <a:normAutofit/>
          </a:bodyPr>
          <a:lstStyle>
            <a:lvl1pPr marL="0" indent="0" algn="r">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118900" y="5947700"/>
            <a:ext cx="5400000" cy="288000"/>
          </a:xfrm>
          <a:prstGeom prst="roundRect">
            <a:avLst>
              <a:gd name="adj" fmla="val 0"/>
            </a:avLst>
          </a:prstGeom>
          <a:noFill/>
          <a:ln>
            <a:noFill/>
          </a:ln>
        </p:spPr>
        <p:txBody>
          <a:bodyPr wrap="none" anchor="t">
            <a:normAutofit/>
          </a:bodyPr>
          <a:lstStyle>
            <a:lvl1pPr marL="0" indent="0" algn="r">
              <a:lnSpc>
                <a:spcPct val="100000"/>
              </a:lnSpc>
              <a:buNone/>
              <a:defRPr sz="1200">
                <a:solidFill>
                  <a:schemeClr val="tx1"/>
                </a:solidFill>
              </a:defRPr>
            </a:lvl1pPr>
          </a:lstStyle>
          <a:p>
            <a:pPr lvl="0"/>
            <a:r>
              <a:rPr lang="en-US" altLang="zh-CN"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44" name="组合 43"/>
          <p:cNvGrpSpPr/>
          <p:nvPr/>
        </p:nvGrpSpPr>
        <p:grpSpPr>
          <a:xfrm>
            <a:off x="0" y="-1"/>
            <a:ext cx="12192000" cy="6858001"/>
            <a:chOff x="0" y="-1"/>
            <a:chExt cx="12192000" cy="6858001"/>
          </a:xfrm>
        </p:grpSpPr>
        <p:grpSp>
          <p:nvGrpSpPr>
            <p:cNvPr id="28" name="组合 27"/>
            <p:cNvGrpSpPr/>
            <p:nvPr/>
          </p:nvGrpSpPr>
          <p:grpSpPr>
            <a:xfrm>
              <a:off x="0" y="-1"/>
              <a:ext cx="12192000" cy="6858001"/>
              <a:chOff x="0" y="-1"/>
              <a:chExt cx="12192000" cy="6858001"/>
            </a:xfrm>
          </p:grpSpPr>
          <p:sp>
            <p:nvSpPr>
              <p:cNvPr id="24" name="矩形 23"/>
              <p:cNvSpPr/>
              <p:nvPr/>
            </p:nvSpPr>
            <p:spPr>
              <a:xfrm>
                <a:off x="0" y="0"/>
                <a:ext cx="12192000" cy="685800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0" y="-1"/>
                <a:ext cx="12192000" cy="23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0"/>
                <a:ext cx="12192000" cy="2339999"/>
              </a:xfrm>
              <a:prstGeom prst="rect">
                <a:avLst/>
              </a:prstGeom>
              <a:blipFill>
                <a:blip r:embed="rId2">
                  <a:alphaModFix amt="20000"/>
                  <a:duotone>
                    <a:schemeClr val="accent1">
                      <a:shade val="45000"/>
                      <a:satMod val="135000"/>
                    </a:schemeClr>
                    <a:prstClr val="white"/>
                  </a:duotone>
                </a:blip>
                <a:srcRect/>
                <a:stretch>
                  <a:fillRect t="-172648" b="-51380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圆角 7"/>
            <p:cNvSpPr>
              <a:spLocks/>
            </p:cNvSpPr>
            <p:nvPr/>
          </p:nvSpPr>
          <p:spPr>
            <a:xfrm>
              <a:off x="660400" y="1735700"/>
              <a:ext cx="10858500" cy="4500000"/>
            </a:xfrm>
            <a:prstGeom prst="roundRect">
              <a:avLst>
                <a:gd name="adj" fmla="val 3575"/>
              </a:avLst>
            </a:pr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en-US" altLang="zh-CN" sz="2000" b="1" dirty="0">
                <a:solidFill>
                  <a:schemeClr val="bg1"/>
                </a:solidFill>
              </a:endParaRPr>
            </a:p>
            <a:p>
              <a:pPr algn="ctr" defTabSz="913765"/>
              <a:endParaRPr lang="zh-CN" altLang="en-US" sz="2000" b="1" dirty="0">
                <a:solidFill>
                  <a:schemeClr val="bg1"/>
                </a:solidFill>
              </a:endParaRPr>
            </a:p>
          </p:txBody>
        </p:sp>
        <p:cxnSp>
          <p:nvCxnSpPr>
            <p:cNvPr id="10" name="直接连接符 9"/>
            <p:cNvCxnSpPr>
              <a:cxnSpLocks/>
            </p:cNvCxnSpPr>
            <p:nvPr/>
          </p:nvCxnSpPr>
          <p:spPr>
            <a:xfrm>
              <a:off x="1317541" y="2095700"/>
              <a:ext cx="0" cy="3780000"/>
            </a:xfrm>
            <a:prstGeom prst="line">
              <a:avLst/>
            </a:prstGeom>
            <a:solidFill>
              <a:srgbClr val="FFCC00"/>
            </a:solidFill>
            <a:ln w="12700" cap="flat" cmpd="sng" algn="ctr">
              <a:solidFill>
                <a:schemeClr val="accent1">
                  <a:alpha val="50000"/>
                </a:schemeClr>
              </a:solidFill>
              <a:prstDash val="solid"/>
              <a:round/>
              <a:headEnd type="none" w="med" len="med"/>
              <a:tailEnd type="none" w="med" len="med"/>
            </a:ln>
            <a:effectLst/>
          </p:spPr>
        </p:cxnSp>
        <p:grpSp>
          <p:nvGrpSpPr>
            <p:cNvPr id="43" name="组合 42"/>
            <p:cNvGrpSpPr/>
            <p:nvPr/>
          </p:nvGrpSpPr>
          <p:grpSpPr>
            <a:xfrm>
              <a:off x="11297364" y="660308"/>
              <a:ext cx="126000" cy="608984"/>
              <a:chOff x="11297364" y="660308"/>
              <a:chExt cx="126000" cy="608984"/>
            </a:xfrm>
          </p:grpSpPr>
          <p:sp>
            <p:nvSpPr>
              <p:cNvPr id="34" name="椭圆 33"/>
              <p:cNvSpPr>
                <a:spLocks noChangeAspect="1"/>
              </p:cNvSpPr>
              <p:nvPr/>
            </p:nvSpPr>
            <p:spPr>
              <a:xfrm>
                <a:off x="11297364" y="660308"/>
                <a:ext cx="126000" cy="126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11297364" y="901801"/>
                <a:ext cx="126000" cy="126000"/>
              </a:xfrm>
              <a:prstGeom prst="ellipse">
                <a:avLst/>
              </a:prstGeom>
              <a:solidFill>
                <a:srgbClr val="FFFF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a:spLocks noChangeAspect="1"/>
              </p:cNvSpPr>
              <p:nvPr/>
            </p:nvSpPr>
            <p:spPr>
              <a:xfrm>
                <a:off x="11297364" y="1143292"/>
                <a:ext cx="126000" cy="126000"/>
              </a:xfrm>
              <a:prstGeom prst="ellipse">
                <a:avLst/>
              </a:prstGeom>
              <a:solidFill>
                <a:srgbClr val="FFFF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hasCustomPrompt="1"/>
          </p:nvPr>
        </p:nvSpPr>
        <p:spPr>
          <a:xfrm>
            <a:off x="1317540" y="424800"/>
            <a:ext cx="5111159" cy="1080000"/>
          </a:xfrm>
          <a:prstGeom prst="rect">
            <a:avLst/>
          </a:prstGeom>
          <a:noFill/>
        </p:spPr>
        <p:txBody>
          <a:bodyPr anchor="ctr" anchorCtr="0">
            <a:normAutofit/>
          </a:bodyPr>
          <a:lstStyle>
            <a:lvl1pPr algn="l">
              <a:defRPr sz="5400">
                <a:solidFill>
                  <a:srgbClr val="FFFFFF"/>
                </a:solidFill>
                <a:latin typeface="Times New Roman" panose="02020603050405020304" pitchFamily="18" charset="0"/>
                <a:cs typeface="Times New Roman" panose="02020603050405020304" pitchFamily="18" charset="0"/>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1501759" y="2095700"/>
            <a:ext cx="9360000" cy="37800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chemeClr val="bg1"/>
                </a:solidFill>
              </a:defRPr>
            </a:lvl1pPr>
          </a:lstStyle>
          <a:p>
            <a:endParaRPr lang="en-US" dirty="0"/>
          </a:p>
        </p:txBody>
      </p:sp>
      <p:sp>
        <p:nvSpPr>
          <p:cNvPr id="5" name="页脚占位符 4"/>
          <p:cNvSpPr>
            <a:spLocks noGrp="1"/>
          </p:cNvSpPr>
          <p:nvPr>
            <p:ph type="ftr" sz="quarter" idx="11"/>
          </p:nvPr>
        </p:nvSpPr>
        <p:spPr/>
        <p:txBody>
          <a:bodyPr/>
          <a:lstStyle>
            <a:lvl1pPr>
              <a:defRPr>
                <a:solidFill>
                  <a:schemeClr val="bg1"/>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chemeClr val="bg1"/>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33" name="组合 32"/>
          <p:cNvGrpSpPr/>
          <p:nvPr/>
        </p:nvGrpSpPr>
        <p:grpSpPr>
          <a:xfrm>
            <a:off x="0" y="0"/>
            <a:ext cx="12192000" cy="6858000"/>
            <a:chOff x="0" y="0"/>
            <a:chExt cx="12192000" cy="6858000"/>
          </a:xfrm>
        </p:grpSpPr>
        <p:sp>
          <p:nvSpPr>
            <p:cNvPr id="15" name="矩形 14"/>
            <p:cNvSpPr/>
            <p:nvPr/>
          </p:nvSpPr>
          <p:spPr>
            <a:xfrm>
              <a:off x="0" y="0"/>
              <a:ext cx="12192000" cy="685800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660400" y="596700"/>
              <a:ext cx="3088477" cy="432000"/>
              <a:chOff x="1185569" y="534464"/>
              <a:chExt cx="3088477" cy="432000"/>
            </a:xfrm>
          </p:grpSpPr>
          <p:sp>
            <p:nvSpPr>
              <p:cNvPr id="26" name="矩形: 圆角 25"/>
              <p:cNvSpPr/>
              <p:nvPr/>
            </p:nvSpPr>
            <p:spPr>
              <a:xfrm>
                <a:off x="1185569" y="534464"/>
                <a:ext cx="2520000" cy="432000"/>
              </a:xfrm>
              <a:prstGeom prst="roundRect">
                <a:avLst>
                  <a:gd name="adj" fmla="val 5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2" name="组合 21"/>
              <p:cNvGrpSpPr>
                <a:grpSpLocks noChangeAspect="1"/>
              </p:cNvGrpSpPr>
              <p:nvPr/>
            </p:nvGrpSpPr>
            <p:grpSpPr>
              <a:xfrm>
                <a:off x="3842046" y="534464"/>
                <a:ext cx="432000" cy="432000"/>
                <a:chOff x="4493158" y="5424487"/>
                <a:chExt cx="519545" cy="519545"/>
              </a:xfrm>
              <a:gradFill flip="none" rotWithShape="1">
                <a:gsLst>
                  <a:gs pos="3000">
                    <a:schemeClr val="tx1"/>
                  </a:gs>
                  <a:gs pos="100000">
                    <a:schemeClr val="accent1">
                      <a:lumMod val="20000"/>
                      <a:lumOff val="80000"/>
                    </a:schemeClr>
                  </a:gs>
                </a:gsLst>
                <a:lin ang="2700000" scaled="1"/>
                <a:tileRect/>
              </a:gradFill>
            </p:grpSpPr>
            <p:sp>
              <p:nvSpPr>
                <p:cNvPr id="23" name="椭圆 22"/>
                <p:cNvSpPr>
                  <a:spLocks noChangeAspect="1"/>
                </p:cNvSpPr>
                <p:nvPr/>
              </p:nvSpPr>
              <p:spPr>
                <a:xfrm>
                  <a:off x="4493158" y="5424487"/>
                  <a:ext cx="519545" cy="519545"/>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4" name="任意多边形: 形状 23"/>
                <p:cNvSpPr>
                  <a:spLocks noChangeAspect="1"/>
                </p:cNvSpPr>
                <p:nvPr/>
              </p:nvSpPr>
              <p:spPr>
                <a:xfrm>
                  <a:off x="4610517" y="5563266"/>
                  <a:ext cx="252000" cy="24198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32" name="组合 31"/>
            <p:cNvGrpSpPr/>
            <p:nvPr/>
          </p:nvGrpSpPr>
          <p:grpSpPr>
            <a:xfrm>
              <a:off x="7105753" y="1746803"/>
              <a:ext cx="5086247" cy="5111197"/>
              <a:chOff x="7105753" y="1746803"/>
              <a:chExt cx="5086247" cy="5111197"/>
            </a:xfrm>
          </p:grpSpPr>
          <p:sp>
            <p:nvSpPr>
              <p:cNvPr id="29" name="矩形 28"/>
              <p:cNvSpPr/>
              <p:nvPr/>
            </p:nvSpPr>
            <p:spPr>
              <a:xfrm>
                <a:off x="8915400" y="3581400"/>
                <a:ext cx="3276600" cy="3276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11297364" y="5525116"/>
                <a:ext cx="126000" cy="608984"/>
                <a:chOff x="11297364" y="5525116"/>
                <a:chExt cx="126000" cy="608984"/>
              </a:xfrm>
            </p:grpSpPr>
            <p:sp>
              <p:nvSpPr>
                <p:cNvPr id="18" name="椭圆 17"/>
                <p:cNvSpPr>
                  <a:spLocks noChangeAspect="1"/>
                </p:cNvSpPr>
                <p:nvPr/>
              </p:nvSpPr>
              <p:spPr>
                <a:xfrm>
                  <a:off x="11297364" y="5525116"/>
                  <a:ext cx="126000" cy="126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11297364" y="5766609"/>
                  <a:ext cx="126000" cy="126000"/>
                </a:xfrm>
                <a:prstGeom prst="ellipse">
                  <a:avLst/>
                </a:prstGeom>
                <a:solidFill>
                  <a:srgbClr val="FFFF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11297364" y="6008100"/>
                  <a:ext cx="126000" cy="126000"/>
                </a:xfrm>
                <a:prstGeom prst="ellipse">
                  <a:avLst/>
                </a:prstGeom>
                <a:solidFill>
                  <a:srgbClr val="FFFF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圆角 27"/>
              <p:cNvSpPr/>
              <p:nvPr/>
            </p:nvSpPr>
            <p:spPr>
              <a:xfrm>
                <a:off x="7105753" y="1746803"/>
                <a:ext cx="3770794" cy="3770794"/>
              </a:xfrm>
              <a:prstGeom prst="roundRect">
                <a:avLst>
                  <a:gd name="adj" fmla="val 7108"/>
                </a:avLst>
              </a:prstGeom>
              <a:blipFill>
                <a:blip r:embed="rId2">
                  <a:alphaModFix/>
                  <a:extLst>
                    <a:ext uri="{BEBA8EAE-BF5A-486C-A8C5-ECC9F3942E4B}">
                      <a14:imgProps xmlns:a14="http://schemas.microsoft.com/office/drawing/2010/main">
                        <a14:imgLayer r:embed="rId3">
                          <a14:imgEffect>
                            <a14:colorTemperature colorTemp="5900"/>
                          </a14:imgEffect>
                          <a14:imgEffect>
                            <a14:saturation sat="150000"/>
                          </a14:imgEffect>
                        </a14:imgLayer>
                      </a14:imgProps>
                    </a:ext>
                  </a:extLst>
                </a:blip>
                <a:stretch>
                  <a:fillRect t="-22593" b="-1457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标题 4"/>
          <p:cNvSpPr>
            <a:spLocks noGrp="1"/>
          </p:cNvSpPr>
          <p:nvPr>
            <p:ph type="title" hasCustomPrompt="1"/>
          </p:nvPr>
        </p:nvSpPr>
        <p:spPr>
          <a:xfrm>
            <a:off x="660400" y="2282027"/>
            <a:ext cx="6120000" cy="1800000"/>
          </a:xfrm>
          <a:prstGeom prst="rect">
            <a:avLst/>
          </a:prstGeom>
        </p:spPr>
        <p:txBody>
          <a:bodyPr anchor="b">
            <a:normAutofit/>
          </a:bodyPr>
          <a:lstStyle>
            <a:lvl1pPr algn="l">
              <a:lnSpc>
                <a:spcPct val="100000"/>
              </a:lnSpc>
              <a:defRPr sz="4400">
                <a:latin typeface="Times New Roman" panose="02020603050405020304" pitchFamily="18" charset="0"/>
                <a:cs typeface="Times New Roman" panose="02020603050405020304" pitchFamily="18" charset="0"/>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60400" y="4194679"/>
            <a:ext cx="6120000" cy="1080000"/>
          </a:xfrm>
          <a:prstGeom prst="rect">
            <a:avLst/>
          </a:prstGeom>
        </p:spPr>
        <p:txBody>
          <a:bodyPr anchor="t">
            <a:normAutofit/>
          </a:bodyPr>
          <a:lstStyle>
            <a:lvl1pPr marL="0" indent="0" algn="l">
              <a:lnSpc>
                <a:spcPct val="120000"/>
              </a:lnSpc>
              <a:buFont typeface="+mj-lt"/>
              <a:buNone/>
              <a:defRPr sz="2000" b="0">
                <a:solidFill>
                  <a:schemeClr val="tx1"/>
                </a:solidFill>
                <a:latin typeface="Times New Roman" panose="02020603050405020304" pitchFamily="18" charset="0"/>
                <a:cs typeface="Times New Roman" panose="02020603050405020304" pitchFamily="18" charset="0"/>
              </a:defRPr>
            </a:lvl1pPr>
          </a:lstStyle>
          <a:p>
            <a:pPr lvl="0"/>
            <a:r>
              <a:rPr lang="zh-CN" altLang="en-US" dirty="0"/>
              <a:t>Click to add text</a:t>
            </a:r>
            <a:endParaRPr lang="en-US" dirty="0"/>
          </a:p>
        </p:txBody>
      </p:sp>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
        <p:nvSpPr>
          <p:cNvPr id="6" name="矩形: 圆角 5">
            <a:extLst>
              <a:ext uri="{FF2B5EF4-FFF2-40B4-BE49-F238E27FC236}">
                <a16:creationId xmlns:a16="http://schemas.microsoft.com/office/drawing/2014/main" id="{046AD164-CC18-ABE5-B1B5-46272F85CDBB}"/>
              </a:ext>
            </a:extLst>
          </p:cNvPr>
          <p:cNvSpPr/>
          <p:nvPr userDrawn="1"/>
        </p:nvSpPr>
        <p:spPr>
          <a:xfrm>
            <a:off x="660398" y="380700"/>
            <a:ext cx="10260000" cy="648000"/>
          </a:xfrm>
          <a:prstGeom prst="roundRect">
            <a:avLst>
              <a:gd name="adj" fmla="val 5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a:extLst>
              <a:ext uri="{FF2B5EF4-FFF2-40B4-BE49-F238E27FC236}">
                <a16:creationId xmlns:a16="http://schemas.microsoft.com/office/drawing/2014/main" id="{65C75541-10A1-ADFC-7E9E-F6DA57528870}"/>
              </a:ext>
            </a:extLst>
          </p:cNvPr>
          <p:cNvSpPr>
            <a:spLocks noChangeAspect="1"/>
          </p:cNvSpPr>
          <p:nvPr userDrawn="1"/>
        </p:nvSpPr>
        <p:spPr>
          <a:xfrm>
            <a:off x="11014900" y="452700"/>
            <a:ext cx="504000" cy="504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任意多边形: 形状 7">
            <a:extLst>
              <a:ext uri="{FF2B5EF4-FFF2-40B4-BE49-F238E27FC236}">
                <a16:creationId xmlns:a16="http://schemas.microsoft.com/office/drawing/2014/main" id="{A93034D0-7DDD-429B-0B8B-252D002BE85C}"/>
              </a:ext>
            </a:extLst>
          </p:cNvPr>
          <p:cNvSpPr>
            <a:spLocks noChangeAspect="1"/>
          </p:cNvSpPr>
          <p:nvPr userDrawn="1"/>
        </p:nvSpPr>
        <p:spPr>
          <a:xfrm>
            <a:off x="11128748" y="587327"/>
            <a:ext cx="244460" cy="23474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9" name="组合 8">
            <a:extLst>
              <a:ext uri="{FF2B5EF4-FFF2-40B4-BE49-F238E27FC236}">
                <a16:creationId xmlns:a16="http://schemas.microsoft.com/office/drawing/2014/main" id="{28736109-4605-513A-EF4C-87C7D82F0B20}"/>
              </a:ext>
            </a:extLst>
          </p:cNvPr>
          <p:cNvGrpSpPr/>
          <p:nvPr userDrawn="1"/>
        </p:nvGrpSpPr>
        <p:grpSpPr>
          <a:xfrm>
            <a:off x="0" y="0"/>
            <a:ext cx="12192000" cy="6858000"/>
            <a:chOff x="0" y="0"/>
            <a:chExt cx="12192000" cy="6858000"/>
          </a:xfrm>
        </p:grpSpPr>
        <p:sp>
          <p:nvSpPr>
            <p:cNvPr id="10" name="矩形 9">
              <a:extLst>
                <a:ext uri="{FF2B5EF4-FFF2-40B4-BE49-F238E27FC236}">
                  <a16:creationId xmlns:a16="http://schemas.microsoft.com/office/drawing/2014/main" id="{5E205002-57EB-7DEB-9835-7AC9F4B59D9F}"/>
                </a:ext>
              </a:extLst>
            </p:cNvPr>
            <p:cNvSpPr/>
            <p:nvPr/>
          </p:nvSpPr>
          <p:spPr>
            <a:xfrm>
              <a:off x="0" y="0"/>
              <a:ext cx="12192000" cy="685800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A92F78B2-A97F-5D2F-E8FE-E74640D2B5FA}"/>
                </a:ext>
              </a:extLst>
            </p:cNvPr>
            <p:cNvSpPr/>
            <p:nvPr/>
          </p:nvSpPr>
          <p:spPr>
            <a:xfrm>
              <a:off x="660398" y="380700"/>
              <a:ext cx="10260000" cy="648000"/>
            </a:xfrm>
            <a:prstGeom prst="roundRect">
              <a:avLst>
                <a:gd name="adj" fmla="val 5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2" name="组合 11">
              <a:extLst>
                <a:ext uri="{FF2B5EF4-FFF2-40B4-BE49-F238E27FC236}">
                  <a16:creationId xmlns:a16="http://schemas.microsoft.com/office/drawing/2014/main" id="{CC0211CC-8351-5D60-1105-8DC74A82947A}"/>
                </a:ext>
              </a:extLst>
            </p:cNvPr>
            <p:cNvGrpSpPr>
              <a:grpSpLocks noChangeAspect="1"/>
            </p:cNvGrpSpPr>
            <p:nvPr/>
          </p:nvGrpSpPr>
          <p:grpSpPr>
            <a:xfrm>
              <a:off x="11014900" y="452700"/>
              <a:ext cx="504000" cy="504000"/>
              <a:chOff x="4493158" y="5424487"/>
              <a:chExt cx="519545" cy="519545"/>
            </a:xfrm>
            <a:gradFill flip="none" rotWithShape="1">
              <a:gsLst>
                <a:gs pos="3000">
                  <a:schemeClr val="tx1"/>
                </a:gs>
                <a:gs pos="100000">
                  <a:schemeClr val="accent1">
                    <a:lumMod val="20000"/>
                    <a:lumOff val="80000"/>
                  </a:schemeClr>
                </a:gs>
              </a:gsLst>
              <a:lin ang="2700000" scaled="1"/>
              <a:tileRect/>
            </a:gradFill>
          </p:grpSpPr>
          <p:sp>
            <p:nvSpPr>
              <p:cNvPr id="13" name="椭圆 12">
                <a:extLst>
                  <a:ext uri="{FF2B5EF4-FFF2-40B4-BE49-F238E27FC236}">
                    <a16:creationId xmlns:a16="http://schemas.microsoft.com/office/drawing/2014/main" id="{1B248235-736E-619B-F68B-D31CEA32FB60}"/>
                  </a:ext>
                </a:extLst>
              </p:cNvPr>
              <p:cNvSpPr>
                <a:spLocks noChangeAspect="1"/>
              </p:cNvSpPr>
              <p:nvPr/>
            </p:nvSpPr>
            <p:spPr>
              <a:xfrm>
                <a:off x="4493158" y="5424487"/>
                <a:ext cx="519545" cy="519545"/>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4" name="任意多边形: 形状 13">
                <a:extLst>
                  <a:ext uri="{FF2B5EF4-FFF2-40B4-BE49-F238E27FC236}">
                    <a16:creationId xmlns:a16="http://schemas.microsoft.com/office/drawing/2014/main" id="{35067E98-8C5B-AD90-DEAE-5E21BE390340}"/>
                  </a:ext>
                </a:extLst>
              </p:cNvPr>
              <p:cNvSpPr>
                <a:spLocks noChangeAspect="1"/>
              </p:cNvSpPr>
              <p:nvPr/>
            </p:nvSpPr>
            <p:spPr>
              <a:xfrm>
                <a:off x="4610517" y="5563266"/>
                <a:ext cx="252000" cy="24198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bg>
      <p:bgPr>
        <a:solidFill>
          <a:schemeClr val="accent1"/>
        </a:solidFill>
        <a:effectLst/>
      </p:bgPr>
    </p:bg>
    <p:spTree>
      <p:nvGrpSpPr>
        <p:cNvPr id="1" name=""/>
        <p:cNvGrpSpPr/>
        <p:nvPr/>
      </p:nvGrpSpPr>
      <p:grpSpPr>
        <a:xfrm>
          <a:off x="0" y="0"/>
          <a:ext cx="0" cy="0"/>
          <a:chOff x="0" y="0"/>
          <a:chExt cx="0" cy="0"/>
        </a:xfrm>
      </p:grpSpPr>
      <p:grpSp>
        <p:nvGrpSpPr>
          <p:cNvPr id="6" name="组合 5"/>
          <p:cNvGrpSpPr/>
          <p:nvPr/>
        </p:nvGrpSpPr>
        <p:grpSpPr>
          <a:xfrm>
            <a:off x="0" y="0"/>
            <a:ext cx="12192000" cy="6858000"/>
            <a:chOff x="0" y="0"/>
            <a:chExt cx="12192000" cy="6858000"/>
          </a:xfrm>
        </p:grpSpPr>
        <p:sp>
          <p:nvSpPr>
            <p:cNvPr id="8" name="矩形 7"/>
            <p:cNvSpPr/>
            <p:nvPr/>
          </p:nvSpPr>
          <p:spPr>
            <a:xfrm>
              <a:off x="0" y="0"/>
              <a:ext cx="12192000" cy="6858000"/>
            </a:xfrm>
            <a:prstGeom prst="rect">
              <a:avLst/>
            </a:prstGeom>
            <a:blipFill>
              <a:blip r:embed="rId2">
                <a:alphaModFix amt="20000"/>
                <a:grayscl/>
              </a:blip>
              <a:srcRect/>
              <a:stretch>
                <a:fillRect t="-22593" b="-1457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660400" y="596700"/>
              <a:ext cx="3088477" cy="432000"/>
              <a:chOff x="1185569" y="534464"/>
              <a:chExt cx="3088477" cy="432000"/>
            </a:xfrm>
          </p:grpSpPr>
          <p:sp>
            <p:nvSpPr>
              <p:cNvPr id="20" name="矩形: 圆角 19"/>
              <p:cNvSpPr/>
              <p:nvPr/>
            </p:nvSpPr>
            <p:spPr>
              <a:xfrm>
                <a:off x="1185569" y="534464"/>
                <a:ext cx="2520000" cy="432000"/>
              </a:xfrm>
              <a:prstGeom prst="roundRect">
                <a:avLst>
                  <a:gd name="adj" fmla="val 50000"/>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7" name="组合 16"/>
              <p:cNvGrpSpPr>
                <a:grpSpLocks noChangeAspect="1"/>
              </p:cNvGrpSpPr>
              <p:nvPr/>
            </p:nvGrpSpPr>
            <p:grpSpPr>
              <a:xfrm>
                <a:off x="3842046" y="534464"/>
                <a:ext cx="432000" cy="432000"/>
                <a:chOff x="4493158" y="5424487"/>
                <a:chExt cx="519545" cy="519545"/>
              </a:xfrm>
              <a:gradFill flip="none" rotWithShape="1">
                <a:gsLst>
                  <a:gs pos="3000">
                    <a:schemeClr val="tx1"/>
                  </a:gs>
                  <a:gs pos="100000">
                    <a:schemeClr val="accent1">
                      <a:lumMod val="20000"/>
                      <a:lumOff val="80000"/>
                    </a:schemeClr>
                  </a:gs>
                </a:gsLst>
                <a:lin ang="2700000" scaled="1"/>
                <a:tileRect/>
              </a:gradFill>
            </p:grpSpPr>
            <p:sp>
              <p:nvSpPr>
                <p:cNvPr id="18" name="椭圆 17"/>
                <p:cNvSpPr>
                  <a:spLocks noChangeAspect="1"/>
                </p:cNvSpPr>
                <p:nvPr/>
              </p:nvSpPr>
              <p:spPr>
                <a:xfrm>
                  <a:off x="4493158" y="5424487"/>
                  <a:ext cx="519545" cy="519545"/>
                </a:xfrm>
                <a:prstGeom prst="ellipse">
                  <a:avLst/>
                </a:prstGeom>
                <a:solidFill>
                  <a:schemeClr val="tx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9" name="任意多边形: 形状 18"/>
                <p:cNvSpPr>
                  <a:spLocks noChangeAspect="1"/>
                </p:cNvSpPr>
                <p:nvPr/>
              </p:nvSpPr>
              <p:spPr>
                <a:xfrm>
                  <a:off x="4610517" y="5563266"/>
                  <a:ext cx="252000" cy="24198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11" name="组合 10"/>
            <p:cNvGrpSpPr/>
            <p:nvPr/>
          </p:nvGrpSpPr>
          <p:grpSpPr>
            <a:xfrm>
              <a:off x="11297364" y="3327708"/>
              <a:ext cx="126000" cy="608984"/>
              <a:chOff x="11297364" y="3218524"/>
              <a:chExt cx="126000" cy="608984"/>
            </a:xfrm>
          </p:grpSpPr>
          <p:sp>
            <p:nvSpPr>
              <p:cNvPr id="13" name="椭圆 12"/>
              <p:cNvSpPr>
                <a:spLocks noChangeAspect="1"/>
              </p:cNvSpPr>
              <p:nvPr/>
            </p:nvSpPr>
            <p:spPr>
              <a:xfrm>
                <a:off x="11297364" y="3218524"/>
                <a:ext cx="126000" cy="12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a:spLocks noChangeAspect="1"/>
              </p:cNvSpPr>
              <p:nvPr/>
            </p:nvSpPr>
            <p:spPr>
              <a:xfrm>
                <a:off x="11297364" y="3460017"/>
                <a:ext cx="126000" cy="126000"/>
              </a:xfrm>
              <a:prstGeom prst="ellipse">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a:spLocks noChangeAspect="1"/>
              </p:cNvSpPr>
              <p:nvPr/>
            </p:nvSpPr>
            <p:spPr>
              <a:xfrm>
                <a:off x="11297364" y="3701508"/>
                <a:ext cx="126000" cy="126000"/>
              </a:xfrm>
              <a:prstGeom prst="ellipse">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2" name="标题 21"/>
          <p:cNvSpPr>
            <a:spLocks noGrp="1"/>
          </p:cNvSpPr>
          <p:nvPr>
            <p:ph type="ctrTitle" hasCustomPrompt="1"/>
          </p:nvPr>
        </p:nvSpPr>
        <p:spPr>
          <a:xfrm>
            <a:off x="660401" y="1563143"/>
            <a:ext cx="9720000" cy="3060000"/>
          </a:xfrm>
          <a:prstGeom prst="rect">
            <a:avLst/>
          </a:prstGeom>
          <a:noFill/>
        </p:spPr>
        <p:txBody>
          <a:bodyPr wrap="square" anchor="ctr">
            <a:normAutofit/>
          </a:bodyPr>
          <a:lstStyle>
            <a:lvl1pPr algn="l">
              <a:lnSpc>
                <a:spcPct val="100000"/>
              </a:lnSpc>
              <a:defRPr sz="6600">
                <a:ln w="19050">
                  <a:noFill/>
                </a:ln>
                <a:solidFill>
                  <a:schemeClr val="tx1"/>
                </a:solidFill>
                <a:latin typeface="Times New Roman" panose="02020603050405020304" pitchFamily="18" charset="0"/>
                <a:cs typeface="Times New Roman" panose="02020603050405020304" pitchFamily="18" charset="0"/>
              </a:defRPr>
            </a:lvl1pPr>
          </a:lstStyle>
          <a:p>
            <a:pPr lvl="0"/>
            <a:r>
              <a:rPr lang="zh-CN" altLang="en-US" dirty="0"/>
              <a:t>Click to add title</a:t>
            </a:r>
            <a:endParaRPr lang="en-US" dirty="0"/>
          </a:p>
        </p:txBody>
      </p:sp>
      <p:sp>
        <p:nvSpPr>
          <p:cNvPr id="23" name="文本占位符 22"/>
          <p:cNvSpPr>
            <a:spLocks noGrp="1"/>
          </p:cNvSpPr>
          <p:nvPr>
            <p:ph type="body" sz="quarter" idx="13" hasCustomPrompt="1"/>
          </p:nvPr>
        </p:nvSpPr>
        <p:spPr>
          <a:xfrm>
            <a:off x="6118900" y="5577929"/>
            <a:ext cx="5400000" cy="288000"/>
          </a:xfrm>
          <a:prstGeom prst="roundRect">
            <a:avLst>
              <a:gd name="adj" fmla="val 0"/>
            </a:avLst>
          </a:prstGeom>
          <a:noFill/>
          <a:ln>
            <a:noFill/>
          </a:ln>
        </p:spPr>
        <p:txBody>
          <a:bodyPr wrap="square" lIns="90000" anchor="t">
            <a:normAutofit/>
          </a:bodyPr>
          <a:lstStyle>
            <a:lvl1pPr marL="0" indent="0" algn="r">
              <a:lnSpc>
                <a:spcPct val="100000"/>
              </a:lnSpc>
              <a:buNone/>
              <a:defRPr sz="1200">
                <a:solidFill>
                  <a:schemeClr val="tx1"/>
                </a:solidFill>
              </a:defRPr>
            </a:lvl1pPr>
          </a:lstStyle>
          <a:p>
            <a:pPr lvl="0"/>
            <a:r>
              <a:rPr lang="zh-CN" altLang="en-US" dirty="0"/>
              <a:t>Presenter name</a:t>
            </a:r>
            <a:endParaRPr lang="en-US" dirty="0"/>
          </a:p>
        </p:txBody>
      </p:sp>
      <p:sp>
        <p:nvSpPr>
          <p:cNvPr id="24" name="文本占位符 23"/>
          <p:cNvSpPr>
            <a:spLocks noGrp="1"/>
          </p:cNvSpPr>
          <p:nvPr>
            <p:ph type="body" sz="quarter" idx="14" hasCustomPrompt="1"/>
          </p:nvPr>
        </p:nvSpPr>
        <p:spPr>
          <a:xfrm>
            <a:off x="6118900" y="5947700"/>
            <a:ext cx="5400000" cy="288000"/>
          </a:xfrm>
          <a:prstGeom prst="roundRect">
            <a:avLst>
              <a:gd name="adj" fmla="val 0"/>
            </a:avLst>
          </a:prstGeom>
          <a:noFill/>
          <a:ln>
            <a:noFill/>
          </a:ln>
        </p:spPr>
        <p:txBody>
          <a:bodyPr wrap="none" anchor="t">
            <a:normAutofit/>
          </a:bodyPr>
          <a:lstStyle>
            <a:lvl1pPr marL="0" indent="0" algn="r">
              <a:lnSpc>
                <a:spcPct val="100000"/>
              </a:lnSpc>
              <a:buNone/>
              <a:defRPr sz="1200">
                <a:solidFill>
                  <a:schemeClr val="tx1"/>
                </a:solidFill>
              </a:defRPr>
            </a:lvl1pPr>
          </a:lstStyle>
          <a:p>
            <a:pPr lvl="0"/>
            <a:r>
              <a:rPr lang="en-US" altLang="zh-CN"/>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p:nvGrpSpPr>
        <p:grpSpPr>
          <a:xfrm>
            <a:off x="0" y="0"/>
            <a:ext cx="12192000" cy="6858000"/>
            <a:chOff x="0" y="0"/>
            <a:chExt cx="12192000" cy="6858000"/>
          </a:xfrm>
        </p:grpSpPr>
        <p:sp>
          <p:nvSpPr>
            <p:cNvPr id="14" name="矩形 13"/>
            <p:cNvSpPr/>
            <p:nvPr/>
          </p:nvSpPr>
          <p:spPr>
            <a:xfrm>
              <a:off x="0" y="0"/>
              <a:ext cx="12192000" cy="685800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60398" y="380700"/>
              <a:ext cx="10260000" cy="648000"/>
            </a:xfrm>
            <a:prstGeom prst="roundRect">
              <a:avLst>
                <a:gd name="adj" fmla="val 5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9" name="组合 8"/>
            <p:cNvGrpSpPr>
              <a:grpSpLocks noChangeAspect="1"/>
            </p:cNvGrpSpPr>
            <p:nvPr/>
          </p:nvGrpSpPr>
          <p:grpSpPr>
            <a:xfrm>
              <a:off x="11014900" y="452700"/>
              <a:ext cx="504000" cy="504000"/>
              <a:chOff x="4493158" y="5424487"/>
              <a:chExt cx="519545" cy="519545"/>
            </a:xfrm>
            <a:gradFill flip="none" rotWithShape="1">
              <a:gsLst>
                <a:gs pos="3000">
                  <a:schemeClr val="tx1"/>
                </a:gs>
                <a:gs pos="100000">
                  <a:schemeClr val="accent1">
                    <a:lumMod val="20000"/>
                    <a:lumOff val="80000"/>
                  </a:schemeClr>
                </a:gs>
              </a:gsLst>
              <a:lin ang="2700000" scaled="1"/>
              <a:tileRect/>
            </a:gradFill>
          </p:grpSpPr>
          <p:sp>
            <p:nvSpPr>
              <p:cNvPr id="10" name="椭圆 9"/>
              <p:cNvSpPr>
                <a:spLocks noChangeAspect="1"/>
              </p:cNvSpPr>
              <p:nvPr/>
            </p:nvSpPr>
            <p:spPr>
              <a:xfrm>
                <a:off x="4493158" y="5424487"/>
                <a:ext cx="519545" cy="519545"/>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1" name="任意多边形: 形状 10"/>
              <p:cNvSpPr>
                <a:spLocks noChangeAspect="1"/>
              </p:cNvSpPr>
              <p:nvPr/>
            </p:nvSpPr>
            <p:spPr>
              <a:xfrm>
                <a:off x="4610517" y="5563266"/>
                <a:ext cx="252000" cy="241984"/>
              </a:xfrm>
              <a:custGeom>
                <a:avLst/>
                <a:gdLst>
                  <a:gd name="T0" fmla="*/ 6159 w 6389"/>
                  <a:gd name="T1" fmla="*/ 5080 h 6144"/>
                  <a:gd name="T2" fmla="*/ 5015 w 6389"/>
                  <a:gd name="T3" fmla="*/ 3936 h 6144"/>
                  <a:gd name="T4" fmla="*/ 4648 w 6389"/>
                  <a:gd name="T5" fmla="*/ 755 h 6144"/>
                  <a:gd name="T6" fmla="*/ 2826 w 6389"/>
                  <a:gd name="T7" fmla="*/ 0 h 6144"/>
                  <a:gd name="T8" fmla="*/ 1004 w 6389"/>
                  <a:gd name="T9" fmla="*/ 755 h 6144"/>
                  <a:gd name="T10" fmla="*/ 1004 w 6389"/>
                  <a:gd name="T11" fmla="*/ 4399 h 6144"/>
                  <a:gd name="T12" fmla="*/ 2826 w 6389"/>
                  <a:gd name="T13" fmla="*/ 5153 h 6144"/>
                  <a:gd name="T14" fmla="*/ 4181 w 6389"/>
                  <a:gd name="T15" fmla="*/ 4769 h 6144"/>
                  <a:gd name="T16" fmla="*/ 5317 w 6389"/>
                  <a:gd name="T17" fmla="*/ 5905 h 6144"/>
                  <a:gd name="T18" fmla="*/ 6167 w 6389"/>
                  <a:gd name="T19" fmla="*/ 5905 h 6144"/>
                  <a:gd name="T20" fmla="*/ 6159 w 6389"/>
                  <a:gd name="T21" fmla="*/ 5080 h 6144"/>
                  <a:gd name="T22" fmla="*/ 4571 w 6389"/>
                  <a:gd name="T23" fmla="*/ 3491 h 6144"/>
                  <a:gd name="T24" fmla="*/ 4500 w 6389"/>
                  <a:gd name="T25" fmla="*/ 3421 h 6144"/>
                  <a:gd name="T26" fmla="*/ 3933 w 6389"/>
                  <a:gd name="T27" fmla="*/ 3421 h 6144"/>
                  <a:gd name="T28" fmla="*/ 3666 w 6389"/>
                  <a:gd name="T29" fmla="*/ 3688 h 6144"/>
                  <a:gd name="T30" fmla="*/ 3666 w 6389"/>
                  <a:gd name="T31" fmla="*/ 4255 h 6144"/>
                  <a:gd name="T32" fmla="*/ 3736 w 6389"/>
                  <a:gd name="T33" fmla="*/ 4325 h 6144"/>
                  <a:gd name="T34" fmla="*/ 2826 w 6389"/>
                  <a:gd name="T35" fmla="*/ 4546 h 6144"/>
                  <a:gd name="T36" fmla="*/ 1433 w 6389"/>
                  <a:gd name="T37" fmla="*/ 3969 h 6144"/>
                  <a:gd name="T38" fmla="*/ 1433 w 6389"/>
                  <a:gd name="T39" fmla="*/ 1184 h 6144"/>
                  <a:gd name="T40" fmla="*/ 2826 w 6389"/>
                  <a:gd name="T41" fmla="*/ 607 h 6144"/>
                  <a:gd name="T42" fmla="*/ 4219 w 6389"/>
                  <a:gd name="T43" fmla="*/ 1184 h 6144"/>
                  <a:gd name="T44" fmla="*/ 4571 w 6389"/>
                  <a:gd name="T45" fmla="*/ 3491 h 6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89" h="6144">
                    <a:moveTo>
                      <a:pt x="6159" y="5080"/>
                    </a:moveTo>
                    <a:lnTo>
                      <a:pt x="5015" y="3936"/>
                    </a:lnTo>
                    <a:cubicBezTo>
                      <a:pt x="5632" y="2942"/>
                      <a:pt x="5510" y="1617"/>
                      <a:pt x="4648" y="755"/>
                    </a:cubicBezTo>
                    <a:cubicBezTo>
                      <a:pt x="4162" y="268"/>
                      <a:pt x="3514" y="0"/>
                      <a:pt x="2826" y="0"/>
                    </a:cubicBezTo>
                    <a:cubicBezTo>
                      <a:pt x="2138" y="0"/>
                      <a:pt x="1491" y="268"/>
                      <a:pt x="1004" y="755"/>
                    </a:cubicBezTo>
                    <a:cubicBezTo>
                      <a:pt x="0" y="1759"/>
                      <a:pt x="0" y="3394"/>
                      <a:pt x="1004" y="4399"/>
                    </a:cubicBezTo>
                    <a:cubicBezTo>
                      <a:pt x="1491" y="4885"/>
                      <a:pt x="2138" y="5153"/>
                      <a:pt x="2826" y="5153"/>
                    </a:cubicBezTo>
                    <a:cubicBezTo>
                      <a:pt x="3312" y="5153"/>
                      <a:pt x="3778" y="5019"/>
                      <a:pt x="4181" y="4769"/>
                    </a:cubicBezTo>
                    <a:lnTo>
                      <a:pt x="5317" y="5905"/>
                    </a:lnTo>
                    <a:cubicBezTo>
                      <a:pt x="5550" y="6139"/>
                      <a:pt x="5938" y="6144"/>
                      <a:pt x="6167" y="5905"/>
                    </a:cubicBezTo>
                    <a:cubicBezTo>
                      <a:pt x="6389" y="5675"/>
                      <a:pt x="6387" y="5307"/>
                      <a:pt x="6159" y="5080"/>
                    </a:cubicBezTo>
                    <a:close/>
                    <a:moveTo>
                      <a:pt x="4571" y="3491"/>
                    </a:moveTo>
                    <a:lnTo>
                      <a:pt x="4500" y="3421"/>
                    </a:lnTo>
                    <a:cubicBezTo>
                      <a:pt x="4343" y="3264"/>
                      <a:pt x="4090" y="3264"/>
                      <a:pt x="3933" y="3421"/>
                    </a:cubicBezTo>
                    <a:lnTo>
                      <a:pt x="3666" y="3688"/>
                    </a:lnTo>
                    <a:cubicBezTo>
                      <a:pt x="3509" y="3844"/>
                      <a:pt x="3509" y="4098"/>
                      <a:pt x="3666" y="4255"/>
                    </a:cubicBezTo>
                    <a:lnTo>
                      <a:pt x="3736" y="4325"/>
                    </a:lnTo>
                    <a:cubicBezTo>
                      <a:pt x="3458" y="4470"/>
                      <a:pt x="3148" y="4546"/>
                      <a:pt x="2826" y="4546"/>
                    </a:cubicBezTo>
                    <a:cubicBezTo>
                      <a:pt x="2300" y="4546"/>
                      <a:pt x="1805" y="4341"/>
                      <a:pt x="1433" y="3969"/>
                    </a:cubicBezTo>
                    <a:cubicBezTo>
                      <a:pt x="665" y="3201"/>
                      <a:pt x="665" y="1952"/>
                      <a:pt x="1433" y="1184"/>
                    </a:cubicBezTo>
                    <a:cubicBezTo>
                      <a:pt x="1805" y="812"/>
                      <a:pt x="2300" y="607"/>
                      <a:pt x="2826" y="607"/>
                    </a:cubicBezTo>
                    <a:cubicBezTo>
                      <a:pt x="3352" y="607"/>
                      <a:pt x="3847" y="812"/>
                      <a:pt x="4219" y="1184"/>
                    </a:cubicBezTo>
                    <a:cubicBezTo>
                      <a:pt x="4843" y="1807"/>
                      <a:pt x="4960" y="2748"/>
                      <a:pt x="4571" y="349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2" name="标题占位符 1"/>
          <p:cNvSpPr>
            <a:spLocks noGrp="1"/>
          </p:cNvSpPr>
          <p:nvPr>
            <p:ph type="title"/>
          </p:nvPr>
        </p:nvSpPr>
        <p:spPr>
          <a:xfrm>
            <a:off x="930398" y="416700"/>
            <a:ext cx="9720000" cy="576000"/>
          </a:xfrm>
          <a:prstGeom prst="rect">
            <a:avLst/>
          </a:prstGeom>
        </p:spPr>
        <p:txBody>
          <a:bodyPr vert="horz" lIns="91440" tIns="45720" rIns="91440" bIns="45720" rtlCol="0" anchor="ctr">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5.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image" Target="../media/image9.jpg"/><Relationship Id="rId1" Type="http://schemas.openxmlformats.org/officeDocument/2006/relationships/slideLayout" Target="../slideLayouts/slideLayout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&#65279;<?xml version="1.0" encoding="utf-8"?><Relationships xmlns="http://schemas.openxmlformats.org/package/2006/relationships"><Relationship Type="http://schemas.openxmlformats.org/officeDocument/2006/relationships/image" Target="/ppt/media/image22.png" Id="rId8" /><Relationship Type="http://schemas.openxmlformats.org/officeDocument/2006/relationships/image" Target="/ppt/media/image63.png" Id="rId13" /><Relationship Type="http://schemas.openxmlformats.org/officeDocument/2006/relationships/image" Target="/ppt/media/image54.png" Id="rId12" /><Relationship Type="http://schemas.openxmlformats.org/officeDocument/2006/relationships/image" Target="/ppt/media/image45.png" Id="rId11" /><Relationship Type="http://schemas.openxmlformats.org/officeDocument/2006/relationships/image" Target="/ppt/media/image36.png" Id="rId10" /><Relationship Type="http://schemas.openxmlformats.org/officeDocument/2006/relationships/image" Target="/ppt/media/image716.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20ebd090a72645ff" /></Relationships>
</file>

<file path=ppt/slides/_rels/slide22.xml.rels>&#65279;<?xml version="1.0" encoding="utf-8"?><Relationships xmlns="http://schemas.openxmlformats.org/package/2006/relationships"><Relationship Type="http://schemas.openxmlformats.org/officeDocument/2006/relationships/image" Target="/ppt/media/image17.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7ceb7bcf8bc1437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副标题 8"/>
          <p:cNvSpPr>
            <a:spLocks noGrp="1"/>
          </p:cNvSpPr>
          <p:nvPr>
            <p:ph type="subTitle" sz="quarter" idx="1" hasCustomPrompt="1"/>
          </p:nvPr>
        </p:nvSpPr>
        <p:spPr>
          <a:xfrm>
            <a:off x="660400" y="4173314"/>
            <a:ext cx="9720000" cy="900000"/>
          </a:xfrm>
        </p:spPr>
        <p:txBody>
          <a:bodyPr/>
          <a:lstStyle/>
          <a:p>
            <a:r>
              <a:rPr lang="zh-CN" altLang="en-US" spc="600" dirty="0"/>
              <a:t>全面总结行业工作成果与经验 展望未来发展方向</a:t>
            </a:r>
            <a:endParaRPr lang="en-US" spc="600"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2025/05/15</a:t>
            </a:r>
            <a:endParaRPr lang="en-US" dirty="0"/>
          </a:p>
        </p:txBody>
      </p:sp>
      <p:sp>
        <p:nvSpPr>
          <p:cNvPr id="6" name="标题 4">
            <a:extLst>
              <a:ext uri="{FF2B5EF4-FFF2-40B4-BE49-F238E27FC236}">
                <a16:creationId xmlns:a16="http://schemas.microsoft.com/office/drawing/2014/main" id="{D678A8F5-FF5A-7EA7-DC3A-EAE19353AF43}"/>
              </a:ext>
            </a:extLst>
          </p:cNvPr>
          <p:cNvSpPr>
            <a:spLocks noGrp="1"/>
          </p:cNvSpPr>
          <p:nvPr>
            <p:ph type="ctrTitle" hasCustomPrompt="1"/>
          </p:nvPr>
        </p:nvSpPr>
        <p:spPr>
          <a:xfrm>
            <a:off x="660400" y="1715543"/>
            <a:ext cx="9872401" cy="2376000"/>
          </a:xfrm>
        </p:spPr>
        <p:txBody>
          <a:bodyPr/>
          <a:lstStyle/>
          <a:p>
            <a:r>
              <a:rPr lang="en-US" altLang="zh-CN" dirty="0"/>
              <a:t>Work Summary.</a:t>
            </a:r>
            <a:br>
              <a:rPr lang="en-US" altLang="zh-CN" dirty="0"/>
            </a:br>
            <a:r>
              <a:rPr lang="zh-CN" altLang="en-US" sz="8000" dirty="0"/>
              <a:t>通用行业工作总结</a:t>
            </a:r>
            <a:endParaRPr lang="en-US" dirty="0"/>
          </a:p>
        </p:txBody>
      </p:sp>
      <p:cxnSp>
        <p:nvCxnSpPr>
          <p:cNvPr id="11" name="直接连接符 10">
            <a:extLst>
              <a:ext uri="{FF2B5EF4-FFF2-40B4-BE49-F238E27FC236}">
                <a16:creationId xmlns:a16="http://schemas.microsoft.com/office/drawing/2014/main" id="{24CF3C3A-161C-35BD-C6D4-941041900A2B}"/>
              </a:ext>
            </a:extLst>
          </p:cNvPr>
          <p:cNvCxnSpPr>
            <a:cxnSpLocks/>
          </p:cNvCxnSpPr>
          <p:nvPr/>
        </p:nvCxnSpPr>
        <p:spPr>
          <a:xfrm>
            <a:off x="698500" y="4245102"/>
            <a:ext cx="0" cy="273362"/>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DC38AE-F463-BE77-EEBF-31C7D230D132}"/>
              </a:ext>
            </a:extLst>
          </p:cNvPr>
          <p:cNvCxnSpPr>
            <a:cxnSpLocks/>
          </p:cNvCxnSpPr>
          <p:nvPr/>
        </p:nvCxnSpPr>
        <p:spPr>
          <a:xfrm>
            <a:off x="5073650" y="4245102"/>
            <a:ext cx="0" cy="273362"/>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8BF8FED-A39A-68CA-774A-53F886BBA075}"/>
              </a:ext>
            </a:extLst>
          </p:cNvPr>
          <p:cNvCxnSpPr>
            <a:cxnSpLocks/>
          </p:cNvCxnSpPr>
          <p:nvPr/>
        </p:nvCxnSpPr>
        <p:spPr>
          <a:xfrm>
            <a:off x="7816850" y="4245102"/>
            <a:ext cx="0" cy="273362"/>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C1385C3-9BCB-F1BD-617F-6B88ED9E9282}"/>
              </a:ext>
            </a:extLst>
          </p:cNvPr>
          <p:cNvSpPr/>
          <p:nvPr/>
        </p:nvSpPr>
        <p:spPr>
          <a:xfrm>
            <a:off x="660400" y="2884293"/>
            <a:ext cx="2563677" cy="1089415"/>
          </a:xfrm>
          <a:prstGeom prst="rect">
            <a:avLst/>
          </a:prstGeom>
        </p:spPr>
        <p:txBody>
          <a:bodyPr wrap="none" anchor="ctr" anchorCtr="0">
            <a:normAutofit/>
          </a:bodyPr>
          <a:lstStyle/>
          <a:p>
            <a:pPr>
              <a:buSzPct val="25000"/>
            </a:pPr>
            <a:r>
              <a:rPr lang="zh-CN" altLang="en-US" sz="4800" b="1" dirty="0"/>
              <a:t>目录</a:t>
            </a:r>
            <a:endParaRPr lang="en-US" dirty="0"/>
          </a:p>
        </p:txBody>
      </p:sp>
      <p:grpSp>
        <p:nvGrpSpPr>
          <p:cNvPr id="6" name="组合 1">
            <a:extLst>
              <a:ext uri="{FF2B5EF4-FFF2-40B4-BE49-F238E27FC236}">
                <a16:creationId xmlns:a16="http://schemas.microsoft.com/office/drawing/2014/main" id="{EC7DF959-5411-754B-909F-5BCC1C4E02C1}"/>
              </a:ext>
            </a:extLst>
          </p:cNvPr>
          <p:cNvGrpSpPr/>
          <p:nvPr/>
        </p:nvGrpSpPr>
        <p:grpSpPr>
          <a:xfrm>
            <a:off x="2969215" y="1906465"/>
            <a:ext cx="3882957" cy="1127670"/>
            <a:chOff x="324574" y="4555246"/>
            <a:chExt cx="6116093" cy="1127670"/>
          </a:xfrm>
        </p:grpSpPr>
        <p:sp>
          <p:nvSpPr>
            <p:cNvPr id="3" name="Bullet1">
              <a:extLst>
                <a:ext uri="{FF2B5EF4-FFF2-40B4-BE49-F238E27FC236}">
                  <a16:creationId xmlns:a16="http://schemas.microsoft.com/office/drawing/2014/main" id="{B2E8FB14-7A61-0CF5-D199-7458768FC64D}"/>
                </a:ext>
              </a:extLst>
            </p:cNvPr>
            <p:cNvSpPr/>
            <p:nvPr/>
          </p:nvSpPr>
          <p:spPr>
            <a:xfrm>
              <a:off x="1518572" y="4939058"/>
              <a:ext cx="4922095" cy="743858"/>
            </a:xfrm>
            <a:prstGeom prst="round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400" b="1" dirty="0">
                  <a:solidFill>
                    <a:schemeClr val="tx1"/>
                  </a:solidFill>
                </a:rPr>
                <a:t>行业整体概述</a:t>
              </a:r>
              <a:endParaRPr lang="en-US" sz="2400" dirty="0"/>
            </a:p>
          </p:txBody>
        </p:sp>
        <p:sp>
          <p:nvSpPr>
            <p:cNvPr id="4" name="Number1">
              <a:extLst>
                <a:ext uri="{FF2B5EF4-FFF2-40B4-BE49-F238E27FC236}">
                  <a16:creationId xmlns:a16="http://schemas.microsoft.com/office/drawing/2014/main" id="{DE4D7DC2-9944-1166-3F18-2D320958B22B}"/>
                </a:ext>
              </a:extLst>
            </p:cNvPr>
            <p:cNvSpPr txBox="1"/>
            <p:nvPr/>
          </p:nvSpPr>
          <p:spPr>
            <a:xfrm>
              <a:off x="324574" y="4555246"/>
              <a:ext cx="1411540" cy="743858"/>
            </a:xfrm>
            <a:prstGeom prst="roundRect">
              <a:avLst/>
            </a:prstGeom>
            <a:solidFill>
              <a:schemeClr val="accent1"/>
            </a:solidFill>
          </p:spPr>
          <p:txBody>
            <a:bodyPr wrap="none" rtlCol="0" anchor="ctr">
              <a:normAutofit fontScale="47500" lnSpcReduction="20000"/>
            </a:bodyPr>
            <a:lstStyle>
              <a:defPPr>
                <a:defRPr lang="zh-CN"/>
              </a:defPPr>
              <a:lvl1pPr algn="ctr">
                <a:lnSpc>
                  <a:spcPct val="120000"/>
                </a:lnSpc>
                <a:defRPr sz="7200" b="1">
                  <a:solidFill>
                    <a:srgbClr val="FFFFFF"/>
                  </a:solidFill>
                </a:defRPr>
              </a:lvl1pPr>
            </a:lstStyle>
            <a:p>
              <a:r>
                <a:rPr lang="en-GB" dirty="0"/>
                <a:t>1</a:t>
              </a:r>
            </a:p>
          </p:txBody>
        </p:sp>
      </p:grpSp>
      <p:grpSp>
        <p:nvGrpSpPr>
          <p:cNvPr id="32" name="组合 31">
            <a:extLst>
              <a:ext uri="{FF2B5EF4-FFF2-40B4-BE49-F238E27FC236}">
                <a16:creationId xmlns:a16="http://schemas.microsoft.com/office/drawing/2014/main" id="{9B519A3B-1596-6FAF-0ACA-9B6AEE7F894D}"/>
              </a:ext>
            </a:extLst>
          </p:cNvPr>
          <p:cNvGrpSpPr/>
          <p:nvPr/>
        </p:nvGrpSpPr>
        <p:grpSpPr>
          <a:xfrm>
            <a:off x="2969215" y="4331712"/>
            <a:ext cx="3882957" cy="1127670"/>
            <a:chOff x="-502321" y="4555246"/>
            <a:chExt cx="6116093" cy="1127670"/>
          </a:xfrm>
        </p:grpSpPr>
        <p:sp>
          <p:nvSpPr>
            <p:cNvPr id="33" name="Bullet2">
              <a:extLst>
                <a:ext uri="{FF2B5EF4-FFF2-40B4-BE49-F238E27FC236}">
                  <a16:creationId xmlns:a16="http://schemas.microsoft.com/office/drawing/2014/main" id="{3562D8C1-D254-E993-C41D-81018C63EFC0}"/>
                </a:ext>
              </a:extLst>
            </p:cNvPr>
            <p:cNvSpPr/>
            <p:nvPr/>
          </p:nvSpPr>
          <p:spPr>
            <a:xfrm>
              <a:off x="691677" y="4939058"/>
              <a:ext cx="4922095" cy="743858"/>
            </a:xfrm>
            <a:prstGeom prst="round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400" b="1" dirty="0">
                  <a:solidFill>
                    <a:schemeClr val="tx1"/>
                  </a:solidFill>
                </a:rPr>
                <a:t>核心业务回顾</a:t>
              </a:r>
              <a:endParaRPr lang="en-US" sz="2400" dirty="0"/>
            </a:p>
          </p:txBody>
        </p:sp>
        <p:sp>
          <p:nvSpPr>
            <p:cNvPr id="34" name="Number2">
              <a:extLst>
                <a:ext uri="{FF2B5EF4-FFF2-40B4-BE49-F238E27FC236}">
                  <a16:creationId xmlns:a16="http://schemas.microsoft.com/office/drawing/2014/main" id="{9DB66E0E-9AC8-B901-BADA-D05F108B4AB6}"/>
                </a:ext>
              </a:extLst>
            </p:cNvPr>
            <p:cNvSpPr txBox="1"/>
            <p:nvPr/>
          </p:nvSpPr>
          <p:spPr>
            <a:xfrm>
              <a:off x="-502321" y="4555246"/>
              <a:ext cx="1411540" cy="743858"/>
            </a:xfrm>
            <a:prstGeom prst="roundRect">
              <a:avLst/>
            </a:prstGeom>
            <a:solidFill>
              <a:schemeClr val="accent1"/>
            </a:solidFill>
          </p:spPr>
          <p:txBody>
            <a:bodyPr wrap="none" rtlCol="0" anchor="ctr">
              <a:normAutofit fontScale="47500" lnSpcReduction="20000"/>
            </a:bodyPr>
            <a:lstStyle>
              <a:defPPr>
                <a:defRPr lang="zh-CN"/>
              </a:defPPr>
              <a:lvl1pPr algn="ctr">
                <a:lnSpc>
                  <a:spcPct val="120000"/>
                </a:lnSpc>
                <a:defRPr sz="7200" b="1">
                  <a:solidFill>
                    <a:srgbClr val="FFFFFF"/>
                  </a:solidFill>
                </a:defRPr>
              </a:lvl1pPr>
            </a:lstStyle>
            <a:p>
              <a:r>
                <a:rPr lang="en-GB" dirty="0"/>
                <a:t>2</a:t>
              </a:r>
            </a:p>
          </p:txBody>
        </p:sp>
      </p:grpSp>
      <p:grpSp>
        <p:nvGrpSpPr>
          <p:cNvPr id="42" name="组合 41">
            <a:extLst>
              <a:ext uri="{FF2B5EF4-FFF2-40B4-BE49-F238E27FC236}">
                <a16:creationId xmlns:a16="http://schemas.microsoft.com/office/drawing/2014/main" id="{8725D7B3-EA5A-4347-51C1-DCEC08F09329}"/>
              </a:ext>
            </a:extLst>
          </p:cNvPr>
          <p:cNvGrpSpPr/>
          <p:nvPr/>
        </p:nvGrpSpPr>
        <p:grpSpPr>
          <a:xfrm>
            <a:off x="7635943" y="1906465"/>
            <a:ext cx="3882957" cy="1127670"/>
            <a:chOff x="6440667" y="1317501"/>
            <a:chExt cx="6116093" cy="1127670"/>
          </a:xfrm>
        </p:grpSpPr>
        <p:sp>
          <p:nvSpPr>
            <p:cNvPr id="43" name="Bullet3">
              <a:extLst>
                <a:ext uri="{FF2B5EF4-FFF2-40B4-BE49-F238E27FC236}">
                  <a16:creationId xmlns:a16="http://schemas.microsoft.com/office/drawing/2014/main" id="{AFA0EA84-BC12-3CCE-29F4-7CAF5F1ACB8C}"/>
                </a:ext>
              </a:extLst>
            </p:cNvPr>
            <p:cNvSpPr/>
            <p:nvPr/>
          </p:nvSpPr>
          <p:spPr>
            <a:xfrm>
              <a:off x="7634665" y="1701313"/>
              <a:ext cx="4922095" cy="743858"/>
            </a:xfrm>
            <a:prstGeom prst="round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400" b="1" dirty="0">
                  <a:solidFill>
                    <a:schemeClr val="tx1"/>
                  </a:solidFill>
                </a:rPr>
                <a:t>团队建设与人才培养</a:t>
              </a:r>
              <a:endParaRPr lang="en-US" sz="2400" dirty="0"/>
            </a:p>
          </p:txBody>
        </p:sp>
        <p:sp>
          <p:nvSpPr>
            <p:cNvPr id="44" name="Number3">
              <a:extLst>
                <a:ext uri="{FF2B5EF4-FFF2-40B4-BE49-F238E27FC236}">
                  <a16:creationId xmlns:a16="http://schemas.microsoft.com/office/drawing/2014/main" id="{4340E848-A7EC-9853-498F-E7F2685656F3}"/>
                </a:ext>
              </a:extLst>
            </p:cNvPr>
            <p:cNvSpPr txBox="1"/>
            <p:nvPr/>
          </p:nvSpPr>
          <p:spPr>
            <a:xfrm>
              <a:off x="6440667" y="1317501"/>
              <a:ext cx="1411540" cy="743858"/>
            </a:xfrm>
            <a:prstGeom prst="roundRect">
              <a:avLst/>
            </a:prstGeom>
            <a:solidFill>
              <a:schemeClr val="accent1"/>
            </a:solidFill>
          </p:spPr>
          <p:txBody>
            <a:bodyPr wrap="none" rtlCol="0" anchor="ctr">
              <a:normAutofit fontScale="47500" lnSpcReduction="20000"/>
            </a:bodyPr>
            <a:lstStyle>
              <a:defPPr>
                <a:defRPr lang="zh-CN"/>
              </a:defPPr>
              <a:lvl1pPr algn="ctr">
                <a:lnSpc>
                  <a:spcPct val="120000"/>
                </a:lnSpc>
                <a:defRPr sz="7200" b="1">
                  <a:solidFill>
                    <a:srgbClr val="FFFFFF"/>
                  </a:solidFill>
                </a:defRPr>
              </a:lvl1pPr>
            </a:lstStyle>
            <a:p>
              <a:r>
                <a:rPr lang="en-GB" dirty="0"/>
                <a:t>3</a:t>
              </a:r>
            </a:p>
          </p:txBody>
        </p:sp>
      </p:grpSp>
      <p:grpSp>
        <p:nvGrpSpPr>
          <p:cNvPr id="47" name="组合 46">
            <a:extLst>
              <a:ext uri="{FF2B5EF4-FFF2-40B4-BE49-F238E27FC236}">
                <a16:creationId xmlns:a16="http://schemas.microsoft.com/office/drawing/2014/main" id="{FD3F667C-5B2B-A787-303D-7C3F99802E39}"/>
              </a:ext>
            </a:extLst>
          </p:cNvPr>
          <p:cNvGrpSpPr/>
          <p:nvPr/>
        </p:nvGrpSpPr>
        <p:grpSpPr>
          <a:xfrm>
            <a:off x="7635943" y="4331712"/>
            <a:ext cx="3882957" cy="1127670"/>
            <a:chOff x="-789217" y="5315342"/>
            <a:chExt cx="6116093" cy="1127670"/>
          </a:xfrm>
        </p:grpSpPr>
        <p:sp>
          <p:nvSpPr>
            <p:cNvPr id="54" name="Bullet4">
              <a:extLst>
                <a:ext uri="{FF2B5EF4-FFF2-40B4-BE49-F238E27FC236}">
                  <a16:creationId xmlns:a16="http://schemas.microsoft.com/office/drawing/2014/main" id="{35B4CF41-9B83-587D-765E-9832B473BE17}"/>
                </a:ext>
              </a:extLst>
            </p:cNvPr>
            <p:cNvSpPr/>
            <p:nvPr/>
          </p:nvSpPr>
          <p:spPr>
            <a:xfrm>
              <a:off x="404781" y="5699154"/>
              <a:ext cx="4922095" cy="743858"/>
            </a:xfrm>
            <a:prstGeom prst="round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400" b="1" dirty="0">
                  <a:solidFill>
                    <a:schemeClr val="tx1"/>
                  </a:solidFill>
                </a:rPr>
                <a:t>风险管理与问题应对</a:t>
              </a:r>
              <a:endParaRPr lang="en-US" sz="2400" dirty="0"/>
            </a:p>
          </p:txBody>
        </p:sp>
        <p:sp>
          <p:nvSpPr>
            <p:cNvPr id="55" name="Number4">
              <a:extLst>
                <a:ext uri="{FF2B5EF4-FFF2-40B4-BE49-F238E27FC236}">
                  <a16:creationId xmlns:a16="http://schemas.microsoft.com/office/drawing/2014/main" id="{88C90B7E-1A0A-6446-398E-28864338875D}"/>
                </a:ext>
              </a:extLst>
            </p:cNvPr>
            <p:cNvSpPr txBox="1"/>
            <p:nvPr/>
          </p:nvSpPr>
          <p:spPr>
            <a:xfrm>
              <a:off x="-789217" y="5315342"/>
              <a:ext cx="1411540" cy="743858"/>
            </a:xfrm>
            <a:prstGeom prst="roundRect">
              <a:avLst/>
            </a:prstGeom>
            <a:solidFill>
              <a:schemeClr val="accent1"/>
            </a:solidFill>
          </p:spPr>
          <p:txBody>
            <a:bodyPr wrap="none" rtlCol="0" anchor="ctr">
              <a:normAutofit fontScale="47500" lnSpcReduction="20000"/>
            </a:bodyPr>
            <a:lstStyle>
              <a:defPPr>
                <a:defRPr lang="zh-CN"/>
              </a:defPPr>
              <a:lvl1pPr algn="ctr">
                <a:lnSpc>
                  <a:spcPct val="120000"/>
                </a:lnSpc>
                <a:defRPr sz="7200" b="1">
                  <a:solidFill>
                    <a:srgbClr val="FFFFFF"/>
                  </a:solidFill>
                </a:defRPr>
              </a:lvl1pPr>
            </a:lstStyle>
            <a:p>
              <a:r>
                <a:rPr lang="en-GB" dirty="0"/>
                <a:t>4</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solidFill>
                  <a:schemeClr val="accent1"/>
                </a:solidFill>
              </a:rPr>
              <a:t>行业整体</a:t>
            </a:r>
            <a:r>
              <a:rPr lang="zh-CN" altLang="en-US" dirty="0"/>
              <a:t>概述</a:t>
            </a:r>
            <a:endParaRPr lang="en-US" dirty="0"/>
          </a:p>
        </p:txBody>
      </p:sp>
      <p:sp>
        <p:nvSpPr>
          <p:cNvPr id="25" name="文本占位符 24"/>
          <p:cNvSpPr>
            <a:spLocks noGrp="1"/>
          </p:cNvSpPr>
          <p:nvPr>
            <p:ph type="body" sz="quarter" idx="1" hasCustomPrompt="1"/>
          </p:nvPr>
        </p:nvSpPr>
        <p:spPr/>
        <p:txBody>
          <a:bodyPr/>
          <a:lstStyle/>
          <a:p>
            <a:r>
              <a:rPr lang="zh-CN" altLang="en-US" dirty="0"/>
              <a:t>对行业的基本情况进行全面梳理和分析</a:t>
            </a:r>
            <a:endParaRPr lang="en-US" dirty="0"/>
          </a:p>
        </p:txBody>
      </p:sp>
      <p:sp>
        <p:nvSpPr>
          <p:cNvPr id="2" name="文本框 1">
            <a:extLst>
              <a:ext uri="{FF2B5EF4-FFF2-40B4-BE49-F238E27FC236}">
                <a16:creationId xmlns:a16="http://schemas.microsoft.com/office/drawing/2014/main" id="{EFD23EEB-6501-EE4D-0A7A-09273416B0EB}"/>
              </a:ext>
            </a:extLst>
          </p:cNvPr>
          <p:cNvSpPr txBox="1"/>
          <p:nvPr/>
        </p:nvSpPr>
        <p:spPr>
          <a:xfrm>
            <a:off x="660400" y="1944031"/>
            <a:ext cx="3410857" cy="1323439"/>
          </a:xfrm>
          <a:prstGeom prst="rect">
            <a:avLst/>
          </a:prstGeom>
          <a:noFill/>
        </p:spPr>
        <p:txBody>
          <a:bodyPr wrap="square" rtlCol="0">
            <a:spAutoFit/>
          </a:bodyPr>
          <a:lstStyle/>
          <a:p>
            <a:r>
              <a:rPr lang="en-US" altLang="zh-CN" sz="8000" b="1" dirty="0">
                <a:solidFill>
                  <a:schemeClr val="accent1"/>
                </a:solidFill>
              </a:rPr>
              <a:t>01.</a:t>
            </a:r>
            <a:endParaRPr lang="zh-CN" altLang="en-US" sz="8000" b="1"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0bfb6105-ffc3-4178-ac30-19eab50c76c9.source.5.zh-Hans.pptx">
            <a:extLst>
              <a:ext uri="{FF2B5EF4-FFF2-40B4-BE49-F238E27FC236}">
                <a16:creationId xmlns:a16="http://schemas.microsoft.com/office/drawing/2014/main" id="{B890E28E-F285-DC97-C056-D5E40191E71C}"/>
              </a:ext>
            </a:extLst>
          </p:cNvPr>
          <p:cNvGrpSpPr/>
          <p:nvPr/>
        </p:nvGrpSpPr>
        <p:grpSpPr>
          <a:xfrm>
            <a:off x="660400" y="1402318"/>
            <a:ext cx="10858500" cy="5225269"/>
            <a:chOff x="660400" y="908832"/>
            <a:chExt cx="10858500" cy="5225269"/>
          </a:xfrm>
        </p:grpSpPr>
        <p:sp>
          <p:nvSpPr>
            <p:cNvPr id="6" name="Title">
              <a:extLst>
                <a:ext uri="{FF2B5EF4-FFF2-40B4-BE49-F238E27FC236}">
                  <a16:creationId xmlns:a16="http://schemas.microsoft.com/office/drawing/2014/main" id="{077DC3E1-EFD1-D122-066F-1607ECE3B70B}"/>
                </a:ext>
              </a:extLst>
            </p:cNvPr>
            <p:cNvSpPr txBox="1"/>
            <p:nvPr/>
          </p:nvSpPr>
          <p:spPr>
            <a:xfrm>
              <a:off x="660400" y="908832"/>
              <a:ext cx="10858500" cy="558091"/>
            </a:xfrm>
            <a:prstGeom prst="rect">
              <a:avLst/>
            </a:prstGeom>
            <a:noFill/>
          </p:spPr>
          <p:txBody>
            <a:bodyPr vert="horz" wrap="square" rtlCol="0" anchor="ctr" anchorCtr="0">
              <a:normAutofit/>
            </a:bodyPr>
            <a:lstStyle/>
            <a:p>
              <a:r>
                <a:rPr lang="zh-CN" altLang="en-US" sz="2400" b="1" dirty="0">
                  <a:cs typeface="+mn-ea"/>
                  <a:sym typeface="+mn-lt"/>
                </a:rPr>
                <a:t>行业的起源、发展脉络及当前阶段特点</a:t>
              </a:r>
              <a:endParaRPr lang="en-US" dirty="0"/>
            </a:p>
          </p:txBody>
        </p:sp>
        <p:grpSp>
          <p:nvGrpSpPr>
            <p:cNvPr id="80" name="组合 79">
              <a:extLst>
                <a:ext uri="{FF2B5EF4-FFF2-40B4-BE49-F238E27FC236}">
                  <a16:creationId xmlns:a16="http://schemas.microsoft.com/office/drawing/2014/main" id="{E7C7DEE0-7DAC-015D-8CB3-C6ABB1794CE2}"/>
                </a:ext>
              </a:extLst>
            </p:cNvPr>
            <p:cNvGrpSpPr/>
            <p:nvPr/>
          </p:nvGrpSpPr>
          <p:grpSpPr>
            <a:xfrm>
              <a:off x="668786" y="1812235"/>
              <a:ext cx="2063301" cy="4313176"/>
              <a:chOff x="668786" y="1812235"/>
              <a:chExt cx="2063301" cy="4313176"/>
            </a:xfrm>
          </p:grpSpPr>
          <p:sp>
            <p:nvSpPr>
              <p:cNvPr id="3" name="Picture1">
                <a:extLst>
                  <a:ext uri="{FF2B5EF4-FFF2-40B4-BE49-F238E27FC236}">
                    <a16:creationId xmlns:a16="http://schemas.microsoft.com/office/drawing/2014/main" id="{E9ED53A1-3980-7FB5-AE20-8E9EEE2772EE}"/>
                  </a:ext>
                </a:extLst>
              </p:cNvPr>
              <p:cNvSpPr/>
              <p:nvPr/>
            </p:nvSpPr>
            <p:spPr>
              <a:xfrm>
                <a:off x="668788" y="1812235"/>
                <a:ext cx="2063297" cy="1959214"/>
              </a:xfrm>
              <a:prstGeom prst="roundRect">
                <a:avLst/>
              </a:prstGeom>
              <a:blipFill>
                <a:blip r:embed="rId2"/>
                <a:srcRect/>
                <a:stretch>
                  <a:fillRect t="-28984" b="-28984"/>
                </a:stretch>
              </a:blipFill>
              <a:ln w="127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sz="1600">
                  <a:cs typeface="+mn-ea"/>
                  <a:sym typeface="+mn-lt"/>
                </a:endParaRPr>
              </a:p>
            </p:txBody>
          </p:sp>
          <p:sp>
            <p:nvSpPr>
              <p:cNvPr id="4" name="Number1">
                <a:extLst>
                  <a:ext uri="{FF2B5EF4-FFF2-40B4-BE49-F238E27FC236}">
                    <a16:creationId xmlns:a16="http://schemas.microsoft.com/office/drawing/2014/main" id="{538BDBD5-3400-F9E9-0003-20AAE7E587C5}"/>
                  </a:ext>
                </a:extLst>
              </p:cNvPr>
              <p:cNvSpPr/>
              <p:nvPr/>
            </p:nvSpPr>
            <p:spPr>
              <a:xfrm>
                <a:off x="668786" y="1812235"/>
                <a:ext cx="444471" cy="444458"/>
              </a:xfrm>
              <a:prstGeom prst="round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sz="1400" b="1" dirty="0">
                    <a:solidFill>
                      <a:srgbClr val="FFFFFF"/>
                    </a:solidFill>
                    <a:cs typeface="+mn-ea"/>
                    <a:sym typeface="+mn-lt"/>
                  </a:rPr>
                  <a:t>1</a:t>
                </a:r>
                <a:endParaRPr sz="1400" b="1" dirty="0">
                  <a:solidFill>
                    <a:srgbClr val="FFFFFF"/>
                  </a:solidFill>
                  <a:cs typeface="+mn-ea"/>
                  <a:sym typeface="+mn-lt"/>
                </a:endParaRPr>
              </a:p>
            </p:txBody>
          </p:sp>
          <p:sp>
            <p:nvSpPr>
              <p:cNvPr id="74" name="Text1">
                <a:extLst>
                  <a:ext uri="{FF2B5EF4-FFF2-40B4-BE49-F238E27FC236}">
                    <a16:creationId xmlns:a16="http://schemas.microsoft.com/office/drawing/2014/main" id="{231E3FCC-A0BA-8BD0-BEC6-99873BE50285}"/>
                  </a:ext>
                </a:extLst>
              </p:cNvPr>
              <p:cNvSpPr txBox="1">
                <a:spLocks/>
              </p:cNvSpPr>
              <p:nvPr/>
            </p:nvSpPr>
            <p:spPr>
              <a:xfrm>
                <a:off x="668790" y="4366747"/>
                <a:ext cx="2063297" cy="1758664"/>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cs typeface="+mn-ea"/>
                    <a:sym typeface="+mn-lt"/>
                  </a:rPr>
                  <a:t>行业起源于特定的社会需求和技术进步，早期发展阶段奠定了基础框架和核心理念，对后续发展产生深远影响。</a:t>
                </a:r>
                <a:endParaRPr lang="en-US" dirty="0"/>
              </a:p>
            </p:txBody>
          </p:sp>
          <p:sp>
            <p:nvSpPr>
              <p:cNvPr id="75" name="Bullet1">
                <a:extLst>
                  <a:ext uri="{FF2B5EF4-FFF2-40B4-BE49-F238E27FC236}">
                    <a16:creationId xmlns:a16="http://schemas.microsoft.com/office/drawing/2014/main" id="{6DA4FBA3-2F05-FAD2-045E-6CC52D90986C}"/>
                  </a:ext>
                </a:extLst>
              </p:cNvPr>
              <p:cNvSpPr txBox="1"/>
              <p:nvPr/>
            </p:nvSpPr>
            <p:spPr>
              <a:xfrm>
                <a:off x="668787" y="3903983"/>
                <a:ext cx="2063297" cy="462764"/>
              </a:xfrm>
              <a:prstGeom prst="rect">
                <a:avLst/>
              </a:prstGeom>
              <a:noFill/>
              <a:ln>
                <a:noFill/>
              </a:ln>
            </p:spPr>
            <p:txBody>
              <a:bodyPr wrap="square" lIns="91440" tIns="45720" rIns="91440" bIns="45720" anchor="b" anchorCtr="0">
                <a:normAutofit/>
              </a:bodyPr>
              <a:lstStyle/>
              <a:p>
                <a:pPr>
                  <a:buSzPct val="25000"/>
                </a:pPr>
                <a:r>
                  <a:rPr lang="zh-CN" altLang="en-US" b="1" dirty="0">
                    <a:cs typeface="+mn-ea"/>
                    <a:sym typeface="+mn-lt"/>
                  </a:rPr>
                  <a:t>行业起源分析</a:t>
                </a:r>
                <a:endParaRPr lang="en-US" dirty="0"/>
              </a:p>
            </p:txBody>
          </p:sp>
        </p:grpSp>
        <p:grpSp>
          <p:nvGrpSpPr>
            <p:cNvPr id="81" name="组合 80">
              <a:extLst>
                <a:ext uri="{FF2B5EF4-FFF2-40B4-BE49-F238E27FC236}">
                  <a16:creationId xmlns:a16="http://schemas.microsoft.com/office/drawing/2014/main" id="{C37BACFE-F60E-6676-AACE-8B99BB897B52}"/>
                </a:ext>
              </a:extLst>
            </p:cNvPr>
            <p:cNvGrpSpPr/>
            <p:nvPr/>
          </p:nvGrpSpPr>
          <p:grpSpPr>
            <a:xfrm>
              <a:off x="2864698" y="1812235"/>
              <a:ext cx="2066472" cy="4313176"/>
              <a:chOff x="4401039" y="1820925"/>
              <a:chExt cx="2066472" cy="4313176"/>
            </a:xfrm>
          </p:grpSpPr>
          <p:sp>
            <p:nvSpPr>
              <p:cNvPr id="16" name="Picture2">
                <a:extLst>
                  <a:ext uri="{FF2B5EF4-FFF2-40B4-BE49-F238E27FC236}">
                    <a16:creationId xmlns:a16="http://schemas.microsoft.com/office/drawing/2014/main" id="{29EEE5B6-E139-3E5E-47F5-B9A1F83E6558}"/>
                  </a:ext>
                </a:extLst>
              </p:cNvPr>
              <p:cNvSpPr/>
              <p:nvPr/>
            </p:nvSpPr>
            <p:spPr>
              <a:xfrm>
                <a:off x="4404214" y="1820925"/>
                <a:ext cx="2063297" cy="1959214"/>
              </a:xfrm>
              <a:prstGeom prst="roundRect">
                <a:avLst/>
              </a:prstGeom>
              <a:blipFill>
                <a:blip r:embed="rId3"/>
                <a:srcRect/>
                <a:stretch>
                  <a:fillRect l="-21348" r="-21086"/>
                </a:stretch>
              </a:blipFill>
              <a:ln w="127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sz="1600">
                  <a:cs typeface="+mn-ea"/>
                  <a:sym typeface="+mn-lt"/>
                </a:endParaRPr>
              </a:p>
            </p:txBody>
          </p:sp>
          <p:sp>
            <p:nvSpPr>
              <p:cNvPr id="17" name="Number2">
                <a:extLst>
                  <a:ext uri="{FF2B5EF4-FFF2-40B4-BE49-F238E27FC236}">
                    <a16:creationId xmlns:a16="http://schemas.microsoft.com/office/drawing/2014/main" id="{5C191801-0E07-CB4E-63A3-9EDA5BE5EB5D}"/>
                  </a:ext>
                </a:extLst>
              </p:cNvPr>
              <p:cNvSpPr/>
              <p:nvPr/>
            </p:nvSpPr>
            <p:spPr>
              <a:xfrm>
                <a:off x="4404212" y="1820925"/>
                <a:ext cx="444471" cy="444458"/>
              </a:xfrm>
              <a:prstGeom prst="round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sz="1400" b="1" dirty="0">
                    <a:solidFill>
                      <a:srgbClr val="FFFFFF"/>
                    </a:solidFill>
                    <a:cs typeface="+mn-ea"/>
                    <a:sym typeface="+mn-lt"/>
                  </a:rPr>
                  <a:t>2</a:t>
                </a:r>
                <a:endParaRPr sz="1400" b="1" dirty="0">
                  <a:solidFill>
                    <a:srgbClr val="FFFFFF"/>
                  </a:solidFill>
                  <a:cs typeface="+mn-ea"/>
                  <a:sym typeface="+mn-lt"/>
                </a:endParaRPr>
              </a:p>
            </p:txBody>
          </p:sp>
          <p:sp>
            <p:nvSpPr>
              <p:cNvPr id="71" name="Text2">
                <a:extLst>
                  <a:ext uri="{FF2B5EF4-FFF2-40B4-BE49-F238E27FC236}">
                    <a16:creationId xmlns:a16="http://schemas.microsoft.com/office/drawing/2014/main" id="{611A41E6-221A-09D7-1938-041472FE3C1C}"/>
                  </a:ext>
                </a:extLst>
              </p:cNvPr>
              <p:cNvSpPr txBox="1">
                <a:spLocks/>
              </p:cNvSpPr>
              <p:nvPr/>
            </p:nvSpPr>
            <p:spPr>
              <a:xfrm>
                <a:off x="4401042" y="4375437"/>
                <a:ext cx="2063297" cy="1758664"/>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cs typeface="+mn-ea"/>
                    <a:sym typeface="+mn-lt"/>
                  </a:rPr>
                  <a:t>从萌芽期到成长期，行业经历了多个关键阶段，技术革新、市场需求变化等因素共同推动了行业的持续演进。</a:t>
                </a:r>
                <a:endParaRPr lang="en-US" dirty="0"/>
              </a:p>
            </p:txBody>
          </p:sp>
          <p:sp>
            <p:nvSpPr>
              <p:cNvPr id="72" name="Bullet2">
                <a:extLst>
                  <a:ext uri="{FF2B5EF4-FFF2-40B4-BE49-F238E27FC236}">
                    <a16:creationId xmlns:a16="http://schemas.microsoft.com/office/drawing/2014/main" id="{FFBDAC54-3278-8C27-71FE-E3980E1B0633}"/>
                  </a:ext>
                </a:extLst>
              </p:cNvPr>
              <p:cNvSpPr txBox="1"/>
              <p:nvPr/>
            </p:nvSpPr>
            <p:spPr>
              <a:xfrm>
                <a:off x="4401039" y="3912673"/>
                <a:ext cx="2063297" cy="462764"/>
              </a:xfrm>
              <a:prstGeom prst="rect">
                <a:avLst/>
              </a:prstGeom>
              <a:noFill/>
              <a:ln>
                <a:noFill/>
              </a:ln>
            </p:spPr>
            <p:txBody>
              <a:bodyPr wrap="square" lIns="91440" tIns="45720" rIns="91440" bIns="45720" anchor="b" anchorCtr="0">
                <a:normAutofit/>
              </a:bodyPr>
              <a:lstStyle/>
              <a:p>
                <a:pPr>
                  <a:buSzPct val="25000"/>
                </a:pPr>
                <a:r>
                  <a:rPr lang="zh-CN" altLang="en-US" b="1" dirty="0">
                    <a:cs typeface="+mn-ea"/>
                    <a:sym typeface="+mn-lt"/>
                  </a:rPr>
                  <a:t>发展脉络梳理</a:t>
                </a:r>
                <a:endParaRPr lang="en-US" dirty="0"/>
              </a:p>
            </p:txBody>
          </p:sp>
        </p:grpSp>
        <p:grpSp>
          <p:nvGrpSpPr>
            <p:cNvPr id="82" name="组合 81">
              <a:extLst>
                <a:ext uri="{FF2B5EF4-FFF2-40B4-BE49-F238E27FC236}">
                  <a16:creationId xmlns:a16="http://schemas.microsoft.com/office/drawing/2014/main" id="{E062128F-7499-80BD-D9B2-80FB9BFD4FDF}"/>
                </a:ext>
              </a:extLst>
            </p:cNvPr>
            <p:cNvGrpSpPr/>
            <p:nvPr/>
          </p:nvGrpSpPr>
          <p:grpSpPr>
            <a:xfrm>
              <a:off x="5063781" y="1820925"/>
              <a:ext cx="2063299" cy="4313176"/>
              <a:chOff x="8135324" y="1820925"/>
              <a:chExt cx="2063299" cy="4313176"/>
            </a:xfrm>
          </p:grpSpPr>
          <p:sp>
            <p:nvSpPr>
              <p:cNvPr id="22" name="Picture3">
                <a:extLst>
                  <a:ext uri="{FF2B5EF4-FFF2-40B4-BE49-F238E27FC236}">
                    <a16:creationId xmlns:a16="http://schemas.microsoft.com/office/drawing/2014/main" id="{FA364245-AD6F-9966-4052-2A7FC3CA5E62}"/>
                  </a:ext>
                </a:extLst>
              </p:cNvPr>
              <p:cNvSpPr/>
              <p:nvPr/>
            </p:nvSpPr>
            <p:spPr>
              <a:xfrm>
                <a:off x="8135326" y="1820925"/>
                <a:ext cx="2063297" cy="1959214"/>
              </a:xfrm>
              <a:prstGeom prst="roundRect">
                <a:avLst/>
              </a:prstGeom>
              <a:blipFill>
                <a:blip r:embed="rId4"/>
                <a:srcRect/>
                <a:stretch>
                  <a:fillRect l="-21348" r="-21086"/>
                </a:stretch>
              </a:blipFill>
              <a:ln w="127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sz="1600">
                  <a:cs typeface="+mn-ea"/>
                  <a:sym typeface="+mn-lt"/>
                </a:endParaRPr>
              </a:p>
            </p:txBody>
          </p:sp>
          <p:sp>
            <p:nvSpPr>
              <p:cNvPr id="23" name="Number3">
                <a:extLst>
                  <a:ext uri="{FF2B5EF4-FFF2-40B4-BE49-F238E27FC236}">
                    <a16:creationId xmlns:a16="http://schemas.microsoft.com/office/drawing/2014/main" id="{67082BBD-FF5D-B983-D8C2-BB83CB0C08E8}"/>
                  </a:ext>
                </a:extLst>
              </p:cNvPr>
              <p:cNvSpPr/>
              <p:nvPr/>
            </p:nvSpPr>
            <p:spPr>
              <a:xfrm>
                <a:off x="8135324" y="1820925"/>
                <a:ext cx="444471" cy="444458"/>
              </a:xfrm>
              <a:prstGeom prst="round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sz="1400" b="1" dirty="0">
                    <a:solidFill>
                      <a:srgbClr val="FFFFFF"/>
                    </a:solidFill>
                    <a:cs typeface="+mn-ea"/>
                    <a:sym typeface="+mn-lt"/>
                  </a:rPr>
                  <a:t>3</a:t>
                </a:r>
                <a:endParaRPr sz="1400" b="1" dirty="0">
                  <a:solidFill>
                    <a:srgbClr val="FFFFFF"/>
                  </a:solidFill>
                  <a:cs typeface="+mn-ea"/>
                  <a:sym typeface="+mn-lt"/>
                </a:endParaRPr>
              </a:p>
            </p:txBody>
          </p:sp>
          <p:sp>
            <p:nvSpPr>
              <p:cNvPr id="68" name="Text3">
                <a:extLst>
                  <a:ext uri="{FF2B5EF4-FFF2-40B4-BE49-F238E27FC236}">
                    <a16:creationId xmlns:a16="http://schemas.microsoft.com/office/drawing/2014/main" id="{2F00D0B0-417F-A7EE-3E6B-501A32D60550}"/>
                  </a:ext>
                </a:extLst>
              </p:cNvPr>
              <p:cNvSpPr txBox="1">
                <a:spLocks/>
              </p:cNvSpPr>
              <p:nvPr/>
            </p:nvSpPr>
            <p:spPr>
              <a:xfrm>
                <a:off x="8135325" y="4375437"/>
                <a:ext cx="2063297" cy="1758664"/>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cs typeface="+mn-ea"/>
                    <a:sym typeface="+mn-lt"/>
                  </a:rPr>
                  <a:t>当前行业处于成熟或转型阶段，呈现出技术创新加速、竞争加剧及跨界融合等显著特点，影响着未来方向。</a:t>
                </a:r>
                <a:endParaRPr lang="en-US" dirty="0"/>
              </a:p>
            </p:txBody>
          </p:sp>
          <p:sp>
            <p:nvSpPr>
              <p:cNvPr id="69" name="Bullet3">
                <a:extLst>
                  <a:ext uri="{FF2B5EF4-FFF2-40B4-BE49-F238E27FC236}">
                    <a16:creationId xmlns:a16="http://schemas.microsoft.com/office/drawing/2014/main" id="{2497AE24-4EDE-A45D-21F2-1DB1D0761C87}"/>
                  </a:ext>
                </a:extLst>
              </p:cNvPr>
              <p:cNvSpPr txBox="1"/>
              <p:nvPr/>
            </p:nvSpPr>
            <p:spPr>
              <a:xfrm>
                <a:off x="8135325" y="3912673"/>
                <a:ext cx="2063297" cy="462764"/>
              </a:xfrm>
              <a:prstGeom prst="rect">
                <a:avLst/>
              </a:prstGeom>
              <a:noFill/>
              <a:ln>
                <a:noFill/>
              </a:ln>
            </p:spPr>
            <p:txBody>
              <a:bodyPr wrap="square" lIns="91440" tIns="45720" rIns="91440" bIns="45720" anchor="b" anchorCtr="0">
                <a:normAutofit/>
              </a:bodyPr>
              <a:lstStyle/>
              <a:p>
                <a:pPr>
                  <a:buSzPct val="25000"/>
                </a:pPr>
                <a:r>
                  <a:rPr lang="zh-CN" altLang="en-US" b="1" dirty="0">
                    <a:cs typeface="+mn-ea"/>
                    <a:sym typeface="+mn-lt"/>
                  </a:rPr>
                  <a:t>当前阶段特征</a:t>
                </a:r>
                <a:endParaRPr lang="en-US" dirty="0"/>
              </a:p>
            </p:txBody>
          </p:sp>
        </p:grpSp>
        <p:grpSp>
          <p:nvGrpSpPr>
            <p:cNvPr id="18" name="组合 1">
              <a:extLst>
                <a:ext uri="{FF2B5EF4-FFF2-40B4-BE49-F238E27FC236}">
                  <a16:creationId xmlns:a16="http://schemas.microsoft.com/office/drawing/2014/main" id="{1E74BC8C-CBA7-18AE-1ED5-8C99A69A0A08}"/>
                </a:ext>
              </a:extLst>
            </p:cNvPr>
            <p:cNvGrpSpPr/>
            <p:nvPr/>
          </p:nvGrpSpPr>
          <p:grpSpPr>
            <a:xfrm>
              <a:off x="7259691" y="1820925"/>
              <a:ext cx="2063299" cy="4313176"/>
              <a:chOff x="8135324" y="1820925"/>
              <a:chExt cx="2063299" cy="4313176"/>
            </a:xfrm>
          </p:grpSpPr>
          <p:sp>
            <p:nvSpPr>
              <p:cNvPr id="5" name="Picture4">
                <a:extLst>
                  <a:ext uri="{FF2B5EF4-FFF2-40B4-BE49-F238E27FC236}">
                    <a16:creationId xmlns:a16="http://schemas.microsoft.com/office/drawing/2014/main" id="{463BF296-388A-680C-EBD8-858092CC7EB9}"/>
                  </a:ext>
                </a:extLst>
              </p:cNvPr>
              <p:cNvSpPr/>
              <p:nvPr/>
            </p:nvSpPr>
            <p:spPr>
              <a:xfrm>
                <a:off x="8135326" y="1820925"/>
                <a:ext cx="2063297" cy="1959214"/>
              </a:xfrm>
              <a:prstGeom prst="roundRect">
                <a:avLst/>
              </a:prstGeom>
              <a:blipFill>
                <a:blip r:embed="rId5"/>
                <a:srcRect/>
                <a:stretch>
                  <a:fillRect l="-33301" r="-32893"/>
                </a:stretch>
              </a:blipFill>
              <a:ln w="127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sz="1600">
                  <a:cs typeface="+mn-ea"/>
                  <a:sym typeface="+mn-lt"/>
                </a:endParaRPr>
              </a:p>
            </p:txBody>
          </p:sp>
          <p:sp>
            <p:nvSpPr>
              <p:cNvPr id="7" name="Number4">
                <a:extLst>
                  <a:ext uri="{FF2B5EF4-FFF2-40B4-BE49-F238E27FC236}">
                    <a16:creationId xmlns:a16="http://schemas.microsoft.com/office/drawing/2014/main" id="{223CCBE1-4F21-638F-1F4F-40CA1F4F8042}"/>
                  </a:ext>
                </a:extLst>
              </p:cNvPr>
              <p:cNvSpPr/>
              <p:nvPr/>
            </p:nvSpPr>
            <p:spPr>
              <a:xfrm>
                <a:off x="8135324" y="1820925"/>
                <a:ext cx="444471" cy="444458"/>
              </a:xfrm>
              <a:prstGeom prst="round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sz="1400" b="1" dirty="0">
                    <a:solidFill>
                      <a:srgbClr val="FFFFFF"/>
                    </a:solidFill>
                    <a:cs typeface="+mn-ea"/>
                    <a:sym typeface="+mn-lt"/>
                  </a:rPr>
                  <a:t>4</a:t>
                </a:r>
                <a:endParaRPr sz="1400" b="1" dirty="0">
                  <a:solidFill>
                    <a:srgbClr val="FFFFFF"/>
                  </a:solidFill>
                  <a:cs typeface="+mn-ea"/>
                  <a:sym typeface="+mn-lt"/>
                </a:endParaRPr>
              </a:p>
            </p:txBody>
          </p:sp>
          <p:sp>
            <p:nvSpPr>
              <p:cNvPr id="8" name="Text4">
                <a:extLst>
                  <a:ext uri="{FF2B5EF4-FFF2-40B4-BE49-F238E27FC236}">
                    <a16:creationId xmlns:a16="http://schemas.microsoft.com/office/drawing/2014/main" id="{B9071083-0F88-FC8E-BAE3-2DCF349BE5B6}"/>
                  </a:ext>
                </a:extLst>
              </p:cNvPr>
              <p:cNvSpPr txBox="1">
                <a:spLocks/>
              </p:cNvSpPr>
              <p:nvPr/>
            </p:nvSpPr>
            <p:spPr>
              <a:xfrm>
                <a:off x="8135325" y="4375437"/>
                <a:ext cx="2063297" cy="1758664"/>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cs typeface="+mn-ea"/>
                    <a:sym typeface="+mn-lt"/>
                  </a:rPr>
                  <a:t>技术进步、政策支持和消费者需求是行业发展的重要推动力，不同阶段的驱动因素组合决定了行业的演变路径。</a:t>
                </a:r>
                <a:endParaRPr lang="en-US" dirty="0"/>
              </a:p>
            </p:txBody>
          </p:sp>
          <p:sp>
            <p:nvSpPr>
              <p:cNvPr id="9" name="Bullet4">
                <a:extLst>
                  <a:ext uri="{FF2B5EF4-FFF2-40B4-BE49-F238E27FC236}">
                    <a16:creationId xmlns:a16="http://schemas.microsoft.com/office/drawing/2014/main" id="{3310AF0C-0BCA-7243-630E-5B9964AF19E9}"/>
                  </a:ext>
                </a:extLst>
              </p:cNvPr>
              <p:cNvSpPr txBox="1"/>
              <p:nvPr/>
            </p:nvSpPr>
            <p:spPr>
              <a:xfrm>
                <a:off x="8135325" y="3912673"/>
                <a:ext cx="2063297" cy="462764"/>
              </a:xfrm>
              <a:prstGeom prst="rect">
                <a:avLst/>
              </a:prstGeom>
              <a:noFill/>
              <a:ln>
                <a:noFill/>
              </a:ln>
            </p:spPr>
            <p:txBody>
              <a:bodyPr wrap="square" lIns="91440" tIns="45720" rIns="91440" bIns="45720" anchor="b" anchorCtr="0">
                <a:normAutofit/>
              </a:bodyPr>
              <a:lstStyle/>
              <a:p>
                <a:pPr>
                  <a:buSzPct val="25000"/>
                </a:pPr>
                <a:r>
                  <a:rPr lang="zh-CN" altLang="en-US" b="1" dirty="0">
                    <a:cs typeface="+mn-ea"/>
                    <a:sym typeface="+mn-lt"/>
                  </a:rPr>
                  <a:t>关键驱动因素</a:t>
                </a:r>
                <a:endParaRPr lang="en-US" dirty="0"/>
              </a:p>
            </p:txBody>
          </p:sp>
        </p:grpSp>
        <p:grpSp>
          <p:nvGrpSpPr>
            <p:cNvPr id="10" name="组合 9">
              <a:extLst>
                <a:ext uri="{FF2B5EF4-FFF2-40B4-BE49-F238E27FC236}">
                  <a16:creationId xmlns:a16="http://schemas.microsoft.com/office/drawing/2014/main" id="{8E7216BE-D5A7-2BA6-CA65-6E5BAD475100}"/>
                </a:ext>
              </a:extLst>
            </p:cNvPr>
            <p:cNvGrpSpPr/>
            <p:nvPr/>
          </p:nvGrpSpPr>
          <p:grpSpPr>
            <a:xfrm>
              <a:off x="9455601" y="1820925"/>
              <a:ext cx="2063299" cy="4313176"/>
              <a:chOff x="8135324" y="1820925"/>
              <a:chExt cx="2063299" cy="4313176"/>
            </a:xfrm>
          </p:grpSpPr>
          <p:sp>
            <p:nvSpPr>
              <p:cNvPr id="11" name="Picture5">
                <a:extLst>
                  <a:ext uri="{FF2B5EF4-FFF2-40B4-BE49-F238E27FC236}">
                    <a16:creationId xmlns:a16="http://schemas.microsoft.com/office/drawing/2014/main" id="{34E49934-6B42-6AA0-BE32-4C1CB4A1E3D0}"/>
                  </a:ext>
                </a:extLst>
              </p:cNvPr>
              <p:cNvSpPr/>
              <p:nvPr/>
            </p:nvSpPr>
            <p:spPr>
              <a:xfrm>
                <a:off x="8135326" y="1820925"/>
                <a:ext cx="2063297" cy="1959214"/>
              </a:xfrm>
              <a:prstGeom prst="roundRect">
                <a:avLst/>
              </a:prstGeom>
              <a:blipFill>
                <a:blip r:embed="rId6"/>
                <a:srcRect/>
                <a:stretch>
                  <a:fillRect l="-21348" r="-21086"/>
                </a:stretch>
              </a:blipFill>
              <a:ln w="127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sz="1600">
                  <a:cs typeface="+mn-ea"/>
                  <a:sym typeface="+mn-lt"/>
                </a:endParaRPr>
              </a:p>
            </p:txBody>
          </p:sp>
          <p:sp>
            <p:nvSpPr>
              <p:cNvPr id="12" name="Number5">
                <a:extLst>
                  <a:ext uri="{FF2B5EF4-FFF2-40B4-BE49-F238E27FC236}">
                    <a16:creationId xmlns:a16="http://schemas.microsoft.com/office/drawing/2014/main" id="{5447ACB4-B6E2-0CA4-1E3D-8E1A0076F395}"/>
                  </a:ext>
                </a:extLst>
              </p:cNvPr>
              <p:cNvSpPr/>
              <p:nvPr/>
            </p:nvSpPr>
            <p:spPr>
              <a:xfrm>
                <a:off x="8135324" y="1820925"/>
                <a:ext cx="444471" cy="444458"/>
              </a:xfrm>
              <a:prstGeom prst="round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sz="1400" b="1" dirty="0">
                    <a:solidFill>
                      <a:srgbClr val="FFFFFF"/>
                    </a:solidFill>
                    <a:cs typeface="+mn-ea"/>
                    <a:sym typeface="+mn-lt"/>
                  </a:rPr>
                  <a:t>5</a:t>
                </a:r>
                <a:endParaRPr sz="1400" b="1" dirty="0">
                  <a:solidFill>
                    <a:srgbClr val="FFFFFF"/>
                  </a:solidFill>
                  <a:cs typeface="+mn-ea"/>
                  <a:sym typeface="+mn-lt"/>
                </a:endParaRPr>
              </a:p>
            </p:txBody>
          </p:sp>
          <p:sp>
            <p:nvSpPr>
              <p:cNvPr id="13" name="Text5">
                <a:extLst>
                  <a:ext uri="{FF2B5EF4-FFF2-40B4-BE49-F238E27FC236}">
                    <a16:creationId xmlns:a16="http://schemas.microsoft.com/office/drawing/2014/main" id="{7F7B3D7B-BFC1-641B-3443-EDF5448D4833}"/>
                  </a:ext>
                </a:extLst>
              </p:cNvPr>
              <p:cNvSpPr txBox="1">
                <a:spLocks/>
              </p:cNvSpPr>
              <p:nvPr/>
            </p:nvSpPr>
            <p:spPr>
              <a:xfrm>
                <a:off x="8135325" y="4375437"/>
                <a:ext cx="2063297" cy="1758664"/>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cs typeface="+mn-ea"/>
                    <a:sym typeface="+mn-lt"/>
                  </a:rPr>
                  <a:t>回顾行业发展历程，可以发现适应变化、注重创新和战略调整是成功的关键，为未来提供重要借鉴意义。</a:t>
                </a:r>
                <a:endParaRPr lang="en-US" dirty="0"/>
              </a:p>
            </p:txBody>
          </p:sp>
          <p:sp>
            <p:nvSpPr>
              <p:cNvPr id="14" name="Bullet5">
                <a:extLst>
                  <a:ext uri="{FF2B5EF4-FFF2-40B4-BE49-F238E27FC236}">
                    <a16:creationId xmlns:a16="http://schemas.microsoft.com/office/drawing/2014/main" id="{5B7957C2-14AB-E2C5-3EC1-FA3779062C7D}"/>
                  </a:ext>
                </a:extLst>
              </p:cNvPr>
              <p:cNvSpPr txBox="1"/>
              <p:nvPr/>
            </p:nvSpPr>
            <p:spPr>
              <a:xfrm>
                <a:off x="8135325" y="3912673"/>
                <a:ext cx="2063297" cy="462764"/>
              </a:xfrm>
              <a:prstGeom prst="rect">
                <a:avLst/>
              </a:prstGeom>
              <a:noFill/>
              <a:ln>
                <a:noFill/>
              </a:ln>
            </p:spPr>
            <p:txBody>
              <a:bodyPr wrap="square" lIns="91440" tIns="45720" rIns="91440" bIns="45720" anchor="b" anchorCtr="0">
                <a:normAutofit/>
              </a:bodyPr>
              <a:lstStyle/>
              <a:p>
                <a:pPr>
                  <a:buSzPct val="25000"/>
                </a:pPr>
                <a:r>
                  <a:rPr lang="zh-CN" altLang="en-US" b="1" dirty="0">
                    <a:cs typeface="+mn-ea"/>
                    <a:sym typeface="+mn-lt"/>
                  </a:rPr>
                  <a:t>历史经验总结</a:t>
                </a:r>
                <a:endParaRPr lang="en-US" dirty="0"/>
              </a:p>
            </p:txBody>
          </p:sp>
        </p:grpSp>
      </p:grpSp>
      <p:sp>
        <p:nvSpPr>
          <p:cNvPr id="2" name="标题 1"/>
          <p:cNvSpPr>
            <a:spLocks noGrp="1"/>
          </p:cNvSpPr>
          <p:nvPr>
            <p:ph type="title" hasCustomPrompt="1"/>
          </p:nvPr>
        </p:nvSpPr>
        <p:spPr/>
        <p:txBody>
          <a:bodyPr/>
          <a:lstStyle/>
          <a:p>
            <a:r>
              <a:rPr lang="zh-CN" altLang="en-US" dirty="0"/>
              <a:t>行业背景与发展历程</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67e223c3-89b7-407a-8934-ec2562f3f940.source.4.zh-Hans.pptx">
            <a:extLst>
              <a:ext uri="{FF2B5EF4-FFF2-40B4-BE49-F238E27FC236}">
                <a16:creationId xmlns:a16="http://schemas.microsoft.com/office/drawing/2014/main" id="{1FD65C3B-87F3-BA3A-75C9-22C995A4B1F0}"/>
              </a:ext>
            </a:extLst>
          </p:cNvPr>
          <p:cNvGrpSpPr/>
          <p:nvPr/>
        </p:nvGrpSpPr>
        <p:grpSpPr>
          <a:xfrm>
            <a:off x="673099" y="1437500"/>
            <a:ext cx="10845802" cy="5003800"/>
            <a:chOff x="673099" y="1130300"/>
            <a:chExt cx="10845802" cy="5003800"/>
          </a:xfrm>
        </p:grpSpPr>
        <p:sp>
          <p:nvSpPr>
            <p:cNvPr id="39" name="Title">
              <a:extLst>
                <a:ext uri="{FF2B5EF4-FFF2-40B4-BE49-F238E27FC236}">
                  <a16:creationId xmlns:a16="http://schemas.microsoft.com/office/drawing/2014/main" id="{0C665838-74F6-461A-DE77-FA2779FBD7D7}"/>
                </a:ext>
              </a:extLst>
            </p:cNvPr>
            <p:cNvSpPr>
              <a:spLocks/>
            </p:cNvSpPr>
            <p:nvPr/>
          </p:nvSpPr>
          <p:spPr>
            <a:xfrm>
              <a:off x="673099" y="2004396"/>
              <a:ext cx="2880000" cy="2878869"/>
            </a:xfrm>
            <a:prstGeom prst="roundRect">
              <a:avLst>
                <a:gd name="adj" fmla="val 112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rmAutofit/>
            </a:bodyPr>
            <a:lstStyle/>
            <a:p>
              <a:r>
                <a:rPr lang="zh-CN" altLang="en-US" sz="2400" b="1" dirty="0">
                  <a:solidFill>
                    <a:srgbClr val="FFFFFF"/>
                  </a:solidFill>
                  <a:cs typeface="+mn-ea"/>
                </a:rPr>
                <a:t>行业市场规模、区域分布及增长趋势</a:t>
              </a:r>
              <a:endParaRPr lang="en-US" dirty="0"/>
            </a:p>
          </p:txBody>
        </p:sp>
        <p:grpSp>
          <p:nvGrpSpPr>
            <p:cNvPr id="8" name="组合 7">
              <a:extLst>
                <a:ext uri="{FF2B5EF4-FFF2-40B4-BE49-F238E27FC236}">
                  <a16:creationId xmlns:a16="http://schemas.microsoft.com/office/drawing/2014/main" id="{50A25F6B-C236-FD3E-17CE-660FB739FA4C}"/>
                </a:ext>
              </a:extLst>
            </p:cNvPr>
            <p:cNvGrpSpPr/>
            <p:nvPr/>
          </p:nvGrpSpPr>
          <p:grpSpPr>
            <a:xfrm>
              <a:off x="3934787" y="1130300"/>
              <a:ext cx="7584114" cy="1202072"/>
              <a:chOff x="3934787" y="1130300"/>
              <a:chExt cx="7584114" cy="1202072"/>
            </a:xfrm>
          </p:grpSpPr>
          <p:sp>
            <p:nvSpPr>
              <p:cNvPr id="3" name="Bullet1">
                <a:extLst>
                  <a:ext uri="{FF2B5EF4-FFF2-40B4-BE49-F238E27FC236}">
                    <a16:creationId xmlns:a16="http://schemas.microsoft.com/office/drawing/2014/main" id="{5D26E135-726E-CA91-CF6A-81369C2D3A44}"/>
                  </a:ext>
                </a:extLst>
              </p:cNvPr>
              <p:cNvSpPr>
                <a:spLocks/>
              </p:cNvSpPr>
              <p:nvPr/>
            </p:nvSpPr>
            <p:spPr>
              <a:xfrm>
                <a:off x="3934787" y="1130300"/>
                <a:ext cx="7584114" cy="460958"/>
              </a:xfrm>
              <a:prstGeom prst="roundRect">
                <a:avLst>
                  <a:gd name="adj" fmla="val 22944"/>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b="1" dirty="0">
                    <a:solidFill>
                      <a:schemeClr val="tx1"/>
                    </a:solidFill>
                    <a:sym typeface="Arial" panose="020B0604020202020204" pitchFamily="34" charset="0"/>
                  </a:rPr>
                  <a:t>市场</a:t>
                </a:r>
                <a:r>
                  <a:rPr lang="zh-CN" altLang="en-US" sz="2000" b="1">
                    <a:solidFill>
                      <a:schemeClr val="tx1"/>
                    </a:solidFill>
                    <a:sym typeface="Arial" panose="020B0604020202020204" pitchFamily="34" charset="0"/>
                  </a:rPr>
                  <a:t>规模分析</a:t>
                </a:r>
                <a:endParaRPr lang="en-US" sz="2000" b="1" dirty="0">
                  <a:solidFill>
                    <a:schemeClr val="tx1"/>
                  </a:solidFill>
                </a:endParaRPr>
              </a:p>
            </p:txBody>
          </p:sp>
          <p:sp>
            <p:nvSpPr>
              <p:cNvPr id="11" name="Text1">
                <a:extLst>
                  <a:ext uri="{FF2B5EF4-FFF2-40B4-BE49-F238E27FC236}">
                    <a16:creationId xmlns:a16="http://schemas.microsoft.com/office/drawing/2014/main" id="{17CC260F-495C-25C8-3CA8-B02850F87F6B}"/>
                  </a:ext>
                </a:extLst>
              </p:cNvPr>
              <p:cNvSpPr/>
              <p:nvPr/>
            </p:nvSpPr>
            <p:spPr>
              <a:xfrm>
                <a:off x="3934787" y="1645868"/>
                <a:ext cx="7584114" cy="68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行业市场规模是衡量行业发展的重要指标，通过数据分析可了解当前市场规模及其在全球经济中的地位。</a:t>
                </a:r>
                <a:endParaRPr lang="en-US" dirty="0"/>
              </a:p>
            </p:txBody>
          </p:sp>
        </p:grpSp>
        <p:grpSp>
          <p:nvGrpSpPr>
            <p:cNvPr id="9" name="组合 8">
              <a:extLst>
                <a:ext uri="{FF2B5EF4-FFF2-40B4-BE49-F238E27FC236}">
                  <a16:creationId xmlns:a16="http://schemas.microsoft.com/office/drawing/2014/main" id="{F48367C7-D5FD-FB67-16D7-AE6060FDB7F1}"/>
                </a:ext>
              </a:extLst>
            </p:cNvPr>
            <p:cNvGrpSpPr/>
            <p:nvPr/>
          </p:nvGrpSpPr>
          <p:grpSpPr>
            <a:xfrm>
              <a:off x="3934787" y="2397543"/>
              <a:ext cx="7584114" cy="1202072"/>
              <a:chOff x="3934787" y="2397543"/>
              <a:chExt cx="7584114" cy="1202072"/>
            </a:xfrm>
          </p:grpSpPr>
          <p:sp>
            <p:nvSpPr>
              <p:cNvPr id="17" name="Bullet2">
                <a:extLst>
                  <a:ext uri="{FF2B5EF4-FFF2-40B4-BE49-F238E27FC236}">
                    <a16:creationId xmlns:a16="http://schemas.microsoft.com/office/drawing/2014/main" id="{9DF722FB-5E5E-7A5A-B413-41B692A6573D}"/>
                  </a:ext>
                </a:extLst>
              </p:cNvPr>
              <p:cNvSpPr>
                <a:spLocks/>
              </p:cNvSpPr>
              <p:nvPr/>
            </p:nvSpPr>
            <p:spPr>
              <a:xfrm>
                <a:off x="3934787" y="2397543"/>
                <a:ext cx="7584114" cy="460958"/>
              </a:xfrm>
              <a:prstGeom prst="roundRect">
                <a:avLst>
                  <a:gd name="adj" fmla="val 22944"/>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b="1" dirty="0">
                    <a:solidFill>
                      <a:schemeClr val="tx1"/>
                    </a:solidFill>
                    <a:sym typeface="Arial" panose="020B0604020202020204" pitchFamily="34" charset="0"/>
                  </a:rPr>
                  <a:t>区域</a:t>
                </a:r>
                <a:r>
                  <a:rPr lang="zh-CN" altLang="en-US" sz="2000" b="1">
                    <a:solidFill>
                      <a:schemeClr val="tx1"/>
                    </a:solidFill>
                    <a:sym typeface="Arial" panose="020B0604020202020204" pitchFamily="34" charset="0"/>
                  </a:rPr>
                  <a:t>分布特点</a:t>
                </a:r>
                <a:endParaRPr lang="en-US" sz="2000" b="1" dirty="0">
                  <a:solidFill>
                    <a:schemeClr val="tx1"/>
                  </a:solidFill>
                </a:endParaRPr>
              </a:p>
            </p:txBody>
          </p:sp>
          <p:sp>
            <p:nvSpPr>
              <p:cNvPr id="18" name="Text2">
                <a:extLst>
                  <a:ext uri="{FF2B5EF4-FFF2-40B4-BE49-F238E27FC236}">
                    <a16:creationId xmlns:a16="http://schemas.microsoft.com/office/drawing/2014/main" id="{2610A936-3516-C39E-6278-E9A3C90116CD}"/>
                  </a:ext>
                </a:extLst>
              </p:cNvPr>
              <p:cNvSpPr/>
              <p:nvPr/>
            </p:nvSpPr>
            <p:spPr>
              <a:xfrm>
                <a:off x="3934787" y="2913111"/>
                <a:ext cx="7584114" cy="68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不同地区行业发展的差异显著，主要集中在经济发达区域，区域分布直接影响资源分配与市场策略。</a:t>
                </a:r>
                <a:endParaRPr lang="en-US" dirty="0"/>
              </a:p>
            </p:txBody>
          </p:sp>
        </p:grpSp>
        <p:grpSp>
          <p:nvGrpSpPr>
            <p:cNvPr id="10" name="组合 9">
              <a:extLst>
                <a:ext uri="{FF2B5EF4-FFF2-40B4-BE49-F238E27FC236}">
                  <a16:creationId xmlns:a16="http://schemas.microsoft.com/office/drawing/2014/main" id="{403A1CAB-D74B-5891-A97B-C2A81CB29A62}"/>
                </a:ext>
              </a:extLst>
            </p:cNvPr>
            <p:cNvGrpSpPr/>
            <p:nvPr/>
          </p:nvGrpSpPr>
          <p:grpSpPr>
            <a:xfrm>
              <a:off x="3934787" y="3664786"/>
              <a:ext cx="7584114" cy="1202072"/>
              <a:chOff x="3934787" y="3664786"/>
              <a:chExt cx="7584114" cy="1202072"/>
            </a:xfrm>
          </p:grpSpPr>
          <p:sp>
            <p:nvSpPr>
              <p:cNvPr id="20" name="Bullet3">
                <a:extLst>
                  <a:ext uri="{FF2B5EF4-FFF2-40B4-BE49-F238E27FC236}">
                    <a16:creationId xmlns:a16="http://schemas.microsoft.com/office/drawing/2014/main" id="{8611F42B-58ED-FC2F-3CBE-E5E2703853CE}"/>
                  </a:ext>
                </a:extLst>
              </p:cNvPr>
              <p:cNvSpPr>
                <a:spLocks/>
              </p:cNvSpPr>
              <p:nvPr/>
            </p:nvSpPr>
            <p:spPr>
              <a:xfrm>
                <a:off x="3934787" y="3664786"/>
                <a:ext cx="7584114" cy="460958"/>
              </a:xfrm>
              <a:prstGeom prst="roundRect">
                <a:avLst>
                  <a:gd name="adj" fmla="val 24927"/>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b="1" dirty="0">
                    <a:solidFill>
                      <a:schemeClr val="tx1"/>
                    </a:solidFill>
                    <a:sym typeface="Arial" panose="020B0604020202020204" pitchFamily="34" charset="0"/>
                  </a:rPr>
                  <a:t>增长</a:t>
                </a:r>
                <a:r>
                  <a:rPr lang="zh-CN" altLang="en-US" sz="2000" b="1">
                    <a:solidFill>
                      <a:schemeClr val="tx1"/>
                    </a:solidFill>
                    <a:sym typeface="Arial" panose="020B0604020202020204" pitchFamily="34" charset="0"/>
                  </a:rPr>
                  <a:t>趋势预测</a:t>
                </a:r>
                <a:endParaRPr lang="en-US" sz="2000" b="1" dirty="0">
                  <a:solidFill>
                    <a:schemeClr val="tx1"/>
                  </a:solidFill>
                </a:endParaRPr>
              </a:p>
            </p:txBody>
          </p:sp>
          <p:sp>
            <p:nvSpPr>
              <p:cNvPr id="37" name="Text3">
                <a:extLst>
                  <a:ext uri="{FF2B5EF4-FFF2-40B4-BE49-F238E27FC236}">
                    <a16:creationId xmlns:a16="http://schemas.microsoft.com/office/drawing/2014/main" id="{640FAE0A-30A8-2D9A-4550-DF0964A9FA88}"/>
                  </a:ext>
                </a:extLst>
              </p:cNvPr>
              <p:cNvSpPr/>
              <p:nvPr/>
            </p:nvSpPr>
            <p:spPr>
              <a:xfrm>
                <a:off x="3934787" y="4180354"/>
                <a:ext cx="7584114" cy="68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根据历史数据和未来预期，行业增长趋势呈现稳定上升态势，技术创新成为推动增长的关键因素。</a:t>
                </a:r>
                <a:endParaRPr lang="en-US" dirty="0"/>
              </a:p>
            </p:txBody>
          </p:sp>
        </p:grpSp>
        <p:grpSp>
          <p:nvGrpSpPr>
            <p:cNvPr id="12" name="组合 11">
              <a:extLst>
                <a:ext uri="{FF2B5EF4-FFF2-40B4-BE49-F238E27FC236}">
                  <a16:creationId xmlns:a16="http://schemas.microsoft.com/office/drawing/2014/main" id="{90309080-D7AD-9D91-D1F9-432D542E73E4}"/>
                </a:ext>
              </a:extLst>
            </p:cNvPr>
            <p:cNvGrpSpPr/>
            <p:nvPr/>
          </p:nvGrpSpPr>
          <p:grpSpPr>
            <a:xfrm>
              <a:off x="3934787" y="4932028"/>
              <a:ext cx="7584114" cy="1202072"/>
              <a:chOff x="3934787" y="4932028"/>
              <a:chExt cx="7584114" cy="1202072"/>
            </a:xfrm>
          </p:grpSpPr>
          <p:sp>
            <p:nvSpPr>
              <p:cNvPr id="43" name="Bullet4">
                <a:extLst>
                  <a:ext uri="{FF2B5EF4-FFF2-40B4-BE49-F238E27FC236}">
                    <a16:creationId xmlns:a16="http://schemas.microsoft.com/office/drawing/2014/main" id="{AF50C0BA-16BF-148E-C674-75129F689437}"/>
                  </a:ext>
                </a:extLst>
              </p:cNvPr>
              <p:cNvSpPr>
                <a:spLocks/>
              </p:cNvSpPr>
              <p:nvPr/>
            </p:nvSpPr>
            <p:spPr>
              <a:xfrm>
                <a:off x="3934787" y="4932028"/>
                <a:ext cx="7584114" cy="460958"/>
              </a:xfrm>
              <a:prstGeom prst="roundRect">
                <a:avLst>
                  <a:gd name="adj" fmla="val 18976"/>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b="1">
                    <a:solidFill>
                      <a:schemeClr val="tx1"/>
                    </a:solidFill>
                    <a:sym typeface="Arial" panose="020B0604020202020204" pitchFamily="34" charset="0"/>
                  </a:rPr>
                  <a:t>影响因素评估</a:t>
                </a:r>
                <a:endParaRPr lang="en-US" sz="2000" b="1" dirty="0">
                  <a:solidFill>
                    <a:schemeClr val="tx1"/>
                  </a:solidFill>
                </a:endParaRPr>
              </a:p>
            </p:txBody>
          </p:sp>
          <p:sp>
            <p:nvSpPr>
              <p:cNvPr id="45" name="Text4">
                <a:extLst>
                  <a:ext uri="{FF2B5EF4-FFF2-40B4-BE49-F238E27FC236}">
                    <a16:creationId xmlns:a16="http://schemas.microsoft.com/office/drawing/2014/main" id="{47EEEFE3-553A-0EEA-D03E-31672E95738C}"/>
                  </a:ext>
                </a:extLst>
              </p:cNvPr>
              <p:cNvSpPr/>
              <p:nvPr/>
            </p:nvSpPr>
            <p:spPr>
              <a:xfrm>
                <a:off x="3934787" y="5447596"/>
                <a:ext cx="7584114" cy="68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行业规模与市场分布受政策、技术及消费需求等多方面影响，全面评估有助于制定更有效的战略规划。</a:t>
                </a:r>
                <a:endParaRPr lang="en-US" dirty="0"/>
              </a:p>
            </p:txBody>
          </p:sp>
        </p:grpSp>
      </p:grpSp>
      <p:sp>
        <p:nvSpPr>
          <p:cNvPr id="2" name="标题 1"/>
          <p:cNvSpPr>
            <a:spLocks noGrp="1"/>
          </p:cNvSpPr>
          <p:nvPr>
            <p:ph type="title" hasCustomPrompt="1"/>
          </p:nvPr>
        </p:nvSpPr>
        <p:spPr/>
        <p:txBody>
          <a:bodyPr/>
          <a:lstStyle/>
          <a:p>
            <a:r>
              <a:rPr lang="zh-CN" altLang="en-US" dirty="0"/>
              <a:t>行业规模与市场分布</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d851af9-3dc6-4e4d-8ca8-4fe1d98c9be2.source.4.zh-Hans.pptx">
            <a:extLst>
              <a:ext uri="{FF2B5EF4-FFF2-40B4-BE49-F238E27FC236}">
                <a16:creationId xmlns:a16="http://schemas.microsoft.com/office/drawing/2014/main" id="{83B791C4-827F-7F28-F5BC-8DCC6CDCF86B}"/>
              </a:ext>
            </a:extLst>
          </p:cNvPr>
          <p:cNvGrpSpPr/>
          <p:nvPr/>
        </p:nvGrpSpPr>
        <p:grpSpPr>
          <a:xfrm>
            <a:off x="660400" y="1143000"/>
            <a:ext cx="10858500" cy="4991100"/>
            <a:chOff x="660400" y="1143000"/>
            <a:chExt cx="10858500" cy="4991100"/>
          </a:xfrm>
        </p:grpSpPr>
        <p:sp>
          <p:nvSpPr>
            <p:cNvPr id="3" name="Title">
              <a:extLst>
                <a:ext uri="{FF2B5EF4-FFF2-40B4-BE49-F238E27FC236}">
                  <a16:creationId xmlns:a16="http://schemas.microsoft.com/office/drawing/2014/main" id="{2C165B93-7F7F-39E5-1586-76DC62B95F0D}"/>
                </a:ext>
              </a:extLst>
            </p:cNvPr>
            <p:cNvSpPr txBox="1"/>
            <p:nvPr/>
          </p:nvSpPr>
          <p:spPr>
            <a:xfrm>
              <a:off x="671768" y="1143000"/>
              <a:ext cx="10847130" cy="571500"/>
            </a:xfrm>
            <a:prstGeom prst="rect">
              <a:avLst/>
            </a:prstGeom>
            <a:noFill/>
          </p:spPr>
          <p:txBody>
            <a:bodyPr wrap="square" lIns="90000" tIns="46800" rIns="90000" bIns="46800" rtlCol="0" anchor="ctr" anchorCtr="0">
              <a:normAutofit/>
            </a:bodyPr>
            <a:lstStyle>
              <a:defPPr>
                <a:defRPr lang="zh-CN"/>
              </a:defPPr>
              <a:lvl1pPr>
                <a:defRPr sz="2400" b="1">
                  <a:cs typeface="+mn-ea"/>
                </a:defRPr>
              </a:lvl1pPr>
            </a:lstStyle>
            <a:p>
              <a:r>
                <a:rPr lang="zh-CN" altLang="en-US" dirty="0">
                  <a:sym typeface="+mn-lt"/>
                </a:rPr>
                <a:t>主要竞争者及其市场份额分析</a:t>
              </a:r>
              <a:endParaRPr lang="en-US" dirty="0"/>
            </a:p>
          </p:txBody>
        </p:sp>
        <p:grpSp>
          <p:nvGrpSpPr>
            <p:cNvPr id="9" name="组合 8">
              <a:extLst>
                <a:ext uri="{FF2B5EF4-FFF2-40B4-BE49-F238E27FC236}">
                  <a16:creationId xmlns:a16="http://schemas.microsoft.com/office/drawing/2014/main" id="{135CF34E-5751-C47C-7136-A206B14EDFAA}"/>
                </a:ext>
              </a:extLst>
            </p:cNvPr>
            <p:cNvGrpSpPr/>
            <p:nvPr/>
          </p:nvGrpSpPr>
          <p:grpSpPr>
            <a:xfrm>
              <a:off x="660400" y="1866900"/>
              <a:ext cx="10858500" cy="4267200"/>
              <a:chOff x="660398" y="1866900"/>
              <a:chExt cx="7141690" cy="4267200"/>
            </a:xfrm>
          </p:grpSpPr>
          <p:grpSp>
            <p:nvGrpSpPr>
              <p:cNvPr id="4" name="组合 3">
                <a:extLst>
                  <a:ext uri="{FF2B5EF4-FFF2-40B4-BE49-F238E27FC236}">
                    <a16:creationId xmlns:a16="http://schemas.microsoft.com/office/drawing/2014/main" id="{4B713E40-F8D3-8983-8815-5E0671A5AA0A}"/>
                  </a:ext>
                </a:extLst>
              </p:cNvPr>
              <p:cNvGrpSpPr/>
              <p:nvPr/>
            </p:nvGrpSpPr>
            <p:grpSpPr>
              <a:xfrm>
                <a:off x="660398" y="1866900"/>
                <a:ext cx="3434854" cy="2057400"/>
                <a:chOff x="660399" y="1866900"/>
                <a:chExt cx="2042795" cy="2057400"/>
              </a:xfrm>
            </p:grpSpPr>
            <p:sp>
              <p:nvSpPr>
                <p:cNvPr id="45" name="ComponentBackground1">
                  <a:extLst>
                    <a:ext uri="{FF2B5EF4-FFF2-40B4-BE49-F238E27FC236}">
                      <a16:creationId xmlns:a16="http://schemas.microsoft.com/office/drawing/2014/main" id="{BA2981C7-66FC-6108-DD4C-9BD2152FFEB4}"/>
                    </a:ext>
                  </a:extLst>
                </p:cNvPr>
                <p:cNvSpPr/>
                <p:nvPr/>
              </p:nvSpPr>
              <p:spPr>
                <a:xfrm>
                  <a:off x="660399" y="1866900"/>
                  <a:ext cx="2042795" cy="2057400"/>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a:solidFill>
                      <a:schemeClr val="tx1"/>
                    </a:solidFill>
                    <a:sym typeface="+mn-lt"/>
                  </a:endParaRPr>
                </a:p>
              </p:txBody>
            </p:sp>
            <p:sp>
              <p:nvSpPr>
                <p:cNvPr id="46" name="Text1">
                  <a:extLst>
                    <a:ext uri="{FF2B5EF4-FFF2-40B4-BE49-F238E27FC236}">
                      <a16:creationId xmlns:a16="http://schemas.microsoft.com/office/drawing/2014/main" id="{0D7C8D8C-CC25-AD52-E35B-8D283FE20CBE}"/>
                    </a:ext>
                  </a:extLst>
                </p:cNvPr>
                <p:cNvSpPr txBox="1"/>
                <p:nvPr/>
              </p:nvSpPr>
              <p:spPr>
                <a:xfrm>
                  <a:off x="713328" y="2654474"/>
                  <a:ext cx="1957217" cy="1196808"/>
                </a:xfrm>
                <a:prstGeom prst="rect">
                  <a:avLst/>
                </a:prstGeom>
                <a:noFill/>
                <a:ln>
                  <a:noFill/>
                </a:ln>
              </p:spPr>
              <p:txBody>
                <a:bodyPr wrap="square" lIns="91440" tIns="45720" rIns="91440" bIns="45720" anchor="t" anchorCtr="0">
                  <a:normAutofit/>
                </a:bodyPr>
                <a:lstStyle/>
                <a:p>
                  <a:pPr>
                    <a:lnSpc>
                      <a:spcPct val="120000"/>
                    </a:lnSpc>
                    <a:spcBef>
                      <a:spcPct val="0"/>
                    </a:spcBef>
                  </a:pPr>
                  <a:r>
                    <a:rPr lang="zh-CN" altLang="en-US" sz="1200" dirty="0">
                      <a:cs typeface="+mn-ea"/>
                      <a:sym typeface="+mn-lt"/>
                    </a:rPr>
                    <a:t>在行业中，主要竞争者通过其独特的市场策略和产品定位占据重要地位，了解这些竞争者有助于把握行业动态。</a:t>
                  </a:r>
                  <a:endParaRPr lang="en-US" dirty="0"/>
                </a:p>
              </p:txBody>
            </p:sp>
            <p:sp>
              <p:nvSpPr>
                <p:cNvPr id="47" name="Bullet1">
                  <a:extLst>
                    <a:ext uri="{FF2B5EF4-FFF2-40B4-BE49-F238E27FC236}">
                      <a16:creationId xmlns:a16="http://schemas.microsoft.com/office/drawing/2014/main" id="{E89E9A44-D310-883F-8047-D1AB395FC675}"/>
                    </a:ext>
                  </a:extLst>
                </p:cNvPr>
                <p:cNvSpPr/>
                <p:nvPr/>
              </p:nvSpPr>
              <p:spPr>
                <a:xfrm>
                  <a:off x="713328" y="1968500"/>
                  <a:ext cx="1957217" cy="685974"/>
                </a:xfrm>
                <a:prstGeom prst="rect">
                  <a:avLst/>
                </a:prstGeom>
              </p:spPr>
              <p:txBody>
                <a:bodyPr wrap="square" lIns="91440" tIns="45720" rIns="91440" bIns="45720" anchor="ctr" anchorCtr="0">
                  <a:normAutofit/>
                </a:bodyPr>
                <a:lstStyle/>
                <a:p>
                  <a:pPr lvl="0">
                    <a:lnSpc>
                      <a:spcPct val="120000"/>
                    </a:lnSpc>
                  </a:pPr>
                  <a:r>
                    <a:rPr lang="zh-CN" altLang="en-US" b="1" dirty="0">
                      <a:cs typeface="+mn-ea"/>
                      <a:sym typeface="+mn-lt"/>
                    </a:rPr>
                    <a:t>主要竞争者分析</a:t>
                  </a:r>
                  <a:endParaRPr lang="en-US" dirty="0"/>
                </a:p>
              </p:txBody>
            </p:sp>
          </p:grpSp>
          <p:grpSp>
            <p:nvGrpSpPr>
              <p:cNvPr id="5" name="组合 4">
                <a:extLst>
                  <a:ext uri="{FF2B5EF4-FFF2-40B4-BE49-F238E27FC236}">
                    <a16:creationId xmlns:a16="http://schemas.microsoft.com/office/drawing/2014/main" id="{9CBAFB60-8DC8-CE76-5266-C0DF33D38326}"/>
                  </a:ext>
                </a:extLst>
              </p:cNvPr>
              <p:cNvGrpSpPr/>
              <p:nvPr/>
            </p:nvGrpSpPr>
            <p:grpSpPr>
              <a:xfrm>
                <a:off x="4449692" y="1974662"/>
                <a:ext cx="3290957" cy="1882782"/>
                <a:chOff x="2535699" y="1974662"/>
                <a:chExt cx="1957216" cy="1882782"/>
              </a:xfrm>
            </p:grpSpPr>
            <p:sp>
              <p:nvSpPr>
                <p:cNvPr id="43" name="Text2">
                  <a:extLst>
                    <a:ext uri="{FF2B5EF4-FFF2-40B4-BE49-F238E27FC236}">
                      <a16:creationId xmlns:a16="http://schemas.microsoft.com/office/drawing/2014/main" id="{9611A6A5-935E-92FE-0044-76D4D121EEE5}"/>
                    </a:ext>
                  </a:extLst>
                </p:cNvPr>
                <p:cNvSpPr txBox="1"/>
                <p:nvPr/>
              </p:nvSpPr>
              <p:spPr>
                <a:xfrm>
                  <a:off x="2535699" y="2660636"/>
                  <a:ext cx="1957216" cy="1196808"/>
                </a:xfrm>
                <a:prstGeom prst="rect">
                  <a:avLst/>
                </a:prstGeom>
                <a:noFill/>
                <a:ln>
                  <a:noFill/>
                </a:ln>
              </p:spPr>
              <p:txBody>
                <a:bodyPr wrap="square" lIns="91440" tIns="45720" rIns="91440" bIns="45720" anchor="t" anchorCtr="0">
                  <a:normAutofit/>
                </a:bodyPr>
                <a:lstStyle/>
                <a:p>
                  <a:pPr>
                    <a:lnSpc>
                      <a:spcPct val="120000"/>
                    </a:lnSpc>
                    <a:spcBef>
                      <a:spcPct val="0"/>
                    </a:spcBef>
                  </a:pPr>
                  <a:r>
                    <a:rPr lang="zh-CN" altLang="en-US" sz="1200" dirty="0">
                      <a:cs typeface="+mn-ea"/>
                      <a:sym typeface="+mn-lt"/>
                    </a:rPr>
                    <a:t>不同竞争者在市场中所占份额差异显著，分析市场份额可揭示各企业在行业中的相对实力与影响力。</a:t>
                  </a:r>
                  <a:endParaRPr lang="en-US" dirty="0"/>
                </a:p>
              </p:txBody>
            </p:sp>
            <p:sp>
              <p:nvSpPr>
                <p:cNvPr id="44" name="Bullet2">
                  <a:extLst>
                    <a:ext uri="{FF2B5EF4-FFF2-40B4-BE49-F238E27FC236}">
                      <a16:creationId xmlns:a16="http://schemas.microsoft.com/office/drawing/2014/main" id="{DFB89331-2414-9D42-3ABB-ED1E0EBF9460}"/>
                    </a:ext>
                  </a:extLst>
                </p:cNvPr>
                <p:cNvSpPr/>
                <p:nvPr/>
              </p:nvSpPr>
              <p:spPr>
                <a:xfrm>
                  <a:off x="2535699" y="1974662"/>
                  <a:ext cx="1957216" cy="685974"/>
                </a:xfrm>
                <a:prstGeom prst="rect">
                  <a:avLst/>
                </a:prstGeom>
              </p:spPr>
              <p:txBody>
                <a:bodyPr wrap="square" lIns="91440" tIns="45720" rIns="91440" bIns="45720" anchor="ctr" anchorCtr="0">
                  <a:normAutofit/>
                </a:bodyPr>
                <a:lstStyle/>
                <a:p>
                  <a:pPr lvl="0">
                    <a:lnSpc>
                      <a:spcPct val="120000"/>
                    </a:lnSpc>
                  </a:pPr>
                  <a:r>
                    <a:rPr lang="zh-CN" altLang="en-US" b="1" dirty="0">
                      <a:cs typeface="+mn-ea"/>
                      <a:sym typeface="+mn-lt"/>
                    </a:rPr>
                    <a:t>市场份额分布</a:t>
                  </a:r>
                  <a:endParaRPr lang="en-US" dirty="0"/>
                </a:p>
              </p:txBody>
            </p:sp>
          </p:grpSp>
          <p:grpSp>
            <p:nvGrpSpPr>
              <p:cNvPr id="6" name="组合 5">
                <a:extLst>
                  <a:ext uri="{FF2B5EF4-FFF2-40B4-BE49-F238E27FC236}">
                    <a16:creationId xmlns:a16="http://schemas.microsoft.com/office/drawing/2014/main" id="{E15A9ADA-AFDA-4207-CACC-FDB4B32DDD1C}"/>
                  </a:ext>
                </a:extLst>
              </p:cNvPr>
              <p:cNvGrpSpPr/>
              <p:nvPr/>
            </p:nvGrpSpPr>
            <p:grpSpPr>
              <a:xfrm>
                <a:off x="742855" y="4197162"/>
                <a:ext cx="3290957" cy="1882782"/>
                <a:chOff x="4361959" y="1987362"/>
                <a:chExt cx="1957216" cy="1882782"/>
              </a:xfrm>
            </p:grpSpPr>
            <p:sp>
              <p:nvSpPr>
                <p:cNvPr id="40" name="Text3">
                  <a:extLst>
                    <a:ext uri="{FF2B5EF4-FFF2-40B4-BE49-F238E27FC236}">
                      <a16:creationId xmlns:a16="http://schemas.microsoft.com/office/drawing/2014/main" id="{674401EB-3684-6D92-0674-92F8C0217DF0}"/>
                    </a:ext>
                  </a:extLst>
                </p:cNvPr>
                <p:cNvSpPr txBox="1"/>
                <p:nvPr/>
              </p:nvSpPr>
              <p:spPr>
                <a:xfrm>
                  <a:off x="4361959" y="2673336"/>
                  <a:ext cx="1957216" cy="1196808"/>
                </a:xfrm>
                <a:prstGeom prst="rect">
                  <a:avLst/>
                </a:prstGeom>
                <a:noFill/>
                <a:ln>
                  <a:noFill/>
                </a:ln>
              </p:spPr>
              <p:txBody>
                <a:bodyPr wrap="square" lIns="91440" tIns="45720" rIns="91440" bIns="45720" anchor="t" anchorCtr="0">
                  <a:normAutofit/>
                </a:bodyPr>
                <a:lstStyle/>
                <a:p>
                  <a:pPr>
                    <a:lnSpc>
                      <a:spcPct val="120000"/>
                    </a:lnSpc>
                    <a:spcBef>
                      <a:spcPct val="0"/>
                    </a:spcBef>
                  </a:pPr>
                  <a:r>
                    <a:rPr lang="zh-CN" altLang="en-US" sz="1200" dirty="0">
                      <a:cs typeface="+mn-ea"/>
                      <a:sym typeface="+mn-lt"/>
                    </a:rPr>
                    <a:t>各竞争者凭借技术、品牌或成本等优势赢得市场，明确这些优势有助于理解行业竞争的核心要素。</a:t>
                  </a:r>
                  <a:endParaRPr lang="en-US" dirty="0"/>
                </a:p>
              </p:txBody>
            </p:sp>
            <p:sp>
              <p:nvSpPr>
                <p:cNvPr id="41" name="Bullet3">
                  <a:extLst>
                    <a:ext uri="{FF2B5EF4-FFF2-40B4-BE49-F238E27FC236}">
                      <a16:creationId xmlns:a16="http://schemas.microsoft.com/office/drawing/2014/main" id="{68E53070-8242-1000-180E-CC11DA7B4C39}"/>
                    </a:ext>
                  </a:extLst>
                </p:cNvPr>
                <p:cNvSpPr/>
                <p:nvPr/>
              </p:nvSpPr>
              <p:spPr>
                <a:xfrm>
                  <a:off x="4361959" y="1987362"/>
                  <a:ext cx="1957216" cy="685974"/>
                </a:xfrm>
                <a:prstGeom prst="rect">
                  <a:avLst/>
                </a:prstGeom>
              </p:spPr>
              <p:txBody>
                <a:bodyPr wrap="square" lIns="91440" tIns="45720" rIns="91440" bIns="45720" anchor="ctr" anchorCtr="0">
                  <a:normAutofit/>
                </a:bodyPr>
                <a:lstStyle/>
                <a:p>
                  <a:pPr lvl="0">
                    <a:lnSpc>
                      <a:spcPct val="120000"/>
                    </a:lnSpc>
                  </a:pPr>
                  <a:r>
                    <a:rPr lang="zh-CN" altLang="en-US" b="1" dirty="0">
                      <a:cs typeface="+mn-ea"/>
                      <a:sym typeface="+mn-lt"/>
                    </a:rPr>
                    <a:t>竞争优势评估</a:t>
                  </a:r>
                  <a:endParaRPr lang="en-US" dirty="0"/>
                </a:p>
              </p:txBody>
            </p:sp>
          </p:grpSp>
          <p:grpSp>
            <p:nvGrpSpPr>
              <p:cNvPr id="10" name="组合 9">
                <a:extLst>
                  <a:ext uri="{FF2B5EF4-FFF2-40B4-BE49-F238E27FC236}">
                    <a16:creationId xmlns:a16="http://schemas.microsoft.com/office/drawing/2014/main" id="{F8CD96AF-8900-574E-9BC7-2E6468B3F530}"/>
                  </a:ext>
                </a:extLst>
              </p:cNvPr>
              <p:cNvGrpSpPr/>
              <p:nvPr/>
            </p:nvGrpSpPr>
            <p:grpSpPr>
              <a:xfrm>
                <a:off x="4367234" y="4076700"/>
                <a:ext cx="3434854" cy="2057400"/>
                <a:chOff x="660399" y="4076700"/>
                <a:chExt cx="2042795" cy="2057400"/>
              </a:xfrm>
            </p:grpSpPr>
            <p:sp>
              <p:nvSpPr>
                <p:cNvPr id="27" name="ComponentBackground4">
                  <a:extLst>
                    <a:ext uri="{FF2B5EF4-FFF2-40B4-BE49-F238E27FC236}">
                      <a16:creationId xmlns:a16="http://schemas.microsoft.com/office/drawing/2014/main" id="{A3331E44-54D6-25E0-65C2-1971F69162D6}"/>
                    </a:ext>
                  </a:extLst>
                </p:cNvPr>
                <p:cNvSpPr/>
                <p:nvPr/>
              </p:nvSpPr>
              <p:spPr>
                <a:xfrm>
                  <a:off x="660399" y="4076700"/>
                  <a:ext cx="2042795" cy="2057400"/>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a:solidFill>
                      <a:schemeClr val="tx1"/>
                    </a:solidFill>
                    <a:sym typeface="+mn-lt"/>
                  </a:endParaRPr>
                </a:p>
              </p:txBody>
            </p:sp>
            <p:sp>
              <p:nvSpPr>
                <p:cNvPr id="28" name="Text4">
                  <a:extLst>
                    <a:ext uri="{FF2B5EF4-FFF2-40B4-BE49-F238E27FC236}">
                      <a16:creationId xmlns:a16="http://schemas.microsoft.com/office/drawing/2014/main" id="{DA7D18ED-ECD3-0B40-2DAD-5DC8998CEDDF}"/>
                    </a:ext>
                  </a:extLst>
                </p:cNvPr>
                <p:cNvSpPr txBox="1"/>
                <p:nvPr/>
              </p:nvSpPr>
              <p:spPr>
                <a:xfrm>
                  <a:off x="713328" y="4829718"/>
                  <a:ext cx="1957217" cy="1196808"/>
                </a:xfrm>
                <a:prstGeom prst="rect">
                  <a:avLst/>
                </a:prstGeom>
                <a:noFill/>
                <a:ln>
                  <a:noFill/>
                </a:ln>
              </p:spPr>
              <p:txBody>
                <a:bodyPr wrap="square" lIns="91440" tIns="45720" rIns="91440" bIns="45720" anchor="t" anchorCtr="0">
                  <a:normAutofit/>
                </a:bodyPr>
                <a:lstStyle/>
                <a:p>
                  <a:pPr>
                    <a:lnSpc>
                      <a:spcPct val="120000"/>
                    </a:lnSpc>
                    <a:spcBef>
                      <a:spcPct val="0"/>
                    </a:spcBef>
                  </a:pPr>
                  <a:r>
                    <a:rPr lang="zh-CN" altLang="en-US" sz="1200" dirty="0">
                      <a:cs typeface="+mn-ea"/>
                      <a:sym typeface="+mn-lt"/>
                    </a:rPr>
                    <a:t>市场份额的变化受到行业趋势驱动，如技术创新或消费者偏好改变，深入研究这些因素对预测未来竞争格局至关重要。</a:t>
                  </a:r>
                  <a:endParaRPr lang="en-US" dirty="0"/>
                </a:p>
              </p:txBody>
            </p:sp>
            <p:sp>
              <p:nvSpPr>
                <p:cNvPr id="29" name="Bullet4">
                  <a:extLst>
                    <a:ext uri="{FF2B5EF4-FFF2-40B4-BE49-F238E27FC236}">
                      <a16:creationId xmlns:a16="http://schemas.microsoft.com/office/drawing/2014/main" id="{0907F8D4-104C-022C-9762-F0B410D54D7A}"/>
                    </a:ext>
                  </a:extLst>
                </p:cNvPr>
                <p:cNvSpPr/>
                <p:nvPr/>
              </p:nvSpPr>
              <p:spPr>
                <a:xfrm>
                  <a:off x="713328" y="4143744"/>
                  <a:ext cx="1957217" cy="685974"/>
                </a:xfrm>
                <a:prstGeom prst="rect">
                  <a:avLst/>
                </a:prstGeom>
              </p:spPr>
              <p:txBody>
                <a:bodyPr wrap="square" lIns="91440" tIns="45720" rIns="91440" bIns="45720" anchor="ctr" anchorCtr="0">
                  <a:normAutofit/>
                </a:bodyPr>
                <a:lstStyle/>
                <a:p>
                  <a:pPr lvl="0">
                    <a:lnSpc>
                      <a:spcPct val="120000"/>
                    </a:lnSpc>
                  </a:pPr>
                  <a:r>
                    <a:rPr lang="zh-CN" altLang="en-US" b="1" dirty="0">
                      <a:cs typeface="+mn-ea"/>
                      <a:sym typeface="+mn-lt"/>
                    </a:rPr>
                    <a:t>行业趋势影响</a:t>
                  </a:r>
                  <a:endParaRPr lang="en-US" dirty="0"/>
                </a:p>
              </p:txBody>
            </p:sp>
          </p:grpSp>
        </p:grpSp>
      </p:grpSp>
      <p:sp>
        <p:nvSpPr>
          <p:cNvPr id="7" name="标题 4294967294"/>
          <p:cNvSpPr>
            <a:spLocks noGrp="1"/>
          </p:cNvSpPr>
          <p:nvPr>
            <p:ph type="title" hasCustomPrompt="1"/>
          </p:nvPr>
        </p:nvSpPr>
        <p:spPr/>
        <p:txBody>
          <a:bodyPr/>
          <a:lstStyle/>
          <a:p>
            <a:r>
              <a:rPr lang="zh-CN" altLang="en-US" dirty="0"/>
              <a:t>行业竞争格局</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0773588a-086e-4a1e-a9a8-557c7e2be41a.source.4.zh-Hans.pptx">
            <a:extLst>
              <a:ext uri="{FF2B5EF4-FFF2-40B4-BE49-F238E27FC236}">
                <a16:creationId xmlns:a16="http://schemas.microsoft.com/office/drawing/2014/main" id="{576F6E5A-B5F5-6CFE-19CF-D42DF3FD446B}"/>
              </a:ext>
            </a:extLst>
          </p:cNvPr>
          <p:cNvGrpSpPr/>
          <p:nvPr/>
        </p:nvGrpSpPr>
        <p:grpSpPr>
          <a:xfrm>
            <a:off x="660400" y="1130299"/>
            <a:ext cx="10858500" cy="4946651"/>
            <a:chOff x="660400" y="1130299"/>
            <a:chExt cx="10858500" cy="4946651"/>
          </a:xfrm>
        </p:grpSpPr>
        <p:grpSp>
          <p:nvGrpSpPr>
            <p:cNvPr id="5" name="组合 4">
              <a:extLst>
                <a:ext uri="{FF2B5EF4-FFF2-40B4-BE49-F238E27FC236}">
                  <a16:creationId xmlns:a16="http://schemas.microsoft.com/office/drawing/2014/main" id="{EB00485B-0C9C-D77B-5434-BFD9D15DD5FD}"/>
                </a:ext>
              </a:extLst>
            </p:cNvPr>
            <p:cNvGrpSpPr/>
            <p:nvPr/>
          </p:nvGrpSpPr>
          <p:grpSpPr>
            <a:xfrm>
              <a:off x="660400" y="1780674"/>
              <a:ext cx="10858500" cy="4296276"/>
              <a:chOff x="660400" y="1780674"/>
              <a:chExt cx="10858500" cy="4296276"/>
            </a:xfrm>
          </p:grpSpPr>
          <p:grpSp>
            <p:nvGrpSpPr>
              <p:cNvPr id="34" name="组合 33">
                <a:extLst>
                  <a:ext uri="{FF2B5EF4-FFF2-40B4-BE49-F238E27FC236}">
                    <a16:creationId xmlns:a16="http://schemas.microsoft.com/office/drawing/2014/main" id="{0F735ECF-F88C-8A91-726E-296FA74AF148}"/>
                  </a:ext>
                </a:extLst>
              </p:cNvPr>
              <p:cNvGrpSpPr/>
              <p:nvPr/>
            </p:nvGrpSpPr>
            <p:grpSpPr>
              <a:xfrm>
                <a:off x="660400" y="1780674"/>
                <a:ext cx="10858500" cy="951372"/>
                <a:chOff x="955158" y="1247840"/>
                <a:chExt cx="10281683" cy="1060829"/>
              </a:xfrm>
            </p:grpSpPr>
            <p:sp>
              <p:nvSpPr>
                <p:cNvPr id="13" name="ComponentBackground1">
                  <a:extLst>
                    <a:ext uri="{FF2B5EF4-FFF2-40B4-BE49-F238E27FC236}">
                      <a16:creationId xmlns:a16="http://schemas.microsoft.com/office/drawing/2014/main" id="{49C25BB7-E45D-FE21-3278-8A1A879083CA}"/>
                    </a:ext>
                  </a:extLst>
                </p:cNvPr>
                <p:cNvSpPr/>
                <p:nvPr/>
              </p:nvSpPr>
              <p:spPr>
                <a:xfrm>
                  <a:off x="955158" y="1247840"/>
                  <a:ext cx="10281683" cy="1060829"/>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ym typeface="+mn-lt"/>
                  </a:endParaRPr>
                </a:p>
              </p:txBody>
            </p:sp>
            <p:grpSp>
              <p:nvGrpSpPr>
                <p:cNvPr id="7" name="组合 6">
                  <a:extLst>
                    <a:ext uri="{FF2B5EF4-FFF2-40B4-BE49-F238E27FC236}">
                      <a16:creationId xmlns:a16="http://schemas.microsoft.com/office/drawing/2014/main" id="{F6610574-5C4A-099D-0B1D-892F53DEDDA0}"/>
                    </a:ext>
                  </a:extLst>
                </p:cNvPr>
                <p:cNvGrpSpPr/>
                <p:nvPr/>
              </p:nvGrpSpPr>
              <p:grpSpPr>
                <a:xfrm>
                  <a:off x="955160" y="1247841"/>
                  <a:ext cx="10144640" cy="1001563"/>
                  <a:chOff x="955160" y="1247841"/>
                  <a:chExt cx="10144640" cy="1001563"/>
                </a:xfrm>
              </p:grpSpPr>
              <p:grpSp>
                <p:nvGrpSpPr>
                  <p:cNvPr id="6" name="组合 1">
                    <a:extLst>
                      <a:ext uri="{FF2B5EF4-FFF2-40B4-BE49-F238E27FC236}">
                        <a16:creationId xmlns:a16="http://schemas.microsoft.com/office/drawing/2014/main" id="{7DC7C1C0-2EE1-9D40-2174-65C639CCBA86}"/>
                      </a:ext>
                    </a:extLst>
                  </p:cNvPr>
                  <p:cNvGrpSpPr/>
                  <p:nvPr/>
                </p:nvGrpSpPr>
                <p:grpSpPr>
                  <a:xfrm>
                    <a:off x="1682693" y="1309842"/>
                    <a:ext cx="9417107" cy="939562"/>
                    <a:chOff x="1682693" y="1309842"/>
                    <a:chExt cx="9417107" cy="939562"/>
                  </a:xfrm>
                </p:grpSpPr>
                <p:sp>
                  <p:nvSpPr>
                    <p:cNvPr id="16" name="Bullet1">
                      <a:extLst>
                        <a:ext uri="{FF2B5EF4-FFF2-40B4-BE49-F238E27FC236}">
                          <a16:creationId xmlns:a16="http://schemas.microsoft.com/office/drawing/2014/main" id="{0720247A-CB01-46ED-17F9-759EE6636F33}"/>
                        </a:ext>
                      </a:extLst>
                    </p:cNvPr>
                    <p:cNvSpPr/>
                    <p:nvPr/>
                  </p:nvSpPr>
                  <p:spPr>
                    <a:xfrm>
                      <a:off x="1682693" y="1309842"/>
                      <a:ext cx="9417107"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tx1"/>
                          </a:solidFill>
                          <a:cs typeface="+mn-ea"/>
                          <a:sym typeface="+mn-lt"/>
                        </a:rPr>
                        <a:t>技术革新概述</a:t>
                      </a:r>
                      <a:endParaRPr lang="en-US" dirty="0"/>
                    </a:p>
                  </p:txBody>
                </p:sp>
                <p:sp>
                  <p:nvSpPr>
                    <p:cNvPr id="17" name="Text1">
                      <a:extLst>
                        <a:ext uri="{FF2B5EF4-FFF2-40B4-BE49-F238E27FC236}">
                          <a16:creationId xmlns:a16="http://schemas.microsoft.com/office/drawing/2014/main" id="{010DD5C3-E969-D291-477E-F59B8424B180}"/>
                        </a:ext>
                      </a:extLst>
                    </p:cNvPr>
                    <p:cNvSpPr/>
                    <p:nvPr/>
                  </p:nvSpPr>
                  <p:spPr>
                    <a:xfrm>
                      <a:off x="1682695" y="1781853"/>
                      <a:ext cx="9417105"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技术革新是行业发展的重要驱动力，通过引入新工具和方法，显著提高了生产效率和产品质量。</a:t>
                      </a:r>
                      <a:endParaRPr lang="en-US" dirty="0"/>
                    </a:p>
                  </p:txBody>
                </p:sp>
              </p:grpSp>
              <p:sp>
                <p:nvSpPr>
                  <p:cNvPr id="15" name="Number1">
                    <a:extLst>
                      <a:ext uri="{FF2B5EF4-FFF2-40B4-BE49-F238E27FC236}">
                        <a16:creationId xmlns:a16="http://schemas.microsoft.com/office/drawing/2014/main" id="{32145508-8561-FFF4-1B63-3398DE4AB1FD}"/>
                      </a:ext>
                    </a:extLst>
                  </p:cNvPr>
                  <p:cNvSpPr txBox="1"/>
                  <p:nvPr/>
                </p:nvSpPr>
                <p:spPr>
                  <a:xfrm>
                    <a:off x="955160" y="1247841"/>
                    <a:ext cx="613577" cy="722554"/>
                  </a:xfrm>
                  <a:prstGeom prst="roundRect">
                    <a:avLst>
                      <a:gd name="adj" fmla="val 10458"/>
                    </a:avLst>
                  </a:prstGeom>
                  <a:solidFill>
                    <a:schemeClr val="accent1"/>
                  </a:solid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sz="2000" b="0" dirty="0">
                        <a:solidFill>
                          <a:srgbClr val="FFFFFF"/>
                        </a:solidFill>
                        <a:sym typeface="+mn-lt"/>
                      </a:rPr>
                      <a:t>1</a:t>
                    </a:r>
                    <a:endParaRPr lang="zh-CN" altLang="en-US" sz="2000" b="0" dirty="0">
                      <a:solidFill>
                        <a:srgbClr val="FFFFFF"/>
                      </a:solidFill>
                      <a:sym typeface="+mn-lt"/>
                    </a:endParaRPr>
                  </a:p>
                </p:txBody>
              </p:sp>
            </p:grpSp>
          </p:grpSp>
          <p:grpSp>
            <p:nvGrpSpPr>
              <p:cNvPr id="9" name="组合 8">
                <a:extLst>
                  <a:ext uri="{FF2B5EF4-FFF2-40B4-BE49-F238E27FC236}">
                    <a16:creationId xmlns:a16="http://schemas.microsoft.com/office/drawing/2014/main" id="{C4B2FA71-B876-C607-17F8-25E0028C9435}"/>
                  </a:ext>
                </a:extLst>
              </p:cNvPr>
              <p:cNvGrpSpPr/>
              <p:nvPr/>
            </p:nvGrpSpPr>
            <p:grpSpPr>
              <a:xfrm>
                <a:off x="660402" y="2914692"/>
                <a:ext cx="10713769" cy="894224"/>
                <a:chOff x="955160" y="2512328"/>
                <a:chExt cx="10144640" cy="997106"/>
              </a:xfrm>
            </p:grpSpPr>
            <p:grpSp>
              <p:nvGrpSpPr>
                <p:cNvPr id="8" name="组合 7">
                  <a:extLst>
                    <a:ext uri="{FF2B5EF4-FFF2-40B4-BE49-F238E27FC236}">
                      <a16:creationId xmlns:a16="http://schemas.microsoft.com/office/drawing/2014/main" id="{2E9C4A52-059A-3DEA-B2A0-D0DB7A6AE4F4}"/>
                    </a:ext>
                  </a:extLst>
                </p:cNvPr>
                <p:cNvGrpSpPr/>
                <p:nvPr/>
              </p:nvGrpSpPr>
              <p:grpSpPr>
                <a:xfrm>
                  <a:off x="1682693" y="2574330"/>
                  <a:ext cx="9417107" cy="935104"/>
                  <a:chOff x="1682693" y="2574330"/>
                  <a:chExt cx="9417107" cy="935104"/>
                </a:xfrm>
              </p:grpSpPr>
              <p:sp>
                <p:nvSpPr>
                  <p:cNvPr id="22" name="Bullet2">
                    <a:extLst>
                      <a:ext uri="{FF2B5EF4-FFF2-40B4-BE49-F238E27FC236}">
                        <a16:creationId xmlns:a16="http://schemas.microsoft.com/office/drawing/2014/main" id="{0DE39248-0C42-087D-6BB7-805D40038E98}"/>
                      </a:ext>
                    </a:extLst>
                  </p:cNvPr>
                  <p:cNvSpPr/>
                  <p:nvPr/>
                </p:nvSpPr>
                <p:spPr>
                  <a:xfrm>
                    <a:off x="1682693" y="2574330"/>
                    <a:ext cx="9417107"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tx1"/>
                        </a:solidFill>
                        <a:cs typeface="+mn-ea"/>
                        <a:sym typeface="+mn-lt"/>
                      </a:rPr>
                      <a:t>数据技术的影响</a:t>
                    </a:r>
                    <a:endParaRPr lang="en-US" dirty="0"/>
                  </a:p>
                </p:txBody>
              </p:sp>
              <p:sp>
                <p:nvSpPr>
                  <p:cNvPr id="23" name="Text2">
                    <a:extLst>
                      <a:ext uri="{FF2B5EF4-FFF2-40B4-BE49-F238E27FC236}">
                        <a16:creationId xmlns:a16="http://schemas.microsoft.com/office/drawing/2014/main" id="{9BCB26D1-1B83-3DBA-CB91-64D099A34C95}"/>
                      </a:ext>
                    </a:extLst>
                  </p:cNvPr>
                  <p:cNvSpPr/>
                  <p:nvPr/>
                </p:nvSpPr>
                <p:spPr>
                  <a:xfrm>
                    <a:off x="1682695" y="3041882"/>
                    <a:ext cx="9417105" cy="46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数据技术的应用改变了传统行业模式，通过大数据分析优化决策流程，提升资源利用效率。</a:t>
                    </a:r>
                    <a:endParaRPr lang="en-US" dirty="0"/>
                  </a:p>
                </p:txBody>
              </p:sp>
            </p:grpSp>
            <p:sp>
              <p:nvSpPr>
                <p:cNvPr id="21" name="Number2">
                  <a:extLst>
                    <a:ext uri="{FF2B5EF4-FFF2-40B4-BE49-F238E27FC236}">
                      <a16:creationId xmlns:a16="http://schemas.microsoft.com/office/drawing/2014/main" id="{13B9EF8B-066F-6D16-0A43-39E9B0EF4CF5}"/>
                    </a:ext>
                  </a:extLst>
                </p:cNvPr>
                <p:cNvSpPr txBox="1"/>
                <p:nvPr/>
              </p:nvSpPr>
              <p:spPr>
                <a:xfrm>
                  <a:off x="955160" y="2512328"/>
                  <a:ext cx="613577" cy="722553"/>
                </a:xfrm>
                <a:prstGeom prst="roundRect">
                  <a:avLst>
                    <a:gd name="adj" fmla="val 12603"/>
                  </a:avLst>
                </a:prstGeom>
                <a:solidFill>
                  <a:schemeClr val="accent1"/>
                </a:solid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sz="2000" b="0" dirty="0">
                      <a:solidFill>
                        <a:srgbClr val="FFFFFF"/>
                      </a:solidFill>
                      <a:sym typeface="+mn-lt"/>
                    </a:rPr>
                    <a:t>2</a:t>
                  </a:r>
                  <a:endParaRPr lang="zh-CN" altLang="en-US" sz="2000" b="0" dirty="0">
                    <a:solidFill>
                      <a:srgbClr val="FFFFFF"/>
                    </a:solidFill>
                    <a:sym typeface="+mn-lt"/>
                  </a:endParaRPr>
                </a:p>
              </p:txBody>
            </p:sp>
          </p:grpSp>
          <p:grpSp>
            <p:nvGrpSpPr>
              <p:cNvPr id="36" name="组合 35">
                <a:extLst>
                  <a:ext uri="{FF2B5EF4-FFF2-40B4-BE49-F238E27FC236}">
                    <a16:creationId xmlns:a16="http://schemas.microsoft.com/office/drawing/2014/main" id="{B4C33FDF-CE29-6551-BE19-BF6EA31112AD}"/>
                  </a:ext>
                </a:extLst>
              </p:cNvPr>
              <p:cNvGrpSpPr/>
              <p:nvPr/>
            </p:nvGrpSpPr>
            <p:grpSpPr>
              <a:xfrm>
                <a:off x="660400" y="4048709"/>
                <a:ext cx="10858500" cy="951372"/>
                <a:chOff x="955158" y="3776816"/>
                <a:chExt cx="10281683" cy="1060829"/>
              </a:xfrm>
            </p:grpSpPr>
            <p:sp>
              <p:nvSpPr>
                <p:cNvPr id="24" name="ComponentBackground3">
                  <a:extLst>
                    <a:ext uri="{FF2B5EF4-FFF2-40B4-BE49-F238E27FC236}">
                      <a16:creationId xmlns:a16="http://schemas.microsoft.com/office/drawing/2014/main" id="{FCBBE74F-889A-F9BB-7C9F-4381BB67EB12}"/>
                    </a:ext>
                  </a:extLst>
                </p:cNvPr>
                <p:cNvSpPr/>
                <p:nvPr/>
              </p:nvSpPr>
              <p:spPr>
                <a:xfrm>
                  <a:off x="955158" y="3776816"/>
                  <a:ext cx="10281683" cy="1060829"/>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a:sym typeface="+mn-lt"/>
                  </a:endParaRPr>
                </a:p>
              </p:txBody>
            </p:sp>
            <p:grpSp>
              <p:nvGrpSpPr>
                <p:cNvPr id="11" name="组合 10">
                  <a:extLst>
                    <a:ext uri="{FF2B5EF4-FFF2-40B4-BE49-F238E27FC236}">
                      <a16:creationId xmlns:a16="http://schemas.microsoft.com/office/drawing/2014/main" id="{D0758B9A-3D1C-C184-0E07-1A2B34332A4C}"/>
                    </a:ext>
                  </a:extLst>
                </p:cNvPr>
                <p:cNvGrpSpPr/>
                <p:nvPr/>
              </p:nvGrpSpPr>
              <p:grpSpPr>
                <a:xfrm>
                  <a:off x="955159" y="3776816"/>
                  <a:ext cx="10144641" cy="997104"/>
                  <a:chOff x="955159" y="3776816"/>
                  <a:chExt cx="10144641" cy="997104"/>
                </a:xfrm>
              </p:grpSpPr>
              <p:grpSp>
                <p:nvGrpSpPr>
                  <p:cNvPr id="10" name="组合 9">
                    <a:extLst>
                      <a:ext uri="{FF2B5EF4-FFF2-40B4-BE49-F238E27FC236}">
                        <a16:creationId xmlns:a16="http://schemas.microsoft.com/office/drawing/2014/main" id="{9B8D3EC2-72E8-8279-E777-AD6F77457E16}"/>
                      </a:ext>
                    </a:extLst>
                  </p:cNvPr>
                  <p:cNvGrpSpPr/>
                  <p:nvPr/>
                </p:nvGrpSpPr>
                <p:grpSpPr>
                  <a:xfrm>
                    <a:off x="1682693" y="3834358"/>
                    <a:ext cx="9417107" cy="939562"/>
                    <a:chOff x="1682693" y="3834358"/>
                    <a:chExt cx="9417107" cy="939562"/>
                  </a:xfrm>
                </p:grpSpPr>
                <p:sp>
                  <p:nvSpPr>
                    <p:cNvPr id="26" name="Bullet3">
                      <a:extLst>
                        <a:ext uri="{FF2B5EF4-FFF2-40B4-BE49-F238E27FC236}">
                          <a16:creationId xmlns:a16="http://schemas.microsoft.com/office/drawing/2014/main" id="{07DAE051-D22F-1703-1859-92EADADCD6F0}"/>
                        </a:ext>
                      </a:extLst>
                    </p:cNvPr>
                    <p:cNvSpPr/>
                    <p:nvPr/>
                  </p:nvSpPr>
                  <p:spPr>
                    <a:xfrm>
                      <a:off x="1682693" y="3834358"/>
                      <a:ext cx="9417107"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tx1"/>
                          </a:solidFill>
                          <a:cs typeface="+mn-ea"/>
                          <a:sym typeface="+mn-lt"/>
                        </a:rPr>
                        <a:t>自动化与智能化</a:t>
                      </a:r>
                      <a:endParaRPr lang="en-US" dirty="0"/>
                    </a:p>
                  </p:txBody>
                </p:sp>
                <p:sp>
                  <p:nvSpPr>
                    <p:cNvPr id="27" name="Text3">
                      <a:extLst>
                        <a:ext uri="{FF2B5EF4-FFF2-40B4-BE49-F238E27FC236}">
                          <a16:creationId xmlns:a16="http://schemas.microsoft.com/office/drawing/2014/main" id="{FD717B0D-F398-8FD5-01B8-E8D6F2EDBB87}"/>
                        </a:ext>
                      </a:extLst>
                    </p:cNvPr>
                    <p:cNvSpPr/>
                    <p:nvPr/>
                  </p:nvSpPr>
                  <p:spPr>
                    <a:xfrm>
                      <a:off x="1682695" y="4306369"/>
                      <a:ext cx="9417105"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自动化和智能化技术的普及降低了人工成本，同时提升了操作精确度和灵活性，推动产业升级。</a:t>
                      </a:r>
                      <a:endParaRPr lang="en-US" dirty="0"/>
                    </a:p>
                  </p:txBody>
                </p:sp>
              </p:grpSp>
              <p:sp>
                <p:nvSpPr>
                  <p:cNvPr id="28" name="Number3">
                    <a:extLst>
                      <a:ext uri="{FF2B5EF4-FFF2-40B4-BE49-F238E27FC236}">
                        <a16:creationId xmlns:a16="http://schemas.microsoft.com/office/drawing/2014/main" id="{87D4BF31-3385-7100-12BB-42614FC78C9B}"/>
                      </a:ext>
                    </a:extLst>
                  </p:cNvPr>
                  <p:cNvSpPr txBox="1"/>
                  <p:nvPr/>
                </p:nvSpPr>
                <p:spPr>
                  <a:xfrm>
                    <a:off x="955159" y="3776816"/>
                    <a:ext cx="613577" cy="722553"/>
                  </a:xfrm>
                  <a:prstGeom prst="roundRect">
                    <a:avLst>
                      <a:gd name="adj" fmla="val 12603"/>
                    </a:avLst>
                  </a:prstGeom>
                  <a:solidFill>
                    <a:schemeClr val="accent1"/>
                  </a:solid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sz="2000" b="0" dirty="0">
                        <a:solidFill>
                          <a:srgbClr val="FFFFFF"/>
                        </a:solidFill>
                        <a:sym typeface="+mn-lt"/>
                      </a:rPr>
                      <a:t>3</a:t>
                    </a:r>
                    <a:endParaRPr lang="zh-CN" altLang="en-US" sz="2000" b="0" dirty="0">
                      <a:solidFill>
                        <a:srgbClr val="FFFFFF"/>
                      </a:solidFill>
                      <a:sym typeface="+mn-lt"/>
                    </a:endParaRPr>
                  </a:p>
                </p:txBody>
              </p:sp>
            </p:grpSp>
          </p:grpSp>
          <p:grpSp>
            <p:nvGrpSpPr>
              <p:cNvPr id="33" name="组合 32">
                <a:extLst>
                  <a:ext uri="{FF2B5EF4-FFF2-40B4-BE49-F238E27FC236}">
                    <a16:creationId xmlns:a16="http://schemas.microsoft.com/office/drawing/2014/main" id="{EA575DBC-EEE9-E8AF-8FBD-1D3D27849B27}"/>
                  </a:ext>
                </a:extLst>
              </p:cNvPr>
              <p:cNvGrpSpPr/>
              <p:nvPr/>
            </p:nvGrpSpPr>
            <p:grpSpPr>
              <a:xfrm>
                <a:off x="660401" y="5182728"/>
                <a:ext cx="10713770" cy="894222"/>
                <a:chOff x="955159" y="5041305"/>
                <a:chExt cx="10144641" cy="997104"/>
              </a:xfrm>
            </p:grpSpPr>
            <p:grpSp>
              <p:nvGrpSpPr>
                <p:cNvPr id="12" name="组合 11">
                  <a:extLst>
                    <a:ext uri="{FF2B5EF4-FFF2-40B4-BE49-F238E27FC236}">
                      <a16:creationId xmlns:a16="http://schemas.microsoft.com/office/drawing/2014/main" id="{A67028CB-5BC1-B9AF-D0C3-6AC34AB17C4A}"/>
                    </a:ext>
                  </a:extLst>
                </p:cNvPr>
                <p:cNvGrpSpPr/>
                <p:nvPr/>
              </p:nvGrpSpPr>
              <p:grpSpPr>
                <a:xfrm>
                  <a:off x="1682693" y="5098847"/>
                  <a:ext cx="9417107" cy="939562"/>
                  <a:chOff x="1682693" y="5098847"/>
                  <a:chExt cx="9417107" cy="939562"/>
                </a:xfrm>
              </p:grpSpPr>
              <p:sp>
                <p:nvSpPr>
                  <p:cNvPr id="30" name="Bullet4">
                    <a:extLst>
                      <a:ext uri="{FF2B5EF4-FFF2-40B4-BE49-F238E27FC236}">
                        <a16:creationId xmlns:a16="http://schemas.microsoft.com/office/drawing/2014/main" id="{D0CA2CD9-A02F-8A54-1B35-8F70F4A5C82A}"/>
                      </a:ext>
                    </a:extLst>
                  </p:cNvPr>
                  <p:cNvSpPr/>
                  <p:nvPr/>
                </p:nvSpPr>
                <p:spPr>
                  <a:xfrm>
                    <a:off x="1682693" y="5098847"/>
                    <a:ext cx="9417107"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tx1"/>
                        </a:solidFill>
                        <a:cs typeface="+mn-ea"/>
                        <a:sym typeface="+mn-lt"/>
                      </a:rPr>
                      <a:t>可持续技术发展</a:t>
                    </a:r>
                    <a:endParaRPr lang="en-US" dirty="0"/>
                  </a:p>
                </p:txBody>
              </p:sp>
              <p:sp>
                <p:nvSpPr>
                  <p:cNvPr id="31" name="Text4">
                    <a:extLst>
                      <a:ext uri="{FF2B5EF4-FFF2-40B4-BE49-F238E27FC236}">
                        <a16:creationId xmlns:a16="http://schemas.microsoft.com/office/drawing/2014/main" id="{0622D177-141E-329F-8603-D0867AEBDF22}"/>
                      </a:ext>
                    </a:extLst>
                  </p:cNvPr>
                  <p:cNvSpPr/>
                  <p:nvPr/>
                </p:nvSpPr>
                <p:spPr>
                  <a:xfrm>
                    <a:off x="1682695" y="5570858"/>
                    <a:ext cx="9417105" cy="4675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绿色技术和可持续发展理念促使行业减少环境影响，开发环保产品，满足社会对责任企业的需求。</a:t>
                    </a:r>
                    <a:endParaRPr lang="en-US" dirty="0"/>
                  </a:p>
                </p:txBody>
              </p:sp>
            </p:grpSp>
            <p:sp>
              <p:nvSpPr>
                <p:cNvPr id="32" name="Number4">
                  <a:extLst>
                    <a:ext uri="{FF2B5EF4-FFF2-40B4-BE49-F238E27FC236}">
                      <a16:creationId xmlns:a16="http://schemas.microsoft.com/office/drawing/2014/main" id="{81E0A1BB-614B-9DD7-67C9-BA9C58ACBB6A}"/>
                    </a:ext>
                  </a:extLst>
                </p:cNvPr>
                <p:cNvSpPr txBox="1"/>
                <p:nvPr/>
              </p:nvSpPr>
              <p:spPr>
                <a:xfrm>
                  <a:off x="955159" y="5041305"/>
                  <a:ext cx="613577" cy="722553"/>
                </a:xfrm>
                <a:prstGeom prst="roundRect">
                  <a:avLst>
                    <a:gd name="adj" fmla="val 12603"/>
                  </a:avLst>
                </a:prstGeom>
                <a:solidFill>
                  <a:schemeClr val="accent1"/>
                </a:solid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sz="2000" b="0" dirty="0">
                      <a:solidFill>
                        <a:srgbClr val="FFFFFF"/>
                      </a:solidFill>
                      <a:sym typeface="+mn-lt"/>
                    </a:rPr>
                    <a:t>4</a:t>
                  </a:r>
                  <a:endParaRPr lang="zh-CN" altLang="en-US" sz="2000" b="0" dirty="0">
                    <a:solidFill>
                      <a:srgbClr val="FFFFFF"/>
                    </a:solidFill>
                    <a:sym typeface="+mn-lt"/>
                  </a:endParaRPr>
                </a:p>
              </p:txBody>
            </p:sp>
          </p:grpSp>
        </p:grpSp>
        <p:sp>
          <p:nvSpPr>
            <p:cNvPr id="3" name="Title">
              <a:extLst>
                <a:ext uri="{FF2B5EF4-FFF2-40B4-BE49-F238E27FC236}">
                  <a16:creationId xmlns:a16="http://schemas.microsoft.com/office/drawing/2014/main" id="{D7B182DB-FA40-B4FB-A8AF-31DD90EB9C80}"/>
                </a:ext>
              </a:extLst>
            </p:cNvPr>
            <p:cNvSpPr txBox="1"/>
            <p:nvPr/>
          </p:nvSpPr>
          <p:spPr>
            <a:xfrm>
              <a:off x="660400" y="1130299"/>
              <a:ext cx="10858500" cy="523407"/>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lang="zh-CN" altLang="en-US" sz="2400" b="1" dirty="0">
                  <a:cs typeface="+mn-ea"/>
                  <a:sym typeface="+mn-lt"/>
                </a:rPr>
                <a:t>技术进步对行业发展的推动作用</a:t>
              </a:r>
              <a:endParaRPr lang="en-US" dirty="0"/>
            </a:p>
          </p:txBody>
        </p:sp>
      </p:grpSp>
      <p:sp>
        <p:nvSpPr>
          <p:cNvPr id="2" name="标题 1"/>
          <p:cNvSpPr>
            <a:spLocks noGrp="1"/>
          </p:cNvSpPr>
          <p:nvPr>
            <p:ph type="title" hasCustomPrompt="1"/>
          </p:nvPr>
        </p:nvSpPr>
        <p:spPr/>
        <p:txBody>
          <a:bodyPr/>
          <a:lstStyle/>
          <a:p>
            <a:r>
              <a:rPr lang="zh-CN" altLang="en-US" dirty="0"/>
              <a:t>行业技术革新</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solidFill>
                  <a:schemeClr val="accent1"/>
                </a:solidFill>
              </a:rPr>
              <a:t>核心业务</a:t>
            </a:r>
            <a:r>
              <a:rPr lang="zh-CN" altLang="en-US" dirty="0"/>
              <a:t>回顾</a:t>
            </a:r>
            <a:endParaRPr lang="en-US" dirty="0"/>
          </a:p>
        </p:txBody>
      </p:sp>
      <p:sp>
        <p:nvSpPr>
          <p:cNvPr id="25" name="文本占位符 24"/>
          <p:cNvSpPr>
            <a:spLocks noGrp="1"/>
          </p:cNvSpPr>
          <p:nvPr>
            <p:ph type="body" sz="quarter" idx="1" hasCustomPrompt="1"/>
          </p:nvPr>
        </p:nvSpPr>
        <p:spPr/>
        <p:txBody>
          <a:bodyPr/>
          <a:lstStyle/>
          <a:p>
            <a:r>
              <a:rPr lang="zh-CN" altLang="en-US" dirty="0"/>
              <a:t>深入剖析核心业务的运营情况与成效</a:t>
            </a:r>
            <a:endParaRPr lang="en-US" dirty="0"/>
          </a:p>
        </p:txBody>
      </p:sp>
      <p:sp>
        <p:nvSpPr>
          <p:cNvPr id="2" name="文本框 1">
            <a:extLst>
              <a:ext uri="{FF2B5EF4-FFF2-40B4-BE49-F238E27FC236}">
                <a16:creationId xmlns:a16="http://schemas.microsoft.com/office/drawing/2014/main" id="{1B06D669-062D-A66A-55D0-D525B42073F1}"/>
              </a:ext>
            </a:extLst>
          </p:cNvPr>
          <p:cNvSpPr txBox="1"/>
          <p:nvPr/>
        </p:nvSpPr>
        <p:spPr>
          <a:xfrm>
            <a:off x="660400" y="1944031"/>
            <a:ext cx="3410857" cy="1323439"/>
          </a:xfrm>
          <a:prstGeom prst="rect">
            <a:avLst/>
          </a:prstGeom>
          <a:noFill/>
        </p:spPr>
        <p:txBody>
          <a:bodyPr wrap="square" rtlCol="0">
            <a:spAutoFit/>
          </a:bodyPr>
          <a:lstStyle/>
          <a:p>
            <a:r>
              <a:rPr lang="en-US" altLang="zh-CN" sz="8000" b="1" dirty="0">
                <a:solidFill>
                  <a:schemeClr val="accent1"/>
                </a:solidFill>
              </a:rPr>
              <a:t>02.</a:t>
            </a:r>
            <a:endParaRPr lang="zh-CN" altLang="en-US" sz="8000" b="1" dirty="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1a42733c-7bfd-4e12-91b1-0c34924513c3.source.5.zh-Hans.pptx">
            <a:extLst>
              <a:ext uri="{FF2B5EF4-FFF2-40B4-BE49-F238E27FC236}">
                <a16:creationId xmlns:a16="http://schemas.microsoft.com/office/drawing/2014/main" id="{E380DEF9-2B55-A26E-EB4D-7931FCF50C16}"/>
              </a:ext>
            </a:extLst>
          </p:cNvPr>
          <p:cNvGrpSpPr/>
          <p:nvPr/>
        </p:nvGrpSpPr>
        <p:grpSpPr>
          <a:xfrm>
            <a:off x="660400" y="1130299"/>
            <a:ext cx="11531600" cy="5727700"/>
            <a:chOff x="660400" y="1130299"/>
            <a:chExt cx="11531600" cy="5727700"/>
          </a:xfrm>
        </p:grpSpPr>
        <p:sp>
          <p:nvSpPr>
            <p:cNvPr id="3" name="ïSḻïḓé">
              <a:extLst>
                <a:ext uri="{FF2B5EF4-FFF2-40B4-BE49-F238E27FC236}">
                  <a16:creationId xmlns:a16="http://schemas.microsoft.com/office/drawing/2014/main" id="{9E87ECF0-ABB6-4E7C-F4A8-F279908C8739}"/>
                </a:ext>
              </a:extLst>
            </p:cNvPr>
            <p:cNvSpPr/>
            <p:nvPr/>
          </p:nvSpPr>
          <p:spPr>
            <a:xfrm>
              <a:off x="8397684" y="1929088"/>
              <a:ext cx="3794316" cy="4928911"/>
            </a:xfrm>
            <a:prstGeom prst="rect">
              <a:avLst/>
            </a:prstGeom>
            <a:solidFill>
              <a:schemeClr val="accent1">
                <a:alpha val="1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7" name="PictureMisc1">
              <a:extLst>
                <a:ext uri="{FF2B5EF4-FFF2-40B4-BE49-F238E27FC236}">
                  <a16:creationId xmlns:a16="http://schemas.microsoft.com/office/drawing/2014/main" id="{80F65DC5-595B-CFD8-5C29-D77A175DFE25}"/>
                </a:ext>
              </a:extLst>
            </p:cNvPr>
            <p:cNvSpPr/>
            <p:nvPr/>
          </p:nvSpPr>
          <p:spPr>
            <a:xfrm>
              <a:off x="7876229" y="1212849"/>
              <a:ext cx="3655370" cy="4921251"/>
            </a:xfrm>
            <a:prstGeom prst="roundRect">
              <a:avLst>
                <a:gd name="adj" fmla="val 10914"/>
              </a:avLst>
            </a:prstGeom>
            <a:blipFill>
              <a:blip r:embed="rId2"/>
              <a:stretch>
                <a:fillRect l="-51150" r="-50796"/>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a:solidFill>
                  <a:schemeClr val="lt1"/>
                </a:solidFill>
                <a:cs typeface="+mn-ea"/>
                <a:sym typeface="+mn-lt"/>
              </a:endParaRPr>
            </a:p>
          </p:txBody>
        </p:sp>
        <p:grpSp>
          <p:nvGrpSpPr>
            <p:cNvPr id="6" name="组合 5">
              <a:extLst>
                <a:ext uri="{FF2B5EF4-FFF2-40B4-BE49-F238E27FC236}">
                  <a16:creationId xmlns:a16="http://schemas.microsoft.com/office/drawing/2014/main" id="{44DD8273-F419-842F-4B82-2621A827AF54}"/>
                </a:ext>
              </a:extLst>
            </p:cNvPr>
            <p:cNvGrpSpPr/>
            <p:nvPr/>
          </p:nvGrpSpPr>
          <p:grpSpPr>
            <a:xfrm>
              <a:off x="660400" y="1873958"/>
              <a:ext cx="2170394" cy="2084182"/>
              <a:chOff x="660400" y="2017489"/>
              <a:chExt cx="1738504" cy="2084182"/>
            </a:xfrm>
          </p:grpSpPr>
          <p:sp>
            <p:nvSpPr>
              <p:cNvPr id="66" name="ComponentBackground1">
                <a:extLst>
                  <a:ext uri="{FF2B5EF4-FFF2-40B4-BE49-F238E27FC236}">
                    <a16:creationId xmlns:a16="http://schemas.microsoft.com/office/drawing/2014/main" id="{D8D54A6E-D5D9-A554-261A-7FE7D415DD52}"/>
                  </a:ext>
                </a:extLst>
              </p:cNvPr>
              <p:cNvSpPr>
                <a:spLocks/>
              </p:cNvSpPr>
              <p:nvPr/>
            </p:nvSpPr>
            <p:spPr>
              <a:xfrm>
                <a:off x="660400" y="2017489"/>
                <a:ext cx="1738504" cy="2084182"/>
              </a:xfrm>
              <a:prstGeom prst="roundRect">
                <a:avLst>
                  <a:gd name="adj" fmla="val 10963"/>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sym typeface="+mn-lt"/>
                </a:endParaRPr>
              </a:p>
            </p:txBody>
          </p:sp>
          <p:sp>
            <p:nvSpPr>
              <p:cNvPr id="67" name="Bullet1">
                <a:extLst>
                  <a:ext uri="{FF2B5EF4-FFF2-40B4-BE49-F238E27FC236}">
                    <a16:creationId xmlns:a16="http://schemas.microsoft.com/office/drawing/2014/main" id="{ACFE2996-04C7-06CB-188B-24569F983CF1}"/>
                  </a:ext>
                </a:extLst>
              </p:cNvPr>
              <p:cNvSpPr>
                <a:spLocks/>
              </p:cNvSpPr>
              <p:nvPr/>
            </p:nvSpPr>
            <p:spPr>
              <a:xfrm>
                <a:off x="719493" y="2185385"/>
                <a:ext cx="1620318" cy="503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600" b="1" dirty="0">
                    <a:solidFill>
                      <a:schemeClr val="tx1"/>
                    </a:solidFill>
                    <a:cs typeface="+mn-ea"/>
                    <a:sym typeface="+mn-lt"/>
                  </a:rPr>
                  <a:t>新产品研发策略</a:t>
                </a:r>
                <a:endParaRPr lang="en-US" dirty="0"/>
              </a:p>
            </p:txBody>
          </p:sp>
          <p:sp>
            <p:nvSpPr>
              <p:cNvPr id="68" name="Text1">
                <a:extLst>
                  <a:ext uri="{FF2B5EF4-FFF2-40B4-BE49-F238E27FC236}">
                    <a16:creationId xmlns:a16="http://schemas.microsoft.com/office/drawing/2014/main" id="{39081B9F-172D-DF71-668C-AE8F2B869C65}"/>
                  </a:ext>
                </a:extLst>
              </p:cNvPr>
              <p:cNvSpPr>
                <a:spLocks/>
              </p:cNvSpPr>
              <p:nvPr/>
            </p:nvSpPr>
            <p:spPr>
              <a:xfrm>
                <a:off x="719493" y="2689155"/>
                <a:ext cx="1620318" cy="134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针对市场需求，制定明确的新产品研发计划，结合技术趋势与用户反馈，确保产品创新方向的正确性。</a:t>
                </a:r>
                <a:endParaRPr lang="en-US" dirty="0"/>
              </a:p>
            </p:txBody>
          </p:sp>
        </p:grpSp>
        <p:grpSp>
          <p:nvGrpSpPr>
            <p:cNvPr id="11" name="组合 10">
              <a:extLst>
                <a:ext uri="{FF2B5EF4-FFF2-40B4-BE49-F238E27FC236}">
                  <a16:creationId xmlns:a16="http://schemas.microsoft.com/office/drawing/2014/main" id="{F876868F-0E93-39AC-9A97-0EE6D9874A26}"/>
                </a:ext>
              </a:extLst>
            </p:cNvPr>
            <p:cNvGrpSpPr/>
            <p:nvPr/>
          </p:nvGrpSpPr>
          <p:grpSpPr>
            <a:xfrm>
              <a:off x="2937528" y="1873958"/>
              <a:ext cx="2170394" cy="2084182"/>
              <a:chOff x="2484399" y="2017489"/>
              <a:chExt cx="1738504" cy="2084182"/>
            </a:xfrm>
          </p:grpSpPr>
          <p:sp>
            <p:nvSpPr>
              <p:cNvPr id="62" name="ComponentBackground2">
                <a:extLst>
                  <a:ext uri="{FF2B5EF4-FFF2-40B4-BE49-F238E27FC236}">
                    <a16:creationId xmlns:a16="http://schemas.microsoft.com/office/drawing/2014/main" id="{8BC06073-F54B-C2F7-6728-08A4A3BCF74B}"/>
                  </a:ext>
                </a:extLst>
              </p:cNvPr>
              <p:cNvSpPr>
                <a:spLocks/>
              </p:cNvSpPr>
              <p:nvPr/>
            </p:nvSpPr>
            <p:spPr>
              <a:xfrm>
                <a:off x="2484399" y="2017489"/>
                <a:ext cx="1738504" cy="2084182"/>
              </a:xfrm>
              <a:prstGeom prst="roundRect">
                <a:avLst>
                  <a:gd name="adj" fmla="val 1228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sym typeface="+mn-lt"/>
                </a:endParaRPr>
              </a:p>
            </p:txBody>
          </p:sp>
          <p:sp>
            <p:nvSpPr>
              <p:cNvPr id="63" name="Bullet2">
                <a:extLst>
                  <a:ext uri="{FF2B5EF4-FFF2-40B4-BE49-F238E27FC236}">
                    <a16:creationId xmlns:a16="http://schemas.microsoft.com/office/drawing/2014/main" id="{CE99263A-DAB6-0BFD-DDBE-5A8D77C56FD4}"/>
                  </a:ext>
                </a:extLst>
              </p:cNvPr>
              <p:cNvSpPr>
                <a:spLocks/>
              </p:cNvSpPr>
              <p:nvPr/>
            </p:nvSpPr>
            <p:spPr>
              <a:xfrm>
                <a:off x="2543492" y="2185385"/>
                <a:ext cx="1620318" cy="503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600" b="1" dirty="0">
                    <a:solidFill>
                      <a:schemeClr val="tx1"/>
                    </a:solidFill>
                    <a:cs typeface="+mn-ea"/>
                    <a:sym typeface="+mn-lt"/>
                  </a:rPr>
                  <a:t>创新服务模式</a:t>
                </a:r>
                <a:endParaRPr lang="en-US" dirty="0"/>
              </a:p>
            </p:txBody>
          </p:sp>
          <p:sp>
            <p:nvSpPr>
              <p:cNvPr id="64" name="Text2">
                <a:extLst>
                  <a:ext uri="{FF2B5EF4-FFF2-40B4-BE49-F238E27FC236}">
                    <a16:creationId xmlns:a16="http://schemas.microsoft.com/office/drawing/2014/main" id="{9DBD4384-ADAD-5AE1-5156-EE113F3E8816}"/>
                  </a:ext>
                </a:extLst>
              </p:cNvPr>
              <p:cNvSpPr>
                <a:spLocks/>
              </p:cNvSpPr>
              <p:nvPr/>
            </p:nvSpPr>
            <p:spPr>
              <a:xfrm>
                <a:off x="2543492" y="2689155"/>
                <a:ext cx="1620318" cy="134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推出定制化服务方案，通过数字化工具优化客户体验，提高服务效率并增强用户满意度。</a:t>
                </a:r>
                <a:endParaRPr lang="en-US" dirty="0"/>
              </a:p>
            </p:txBody>
          </p:sp>
        </p:grpSp>
        <p:grpSp>
          <p:nvGrpSpPr>
            <p:cNvPr id="12" name="组合 11">
              <a:extLst>
                <a:ext uri="{FF2B5EF4-FFF2-40B4-BE49-F238E27FC236}">
                  <a16:creationId xmlns:a16="http://schemas.microsoft.com/office/drawing/2014/main" id="{789AE1BD-48CB-4138-8ECC-E9E11C8DAB00}"/>
                </a:ext>
              </a:extLst>
            </p:cNvPr>
            <p:cNvGrpSpPr>
              <a:grpSpLocks/>
            </p:cNvGrpSpPr>
            <p:nvPr/>
          </p:nvGrpSpPr>
          <p:grpSpPr>
            <a:xfrm>
              <a:off x="5214656" y="1873958"/>
              <a:ext cx="2170394" cy="2084182"/>
              <a:chOff x="4308398" y="2017489"/>
              <a:chExt cx="1738504" cy="2084182"/>
            </a:xfrm>
          </p:grpSpPr>
          <p:sp>
            <p:nvSpPr>
              <p:cNvPr id="58" name="ComponentBackground3">
                <a:extLst>
                  <a:ext uri="{FF2B5EF4-FFF2-40B4-BE49-F238E27FC236}">
                    <a16:creationId xmlns:a16="http://schemas.microsoft.com/office/drawing/2014/main" id="{5F0BDF7D-AC66-833C-3B98-4E9E0154093D}"/>
                  </a:ext>
                </a:extLst>
              </p:cNvPr>
              <p:cNvSpPr>
                <a:spLocks/>
              </p:cNvSpPr>
              <p:nvPr/>
            </p:nvSpPr>
            <p:spPr>
              <a:xfrm>
                <a:off x="4308398" y="2017489"/>
                <a:ext cx="1738504" cy="2084182"/>
              </a:xfrm>
              <a:prstGeom prst="roundRect">
                <a:avLst>
                  <a:gd name="adj" fmla="val 1228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sym typeface="+mn-lt"/>
                </a:endParaRPr>
              </a:p>
            </p:txBody>
          </p:sp>
          <p:sp>
            <p:nvSpPr>
              <p:cNvPr id="59" name="Bullet3">
                <a:extLst>
                  <a:ext uri="{FF2B5EF4-FFF2-40B4-BE49-F238E27FC236}">
                    <a16:creationId xmlns:a16="http://schemas.microsoft.com/office/drawing/2014/main" id="{893DAFD2-B3CD-7234-AA2D-1DC0A749E2E1}"/>
                  </a:ext>
                </a:extLst>
              </p:cNvPr>
              <p:cNvSpPr>
                <a:spLocks/>
              </p:cNvSpPr>
              <p:nvPr/>
            </p:nvSpPr>
            <p:spPr>
              <a:xfrm>
                <a:off x="4367491" y="2185385"/>
                <a:ext cx="1620318" cy="503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600" b="1" dirty="0">
                    <a:solidFill>
                      <a:schemeClr val="tx1"/>
                    </a:solidFill>
                    <a:cs typeface="+mn-ea"/>
                    <a:sym typeface="+mn-lt"/>
                  </a:rPr>
                  <a:t>市场推广成效</a:t>
                </a:r>
                <a:endParaRPr lang="en-US" dirty="0"/>
              </a:p>
            </p:txBody>
          </p:sp>
          <p:sp>
            <p:nvSpPr>
              <p:cNvPr id="60" name="Text3">
                <a:extLst>
                  <a:ext uri="{FF2B5EF4-FFF2-40B4-BE49-F238E27FC236}">
                    <a16:creationId xmlns:a16="http://schemas.microsoft.com/office/drawing/2014/main" id="{95C59E98-B2ED-32D3-D641-D4F012778F8C}"/>
                  </a:ext>
                </a:extLst>
              </p:cNvPr>
              <p:cNvSpPr>
                <a:spLocks/>
              </p:cNvSpPr>
              <p:nvPr/>
            </p:nvSpPr>
            <p:spPr>
              <a:xfrm>
                <a:off x="4367491" y="2689155"/>
                <a:ext cx="1620318" cy="134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运用多渠道营销策略，成功提升新产品或服务的市场认知度，实现预期销售目标和品牌影响力。</a:t>
                </a:r>
                <a:endParaRPr lang="en-US" dirty="0"/>
              </a:p>
            </p:txBody>
          </p:sp>
        </p:grpSp>
        <p:grpSp>
          <p:nvGrpSpPr>
            <p:cNvPr id="13" name="Group 27_1">
              <a:extLst>
                <a:ext uri="{FF2B5EF4-FFF2-40B4-BE49-F238E27FC236}">
                  <a16:creationId xmlns:a16="http://schemas.microsoft.com/office/drawing/2014/main" id="{DCFEDA56-0021-1B96-F13C-47B6C8095830}"/>
                </a:ext>
              </a:extLst>
            </p:cNvPr>
            <p:cNvGrpSpPr/>
            <p:nvPr/>
          </p:nvGrpSpPr>
          <p:grpSpPr>
            <a:xfrm>
              <a:off x="660400" y="4049919"/>
              <a:ext cx="2170394" cy="2084182"/>
              <a:chOff x="660400" y="2017489"/>
              <a:chExt cx="1738504" cy="2084182"/>
            </a:xfrm>
          </p:grpSpPr>
          <p:sp>
            <p:nvSpPr>
              <p:cNvPr id="54" name="ComponentBackground4">
                <a:extLst>
                  <a:ext uri="{FF2B5EF4-FFF2-40B4-BE49-F238E27FC236}">
                    <a16:creationId xmlns:a16="http://schemas.microsoft.com/office/drawing/2014/main" id="{1DE0EE71-CBB7-46F4-36E6-CD3D13E4C7AA}"/>
                  </a:ext>
                </a:extLst>
              </p:cNvPr>
              <p:cNvSpPr>
                <a:spLocks/>
              </p:cNvSpPr>
              <p:nvPr/>
            </p:nvSpPr>
            <p:spPr>
              <a:xfrm>
                <a:off x="660400" y="2017489"/>
                <a:ext cx="1738504" cy="2084182"/>
              </a:xfrm>
              <a:prstGeom prst="roundRect">
                <a:avLst>
                  <a:gd name="adj" fmla="val 8331"/>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sym typeface="+mn-lt"/>
                </a:endParaRPr>
              </a:p>
            </p:txBody>
          </p:sp>
          <p:sp>
            <p:nvSpPr>
              <p:cNvPr id="55" name="Bullet4">
                <a:extLst>
                  <a:ext uri="{FF2B5EF4-FFF2-40B4-BE49-F238E27FC236}">
                    <a16:creationId xmlns:a16="http://schemas.microsoft.com/office/drawing/2014/main" id="{EB693CD0-D3EE-7F74-75D9-A875F8033271}"/>
                  </a:ext>
                </a:extLst>
              </p:cNvPr>
              <p:cNvSpPr>
                <a:spLocks/>
              </p:cNvSpPr>
              <p:nvPr/>
            </p:nvSpPr>
            <p:spPr>
              <a:xfrm>
                <a:off x="719493" y="2185385"/>
                <a:ext cx="1620318" cy="503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600" b="1" dirty="0">
                    <a:solidFill>
                      <a:schemeClr val="tx1"/>
                    </a:solidFill>
                    <a:cs typeface="+mn-ea"/>
                    <a:sym typeface="+mn-lt"/>
                  </a:rPr>
                  <a:t>技术应用突破</a:t>
                </a:r>
                <a:endParaRPr lang="en-US" dirty="0"/>
              </a:p>
            </p:txBody>
          </p:sp>
          <p:sp>
            <p:nvSpPr>
              <p:cNvPr id="56" name="Text4">
                <a:extLst>
                  <a:ext uri="{FF2B5EF4-FFF2-40B4-BE49-F238E27FC236}">
                    <a16:creationId xmlns:a16="http://schemas.microsoft.com/office/drawing/2014/main" id="{36184515-A2AE-1F76-781D-3E7B485F880E}"/>
                  </a:ext>
                </a:extLst>
              </p:cNvPr>
              <p:cNvSpPr>
                <a:spLocks/>
              </p:cNvSpPr>
              <p:nvPr/>
            </p:nvSpPr>
            <p:spPr>
              <a:xfrm>
                <a:off x="719493" y="2689155"/>
                <a:ext cx="1620318" cy="134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引入先进技术和平台支持，改进产品功能和服务质量，为业务增长提供坚实的技术保障。</a:t>
                </a:r>
                <a:endParaRPr lang="en-US" dirty="0"/>
              </a:p>
            </p:txBody>
          </p:sp>
        </p:grpSp>
        <p:grpSp>
          <p:nvGrpSpPr>
            <p:cNvPr id="30" name="Group 28_1">
              <a:extLst>
                <a:ext uri="{FF2B5EF4-FFF2-40B4-BE49-F238E27FC236}">
                  <a16:creationId xmlns:a16="http://schemas.microsoft.com/office/drawing/2014/main" id="{CC133BF2-F4B1-8D4E-09AD-4306EF6DD629}"/>
                </a:ext>
              </a:extLst>
            </p:cNvPr>
            <p:cNvGrpSpPr>
              <a:grpSpLocks/>
            </p:cNvGrpSpPr>
            <p:nvPr/>
          </p:nvGrpSpPr>
          <p:grpSpPr>
            <a:xfrm>
              <a:off x="2937528" y="4049919"/>
              <a:ext cx="4447522" cy="2084182"/>
              <a:chOff x="2484399" y="2017489"/>
              <a:chExt cx="1738504" cy="2084182"/>
            </a:xfrm>
          </p:grpSpPr>
          <p:sp>
            <p:nvSpPr>
              <p:cNvPr id="50" name="ComponentBackground5">
                <a:extLst>
                  <a:ext uri="{FF2B5EF4-FFF2-40B4-BE49-F238E27FC236}">
                    <a16:creationId xmlns:a16="http://schemas.microsoft.com/office/drawing/2014/main" id="{7DAE1544-C22C-6208-C637-1D9F64D1DE46}"/>
                  </a:ext>
                </a:extLst>
              </p:cNvPr>
              <p:cNvSpPr>
                <a:spLocks/>
              </p:cNvSpPr>
              <p:nvPr/>
            </p:nvSpPr>
            <p:spPr>
              <a:xfrm>
                <a:off x="2484399" y="2017489"/>
                <a:ext cx="1738504" cy="2084182"/>
              </a:xfrm>
              <a:prstGeom prst="roundRect">
                <a:avLst>
                  <a:gd name="adj" fmla="val 7892"/>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sym typeface="+mn-lt"/>
                </a:endParaRPr>
              </a:p>
            </p:txBody>
          </p:sp>
          <p:sp>
            <p:nvSpPr>
              <p:cNvPr id="51" name="Bullet5">
                <a:extLst>
                  <a:ext uri="{FF2B5EF4-FFF2-40B4-BE49-F238E27FC236}">
                    <a16:creationId xmlns:a16="http://schemas.microsoft.com/office/drawing/2014/main" id="{01910D86-FE3F-2CD1-1F50-9AF3C15561BB}"/>
                  </a:ext>
                </a:extLst>
              </p:cNvPr>
              <p:cNvSpPr>
                <a:spLocks/>
              </p:cNvSpPr>
              <p:nvPr/>
            </p:nvSpPr>
            <p:spPr>
              <a:xfrm>
                <a:off x="2543492" y="2185385"/>
                <a:ext cx="1620318" cy="503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600" b="1" dirty="0">
                    <a:solidFill>
                      <a:schemeClr val="tx1"/>
                    </a:solidFill>
                    <a:cs typeface="+mn-ea"/>
                    <a:sym typeface="+mn-lt"/>
                  </a:rPr>
                  <a:t>用户反馈优化</a:t>
                </a:r>
                <a:endParaRPr lang="en-US" dirty="0"/>
              </a:p>
            </p:txBody>
          </p:sp>
          <p:sp>
            <p:nvSpPr>
              <p:cNvPr id="52" name="Text5">
                <a:extLst>
                  <a:ext uri="{FF2B5EF4-FFF2-40B4-BE49-F238E27FC236}">
                    <a16:creationId xmlns:a16="http://schemas.microsoft.com/office/drawing/2014/main" id="{A854D0B9-8CFB-6637-E69F-F85ABB599E88}"/>
                  </a:ext>
                </a:extLst>
              </p:cNvPr>
              <p:cNvSpPr>
                <a:spLocks/>
              </p:cNvSpPr>
              <p:nvPr/>
            </p:nvSpPr>
            <p:spPr>
              <a:xfrm>
                <a:off x="2543492" y="2689155"/>
                <a:ext cx="1620318" cy="134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收集并分析用户意见，持续迭代产品与服务，形成良性循环以满足不断变化的客户需求。</a:t>
                </a:r>
                <a:endParaRPr lang="en-US" dirty="0"/>
              </a:p>
            </p:txBody>
          </p:sp>
        </p:grpSp>
        <p:sp>
          <p:nvSpPr>
            <p:cNvPr id="4" name="Title">
              <a:extLst>
                <a:ext uri="{FF2B5EF4-FFF2-40B4-BE49-F238E27FC236}">
                  <a16:creationId xmlns:a16="http://schemas.microsoft.com/office/drawing/2014/main" id="{08032DDE-658E-B215-C608-ACE79878CDB1}"/>
                </a:ext>
              </a:extLst>
            </p:cNvPr>
            <p:cNvSpPr txBox="1"/>
            <p:nvPr/>
          </p:nvSpPr>
          <p:spPr>
            <a:xfrm>
              <a:off x="660401" y="1130299"/>
              <a:ext cx="5085644" cy="629357"/>
            </a:xfrm>
            <a:prstGeom prst="rect">
              <a:avLst/>
            </a:prstGeom>
          </p:spPr>
          <p:txBody>
            <a:bodyPr wrap="square" anchor="ctr" anchorCtr="0">
              <a:normAutofit/>
            </a:bodyPr>
            <a:lstStyle>
              <a:defPPr>
                <a:defRPr lang="zh-CN"/>
              </a:defPPr>
              <a:lvl1pPr>
                <a:buSzPct val="25000"/>
                <a:defRPr sz="2400" b="1">
                  <a:cs typeface="+mn-ea"/>
                </a:defRPr>
              </a:lvl1pPr>
            </a:lstStyle>
            <a:p>
              <a:r>
                <a:rPr lang="zh-CN" altLang="en-US" dirty="0">
                  <a:sym typeface="+mn-lt"/>
                </a:rPr>
                <a:t>新产品或服务的研发与推广成果</a:t>
              </a:r>
              <a:endParaRPr lang="en-US" dirty="0"/>
            </a:p>
          </p:txBody>
        </p:sp>
      </p:grpSp>
      <p:sp>
        <p:nvSpPr>
          <p:cNvPr id="2" name="标题 1"/>
          <p:cNvSpPr>
            <a:spLocks noGrp="1"/>
          </p:cNvSpPr>
          <p:nvPr>
            <p:ph type="title" hasCustomPrompt="1"/>
          </p:nvPr>
        </p:nvSpPr>
        <p:spPr/>
        <p:txBody>
          <a:bodyPr/>
          <a:lstStyle/>
          <a:p>
            <a:r>
              <a:rPr lang="zh-CN" altLang="en-US" dirty="0"/>
              <a:t>产品与服务创新</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c5a60db3-d36e-441a-81eb-397c24432d8a.source.6.zh-Hans.pptx">
            <a:extLst>
              <a:ext uri="{FF2B5EF4-FFF2-40B4-BE49-F238E27FC236}">
                <a16:creationId xmlns:a16="http://schemas.microsoft.com/office/drawing/2014/main" id="{FF522FAE-C863-E3A2-D278-A54FDBF350D9}"/>
              </a:ext>
            </a:extLst>
          </p:cNvPr>
          <p:cNvGrpSpPr/>
          <p:nvPr/>
        </p:nvGrpSpPr>
        <p:grpSpPr>
          <a:xfrm>
            <a:off x="660400" y="1130300"/>
            <a:ext cx="10858501" cy="5003800"/>
            <a:chOff x="660400" y="1130300"/>
            <a:chExt cx="10858501" cy="5003800"/>
          </a:xfrm>
        </p:grpSpPr>
        <p:cxnSp>
          <p:nvCxnSpPr>
            <p:cNvPr id="91" name="直接连接符 90">
              <a:extLst>
                <a:ext uri="{FF2B5EF4-FFF2-40B4-BE49-F238E27FC236}">
                  <a16:creationId xmlns:a16="http://schemas.microsoft.com/office/drawing/2014/main" id="{F39E59DA-3739-DF41-5F88-9B92EFA6187F}"/>
                </a:ext>
              </a:extLst>
            </p:cNvPr>
            <p:cNvCxnSpPr>
              <a:cxnSpLocks/>
            </p:cNvCxnSpPr>
            <p:nvPr/>
          </p:nvCxnSpPr>
          <p:spPr>
            <a:xfrm flipH="1">
              <a:off x="4719638" y="3632200"/>
              <a:ext cx="2740025"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43CD4DB5-2BD8-1C51-73F1-21BBD016140A}"/>
                </a:ext>
              </a:extLst>
            </p:cNvPr>
            <p:cNvCxnSpPr>
              <a:cxnSpLocks/>
            </p:cNvCxnSpPr>
            <p:nvPr/>
          </p:nvCxnSpPr>
          <p:spPr>
            <a:xfrm rot="10800000" flipV="1">
              <a:off x="7778751" y="1938733"/>
              <a:ext cx="12700" cy="3414652"/>
            </a:xfrm>
            <a:prstGeom prst="bentConnector3">
              <a:avLst>
                <a:gd name="adj1" fmla="val 256800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705884C6-1683-0194-C32D-65BD9953DA29}"/>
                </a:ext>
              </a:extLst>
            </p:cNvPr>
            <p:cNvCxnSpPr>
              <a:cxnSpLocks/>
            </p:cNvCxnSpPr>
            <p:nvPr/>
          </p:nvCxnSpPr>
          <p:spPr>
            <a:xfrm flipH="1">
              <a:off x="7459663" y="3632200"/>
              <a:ext cx="338138"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8" name="Title">
              <a:extLst>
                <a:ext uri="{FF2B5EF4-FFF2-40B4-BE49-F238E27FC236}">
                  <a16:creationId xmlns:a16="http://schemas.microsoft.com/office/drawing/2014/main" id="{CF6E6CE9-5CA3-5010-AACE-A734F1AAB006}"/>
                </a:ext>
              </a:extLst>
            </p:cNvPr>
            <p:cNvSpPr>
              <a:spLocks/>
            </p:cNvSpPr>
            <p:nvPr/>
          </p:nvSpPr>
          <p:spPr>
            <a:xfrm>
              <a:off x="4854086" y="2390775"/>
              <a:ext cx="2483828" cy="2482850"/>
            </a:xfrm>
            <a:prstGeom prst="roundRect">
              <a:avLst>
                <a:gd name="adj" fmla="val 98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rmAutofit/>
            </a:bodyPr>
            <a:lstStyle/>
            <a:p>
              <a:r>
                <a:rPr lang="zh-CN" altLang="en-US" sz="2400" b="1" dirty="0">
                  <a:solidFill>
                    <a:srgbClr val="FFFFFF"/>
                  </a:solidFill>
                  <a:cs typeface="+mn-ea"/>
                </a:rPr>
                <a:t>提高客户满意度的具体措施</a:t>
              </a:r>
              <a:endParaRPr lang="en-US" dirty="0"/>
            </a:p>
          </p:txBody>
        </p:sp>
        <p:cxnSp>
          <p:nvCxnSpPr>
            <p:cNvPr id="3" name="连接符: 肘形 2">
              <a:extLst>
                <a:ext uri="{FF2B5EF4-FFF2-40B4-BE49-F238E27FC236}">
                  <a16:creationId xmlns:a16="http://schemas.microsoft.com/office/drawing/2014/main" id="{C0017563-B827-6A90-B1B6-87E3B188D6AF}"/>
                </a:ext>
              </a:extLst>
            </p:cNvPr>
            <p:cNvCxnSpPr>
              <a:cxnSpLocks/>
            </p:cNvCxnSpPr>
            <p:nvPr/>
          </p:nvCxnSpPr>
          <p:spPr>
            <a:xfrm rot="10800000" flipH="1" flipV="1">
              <a:off x="4387850" y="1938733"/>
              <a:ext cx="12700" cy="3414652"/>
            </a:xfrm>
            <a:prstGeom prst="bentConnector3">
              <a:avLst>
                <a:gd name="adj1" fmla="val 256800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3B2984A-F1DF-FDA1-D3CE-D5460522767C}"/>
                </a:ext>
              </a:extLst>
            </p:cNvPr>
            <p:cNvCxnSpPr>
              <a:cxnSpLocks/>
            </p:cNvCxnSpPr>
            <p:nvPr/>
          </p:nvCxnSpPr>
          <p:spPr>
            <a:xfrm>
              <a:off x="4381500" y="3632200"/>
              <a:ext cx="338138"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92" name="组合 91">
              <a:extLst>
                <a:ext uri="{FF2B5EF4-FFF2-40B4-BE49-F238E27FC236}">
                  <a16:creationId xmlns:a16="http://schemas.microsoft.com/office/drawing/2014/main" id="{07C42A07-B4BB-16E4-05FC-8F347D3593AD}"/>
                </a:ext>
              </a:extLst>
            </p:cNvPr>
            <p:cNvGrpSpPr/>
            <p:nvPr/>
          </p:nvGrpSpPr>
          <p:grpSpPr>
            <a:xfrm>
              <a:off x="728295" y="1197893"/>
              <a:ext cx="3585310" cy="1453962"/>
              <a:chOff x="728295" y="1197893"/>
              <a:chExt cx="3585310" cy="1453962"/>
            </a:xfrm>
          </p:grpSpPr>
          <p:sp>
            <p:nvSpPr>
              <p:cNvPr id="38" name="Text1">
                <a:extLst>
                  <a:ext uri="{FF2B5EF4-FFF2-40B4-BE49-F238E27FC236}">
                    <a16:creationId xmlns:a16="http://schemas.microsoft.com/office/drawing/2014/main" id="{0E1328DD-20B1-C56B-1BA8-6AB657B37782}"/>
                  </a:ext>
                </a:extLst>
              </p:cNvPr>
              <p:cNvSpPr txBox="1">
                <a:spLocks/>
              </p:cNvSpPr>
              <p:nvPr/>
            </p:nvSpPr>
            <p:spPr>
              <a:xfrm>
                <a:off x="728295" y="1777295"/>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通过多种渠道收集客户意见，深入了解客户需求和痛点，为制定改进措施提供数据支持。</a:t>
                </a:r>
                <a:endParaRPr lang="en-US" dirty="0"/>
              </a:p>
            </p:txBody>
          </p:sp>
          <p:sp>
            <p:nvSpPr>
              <p:cNvPr id="39" name="Bullet1">
                <a:extLst>
                  <a:ext uri="{FF2B5EF4-FFF2-40B4-BE49-F238E27FC236}">
                    <a16:creationId xmlns:a16="http://schemas.microsoft.com/office/drawing/2014/main" id="{38EAAA9B-3B3B-0249-3775-1C44AD395EBD}"/>
                  </a:ext>
                </a:extLst>
              </p:cNvPr>
              <p:cNvSpPr txBox="1">
                <a:spLocks/>
              </p:cNvSpPr>
              <p:nvPr/>
            </p:nvSpPr>
            <p:spPr>
              <a:xfrm>
                <a:off x="728295" y="1197893"/>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客户反馈收集</a:t>
                </a:r>
                <a:endParaRPr lang="en-US" dirty="0"/>
              </a:p>
            </p:txBody>
          </p:sp>
        </p:grpSp>
        <p:grpSp>
          <p:nvGrpSpPr>
            <p:cNvPr id="93" name="组合 92">
              <a:extLst>
                <a:ext uri="{FF2B5EF4-FFF2-40B4-BE49-F238E27FC236}">
                  <a16:creationId xmlns:a16="http://schemas.microsoft.com/office/drawing/2014/main" id="{5BDF618C-6386-CFDD-3221-2B4C19E20D8B}"/>
                </a:ext>
              </a:extLst>
            </p:cNvPr>
            <p:cNvGrpSpPr/>
            <p:nvPr/>
          </p:nvGrpSpPr>
          <p:grpSpPr>
            <a:xfrm>
              <a:off x="660400" y="2837626"/>
              <a:ext cx="3721100" cy="1589148"/>
              <a:chOff x="660400" y="2837626"/>
              <a:chExt cx="3721100" cy="1589148"/>
            </a:xfrm>
          </p:grpSpPr>
          <p:sp>
            <p:nvSpPr>
              <p:cNvPr id="34" name="ComponentBackground2">
                <a:extLst>
                  <a:ext uri="{FF2B5EF4-FFF2-40B4-BE49-F238E27FC236}">
                    <a16:creationId xmlns:a16="http://schemas.microsoft.com/office/drawing/2014/main" id="{F75312C0-4548-2575-E34C-4EB77803FA87}"/>
                  </a:ext>
                </a:extLst>
              </p:cNvPr>
              <p:cNvSpPr/>
              <p:nvPr/>
            </p:nvSpPr>
            <p:spPr>
              <a:xfrm>
                <a:off x="660400" y="2837626"/>
                <a:ext cx="3721100" cy="1589148"/>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p>
            </p:txBody>
          </p:sp>
          <p:sp>
            <p:nvSpPr>
              <p:cNvPr id="35" name="Text2">
                <a:extLst>
                  <a:ext uri="{FF2B5EF4-FFF2-40B4-BE49-F238E27FC236}">
                    <a16:creationId xmlns:a16="http://schemas.microsoft.com/office/drawing/2014/main" id="{2EFE10DB-7D7F-900D-6909-E35FDDC44D76}"/>
                  </a:ext>
                </a:extLst>
              </p:cNvPr>
              <p:cNvSpPr txBox="1">
                <a:spLocks/>
              </p:cNvSpPr>
              <p:nvPr/>
            </p:nvSpPr>
            <p:spPr>
              <a:xfrm>
                <a:off x="728295" y="3484621"/>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提升员工服务水平，完善服务流程，确保客户在每个环节都能获得更优质的服务体验。</a:t>
                </a:r>
                <a:endParaRPr lang="en-US" dirty="0"/>
              </a:p>
            </p:txBody>
          </p:sp>
          <p:sp>
            <p:nvSpPr>
              <p:cNvPr id="36" name="Bullet2">
                <a:extLst>
                  <a:ext uri="{FF2B5EF4-FFF2-40B4-BE49-F238E27FC236}">
                    <a16:creationId xmlns:a16="http://schemas.microsoft.com/office/drawing/2014/main" id="{654DB92C-06EB-8B97-8FA6-A9723D4E307F}"/>
                  </a:ext>
                </a:extLst>
              </p:cNvPr>
              <p:cNvSpPr txBox="1">
                <a:spLocks/>
              </p:cNvSpPr>
              <p:nvPr/>
            </p:nvSpPr>
            <p:spPr>
              <a:xfrm>
                <a:off x="728295" y="2905219"/>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服务质量优化</a:t>
                </a:r>
                <a:endParaRPr lang="en-US" dirty="0"/>
              </a:p>
            </p:txBody>
          </p:sp>
        </p:grpSp>
        <p:grpSp>
          <p:nvGrpSpPr>
            <p:cNvPr id="94" name="组合 93">
              <a:extLst>
                <a:ext uri="{FF2B5EF4-FFF2-40B4-BE49-F238E27FC236}">
                  <a16:creationId xmlns:a16="http://schemas.microsoft.com/office/drawing/2014/main" id="{445C3BF1-357F-A5D3-A1E9-6790B64B1CC1}"/>
                </a:ext>
              </a:extLst>
            </p:cNvPr>
            <p:cNvGrpSpPr/>
            <p:nvPr/>
          </p:nvGrpSpPr>
          <p:grpSpPr>
            <a:xfrm>
              <a:off x="728295" y="4612545"/>
              <a:ext cx="3585310" cy="1453962"/>
              <a:chOff x="728295" y="4612545"/>
              <a:chExt cx="3585310" cy="1453962"/>
            </a:xfrm>
          </p:grpSpPr>
          <p:sp>
            <p:nvSpPr>
              <p:cNvPr id="32" name="Text3">
                <a:extLst>
                  <a:ext uri="{FF2B5EF4-FFF2-40B4-BE49-F238E27FC236}">
                    <a16:creationId xmlns:a16="http://schemas.microsoft.com/office/drawing/2014/main" id="{4FCDE684-3FB7-C9EF-A26C-2E7E3789B28C}"/>
                  </a:ext>
                </a:extLst>
              </p:cNvPr>
              <p:cNvSpPr txBox="1">
                <a:spLocks/>
              </p:cNvSpPr>
              <p:nvPr/>
            </p:nvSpPr>
            <p:spPr>
              <a:xfrm>
                <a:off x="728295" y="5191947"/>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根据不同客户群体的需求，设计个性化的解决方案，增强客户对产品和服务的满意度。</a:t>
                </a:r>
                <a:endParaRPr lang="en-US" dirty="0"/>
              </a:p>
            </p:txBody>
          </p:sp>
          <p:sp>
            <p:nvSpPr>
              <p:cNvPr id="33" name="Bullet3">
                <a:extLst>
                  <a:ext uri="{FF2B5EF4-FFF2-40B4-BE49-F238E27FC236}">
                    <a16:creationId xmlns:a16="http://schemas.microsoft.com/office/drawing/2014/main" id="{89FC8613-8BD7-4AC1-A30A-20D1669FB24E}"/>
                  </a:ext>
                </a:extLst>
              </p:cNvPr>
              <p:cNvSpPr txBox="1">
                <a:spLocks/>
              </p:cNvSpPr>
              <p:nvPr/>
            </p:nvSpPr>
            <p:spPr>
              <a:xfrm>
                <a:off x="728295" y="4612545"/>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个性化服务方案</a:t>
                </a:r>
                <a:endParaRPr lang="en-US" dirty="0"/>
              </a:p>
            </p:txBody>
          </p:sp>
        </p:grpSp>
        <p:grpSp>
          <p:nvGrpSpPr>
            <p:cNvPr id="95" name="组合 94">
              <a:extLst>
                <a:ext uri="{FF2B5EF4-FFF2-40B4-BE49-F238E27FC236}">
                  <a16:creationId xmlns:a16="http://schemas.microsoft.com/office/drawing/2014/main" id="{8F16114F-9A64-BD2E-F532-0B9725765CD3}"/>
                </a:ext>
              </a:extLst>
            </p:cNvPr>
            <p:cNvGrpSpPr/>
            <p:nvPr/>
          </p:nvGrpSpPr>
          <p:grpSpPr>
            <a:xfrm>
              <a:off x="7797801" y="1130300"/>
              <a:ext cx="3721100" cy="1589148"/>
              <a:chOff x="7797801" y="1130300"/>
              <a:chExt cx="3721100" cy="1589148"/>
            </a:xfrm>
          </p:grpSpPr>
          <p:sp>
            <p:nvSpPr>
              <p:cNvPr id="81" name="ComponentBackground4">
                <a:extLst>
                  <a:ext uri="{FF2B5EF4-FFF2-40B4-BE49-F238E27FC236}">
                    <a16:creationId xmlns:a16="http://schemas.microsoft.com/office/drawing/2014/main" id="{4B1C7151-B3B6-DB3E-8B26-7AF8963DFEEE}"/>
                  </a:ext>
                </a:extLst>
              </p:cNvPr>
              <p:cNvSpPr/>
              <p:nvPr/>
            </p:nvSpPr>
            <p:spPr>
              <a:xfrm flipH="1">
                <a:off x="7797801" y="1130300"/>
                <a:ext cx="3721100" cy="1589148"/>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a:p>
            </p:txBody>
          </p:sp>
          <p:sp>
            <p:nvSpPr>
              <p:cNvPr id="82" name="Text4">
                <a:extLst>
                  <a:ext uri="{FF2B5EF4-FFF2-40B4-BE49-F238E27FC236}">
                    <a16:creationId xmlns:a16="http://schemas.microsoft.com/office/drawing/2014/main" id="{EA71F42B-6EB5-072E-030A-233CDE85979E}"/>
                  </a:ext>
                </a:extLst>
              </p:cNvPr>
              <p:cNvSpPr txBox="1">
                <a:spLocks/>
              </p:cNvSpPr>
              <p:nvPr/>
            </p:nvSpPr>
            <p:spPr>
              <a:xfrm flipH="1">
                <a:off x="7865696" y="1777295"/>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建立高效的投诉响应机制，快速解决客户问题，减少负面情绪对客户关系的影响。</a:t>
                </a:r>
                <a:endParaRPr lang="en-US" dirty="0"/>
              </a:p>
            </p:txBody>
          </p:sp>
          <p:sp>
            <p:nvSpPr>
              <p:cNvPr id="83" name="Bullet4">
                <a:extLst>
                  <a:ext uri="{FF2B5EF4-FFF2-40B4-BE49-F238E27FC236}">
                    <a16:creationId xmlns:a16="http://schemas.microsoft.com/office/drawing/2014/main" id="{BFE74395-962A-C2B6-EE27-925FC843479E}"/>
                  </a:ext>
                </a:extLst>
              </p:cNvPr>
              <p:cNvSpPr txBox="1">
                <a:spLocks/>
              </p:cNvSpPr>
              <p:nvPr/>
            </p:nvSpPr>
            <p:spPr>
              <a:xfrm flipH="1">
                <a:off x="7865696" y="1197893"/>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投诉处理机制</a:t>
                </a:r>
                <a:endParaRPr lang="en-US" dirty="0"/>
              </a:p>
            </p:txBody>
          </p:sp>
        </p:grpSp>
        <p:grpSp>
          <p:nvGrpSpPr>
            <p:cNvPr id="98" name="组合 97">
              <a:extLst>
                <a:ext uri="{FF2B5EF4-FFF2-40B4-BE49-F238E27FC236}">
                  <a16:creationId xmlns:a16="http://schemas.microsoft.com/office/drawing/2014/main" id="{50AA2F52-9B99-7730-9453-D14D63B903CF}"/>
                </a:ext>
              </a:extLst>
            </p:cNvPr>
            <p:cNvGrpSpPr/>
            <p:nvPr/>
          </p:nvGrpSpPr>
          <p:grpSpPr>
            <a:xfrm>
              <a:off x="7865696" y="2905219"/>
              <a:ext cx="3585310" cy="1453962"/>
              <a:chOff x="7865696" y="2905219"/>
              <a:chExt cx="3585310" cy="1453962"/>
            </a:xfrm>
          </p:grpSpPr>
          <p:sp>
            <p:nvSpPr>
              <p:cNvPr id="79" name="Text5">
                <a:extLst>
                  <a:ext uri="{FF2B5EF4-FFF2-40B4-BE49-F238E27FC236}">
                    <a16:creationId xmlns:a16="http://schemas.microsoft.com/office/drawing/2014/main" id="{B4B5DC7A-9937-8831-133F-427198E4A1CB}"/>
                  </a:ext>
                </a:extLst>
              </p:cNvPr>
              <p:cNvSpPr txBox="1">
                <a:spLocks/>
              </p:cNvSpPr>
              <p:nvPr/>
            </p:nvSpPr>
            <p:spPr>
              <a:xfrm flipH="1">
                <a:off x="7865696" y="3484621"/>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设定明确的满意度评估标准，定期分析数据变化，及时调整策略以持续改进效果。</a:t>
                </a:r>
                <a:endParaRPr lang="en-US" dirty="0"/>
              </a:p>
            </p:txBody>
          </p:sp>
          <p:sp>
            <p:nvSpPr>
              <p:cNvPr id="80" name="Bullet5">
                <a:extLst>
                  <a:ext uri="{FF2B5EF4-FFF2-40B4-BE49-F238E27FC236}">
                    <a16:creationId xmlns:a16="http://schemas.microsoft.com/office/drawing/2014/main" id="{68810561-51F6-BB1E-4D1C-DE555D7B97C8}"/>
                  </a:ext>
                </a:extLst>
              </p:cNvPr>
              <p:cNvSpPr txBox="1">
                <a:spLocks/>
              </p:cNvSpPr>
              <p:nvPr/>
            </p:nvSpPr>
            <p:spPr>
              <a:xfrm flipH="1">
                <a:off x="7865696" y="2905219"/>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满意度指标监测</a:t>
                </a:r>
                <a:endParaRPr lang="en-US" dirty="0"/>
              </a:p>
            </p:txBody>
          </p:sp>
        </p:grpSp>
        <p:grpSp>
          <p:nvGrpSpPr>
            <p:cNvPr id="99" name="组合 98">
              <a:extLst>
                <a:ext uri="{FF2B5EF4-FFF2-40B4-BE49-F238E27FC236}">
                  <a16:creationId xmlns:a16="http://schemas.microsoft.com/office/drawing/2014/main" id="{9E2B3AC4-94D4-D542-38C0-FB982AED5BF9}"/>
                </a:ext>
              </a:extLst>
            </p:cNvPr>
            <p:cNvGrpSpPr/>
            <p:nvPr/>
          </p:nvGrpSpPr>
          <p:grpSpPr>
            <a:xfrm>
              <a:off x="7797801" y="4544952"/>
              <a:ext cx="3721100" cy="1589148"/>
              <a:chOff x="7797801" y="4544952"/>
              <a:chExt cx="3721100" cy="1589148"/>
            </a:xfrm>
          </p:grpSpPr>
          <p:sp>
            <p:nvSpPr>
              <p:cNvPr id="75" name="ComponentBackground6">
                <a:extLst>
                  <a:ext uri="{FF2B5EF4-FFF2-40B4-BE49-F238E27FC236}">
                    <a16:creationId xmlns:a16="http://schemas.microsoft.com/office/drawing/2014/main" id="{FCAFA00A-E596-A9FA-6FCA-BE90F6125236}"/>
                  </a:ext>
                </a:extLst>
              </p:cNvPr>
              <p:cNvSpPr/>
              <p:nvPr/>
            </p:nvSpPr>
            <p:spPr>
              <a:xfrm flipH="1">
                <a:off x="7797801" y="4544952"/>
                <a:ext cx="3721100" cy="1589148"/>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a:p>
            </p:txBody>
          </p:sp>
          <p:sp>
            <p:nvSpPr>
              <p:cNvPr id="76" name="Text6">
                <a:extLst>
                  <a:ext uri="{FF2B5EF4-FFF2-40B4-BE49-F238E27FC236}">
                    <a16:creationId xmlns:a16="http://schemas.microsoft.com/office/drawing/2014/main" id="{5A3199B1-ECF3-549B-F063-D67E79E12B46}"/>
                  </a:ext>
                </a:extLst>
              </p:cNvPr>
              <p:cNvSpPr txBox="1">
                <a:spLocks/>
              </p:cNvSpPr>
              <p:nvPr/>
            </p:nvSpPr>
            <p:spPr>
              <a:xfrm flipH="1">
                <a:off x="7865696" y="5191947"/>
                <a:ext cx="3585310" cy="874560"/>
              </a:xfrm>
              <a:prstGeom prst="rect">
                <a:avLst/>
              </a:prstGeom>
              <a:noFill/>
            </p:spPr>
            <p:txBody>
              <a:bodyPr wrap="square" rtlCol="0" anchor="t" anchorCtr="0">
                <a:normAutofit/>
              </a:bodyPr>
              <a:lstStyle/>
              <a:p>
                <a:pPr>
                  <a:lnSpc>
                    <a:spcPct val="120000"/>
                  </a:lnSpc>
                </a:pPr>
                <a:r>
                  <a:rPr lang="zh-CN" altLang="en-US" sz="1200" dirty="0">
                    <a:cs typeface="+mn-ea"/>
                    <a:sym typeface="+mn-lt"/>
                  </a:rPr>
                  <a:t>对实施的各项措施进行效果评估，总结成功经验，为未来工作提供参考依据。</a:t>
                </a:r>
                <a:endParaRPr lang="en-US" dirty="0"/>
              </a:p>
            </p:txBody>
          </p:sp>
          <p:sp>
            <p:nvSpPr>
              <p:cNvPr id="77" name="Bullet6">
                <a:extLst>
                  <a:ext uri="{FF2B5EF4-FFF2-40B4-BE49-F238E27FC236}">
                    <a16:creationId xmlns:a16="http://schemas.microsoft.com/office/drawing/2014/main" id="{E729F318-D2D6-6E80-4DA8-E0165F1794E1}"/>
                  </a:ext>
                </a:extLst>
              </p:cNvPr>
              <p:cNvSpPr txBox="1">
                <a:spLocks/>
              </p:cNvSpPr>
              <p:nvPr/>
            </p:nvSpPr>
            <p:spPr>
              <a:xfrm flipH="1">
                <a:off x="7865696" y="4612545"/>
                <a:ext cx="3585310" cy="579401"/>
              </a:xfrm>
              <a:prstGeom prst="rect">
                <a:avLst/>
              </a:prstGeom>
              <a:noFill/>
            </p:spPr>
            <p:txBody>
              <a:bodyPr wrap="square" rtlCol="0" anchor="ctr" anchorCtr="0">
                <a:normAutofit/>
              </a:bodyPr>
              <a:lstStyle/>
              <a:p>
                <a:pPr>
                  <a:lnSpc>
                    <a:spcPct val="120000"/>
                  </a:lnSpc>
                </a:pPr>
                <a:r>
                  <a:rPr lang="zh-CN" altLang="en-US" b="1" dirty="0">
                    <a:cs typeface="+mn-ea"/>
                    <a:sym typeface="+mn-lt"/>
                  </a:rPr>
                  <a:t>成果数据分析</a:t>
                </a:r>
                <a:endParaRPr lang="en-US" dirty="0"/>
              </a:p>
            </p:txBody>
          </p:sp>
        </p:grpSp>
      </p:grpSp>
      <p:sp>
        <p:nvSpPr>
          <p:cNvPr id="2" name="标题 1"/>
          <p:cNvSpPr>
            <a:spLocks noGrp="1"/>
          </p:cNvSpPr>
          <p:nvPr>
            <p:ph type="title" hasCustomPrompt="1"/>
          </p:nvPr>
        </p:nvSpPr>
        <p:spPr/>
        <p:txBody>
          <a:bodyPr/>
          <a:lstStyle/>
          <a:p>
            <a:r>
              <a:rPr lang="zh-CN" altLang="en-US" dirty="0"/>
              <a:t>客户满意度提升</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34489ee6-f7ab-481f-a8b7-a8ab7c70500e.source.5.zh-Hans.pptx">
            <a:extLst>
              <a:ext uri="{FF2B5EF4-FFF2-40B4-BE49-F238E27FC236}">
                <a16:creationId xmlns:a16="http://schemas.microsoft.com/office/drawing/2014/main" id="{BCA84F5E-ACBC-C3A3-4D26-D6449BB13A30}"/>
              </a:ext>
            </a:extLst>
          </p:cNvPr>
          <p:cNvGrpSpPr/>
          <p:nvPr/>
        </p:nvGrpSpPr>
        <p:grpSpPr>
          <a:xfrm>
            <a:off x="2" y="1133308"/>
            <a:ext cx="12191998" cy="5000792"/>
            <a:chOff x="2" y="1133308"/>
            <a:chExt cx="12191998" cy="5000792"/>
          </a:xfrm>
        </p:grpSpPr>
        <p:sp>
          <p:nvSpPr>
            <p:cNvPr id="13" name="islide-7">
              <a:extLst>
                <a:ext uri="{FF2B5EF4-FFF2-40B4-BE49-F238E27FC236}">
                  <a16:creationId xmlns:a16="http://schemas.microsoft.com/office/drawing/2014/main" id="{779EC2D8-832B-9781-DFBC-992C49302752}"/>
                </a:ext>
              </a:extLst>
            </p:cNvPr>
            <p:cNvSpPr/>
            <p:nvPr/>
          </p:nvSpPr>
          <p:spPr>
            <a:xfrm>
              <a:off x="2" y="3492500"/>
              <a:ext cx="12191998" cy="1016000"/>
            </a:xfrm>
            <a:custGeom>
              <a:avLst/>
              <a:gdLst>
                <a:gd name="connsiteX0" fmla="*/ 12191999 w 12191999"/>
                <a:gd name="connsiteY0" fmla="*/ 0 h 2776171"/>
                <a:gd name="connsiteX1" fmla="*/ 12191999 w 12191999"/>
                <a:gd name="connsiteY1" fmla="*/ 991254 h 2776171"/>
                <a:gd name="connsiteX2" fmla="*/ 11882346 w 12191999"/>
                <a:gd name="connsiteY2" fmla="*/ 994644 h 2776171"/>
                <a:gd name="connsiteX3" fmla="*/ 43214 w 12191999"/>
                <a:gd name="connsiteY3" fmla="*/ 2760976 h 2776171"/>
                <a:gd name="connsiteX4" fmla="*/ 0 w 12191999"/>
                <a:gd name="connsiteY4" fmla="*/ 2776171 h 2776171"/>
                <a:gd name="connsiteX5" fmla="*/ 0 w 12191999"/>
                <a:gd name="connsiteY5" fmla="*/ 2351226 h 2776171"/>
                <a:gd name="connsiteX6" fmla="*/ 43214 w 12191999"/>
                <a:gd name="connsiteY6" fmla="*/ 2331228 h 2776171"/>
                <a:gd name="connsiteX7" fmla="*/ 11882346 w 12191999"/>
                <a:gd name="connsiteY7" fmla="*/ 6710 h 277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76171">
                  <a:moveTo>
                    <a:pt x="12191999" y="0"/>
                  </a:moveTo>
                  <a:lnTo>
                    <a:pt x="12191999" y="991254"/>
                  </a:lnTo>
                  <a:lnTo>
                    <a:pt x="11882346" y="994644"/>
                  </a:lnTo>
                  <a:cubicBezTo>
                    <a:pt x="7179460" y="1097990"/>
                    <a:pt x="2990831" y="1759781"/>
                    <a:pt x="43214" y="2760976"/>
                  </a:cubicBezTo>
                  <a:lnTo>
                    <a:pt x="0" y="2776171"/>
                  </a:lnTo>
                  <a:lnTo>
                    <a:pt x="0" y="2351226"/>
                  </a:lnTo>
                  <a:lnTo>
                    <a:pt x="43214" y="2331228"/>
                  </a:lnTo>
                  <a:cubicBezTo>
                    <a:pt x="2990831" y="1013641"/>
                    <a:pt x="7179460" y="142714"/>
                    <a:pt x="11882346" y="6710"/>
                  </a:cubicBezTo>
                  <a:close/>
                </a:path>
              </a:pathLst>
            </a:custGeom>
            <a:solidFill>
              <a:schemeClr val="tx1">
                <a:alpha val="15000"/>
              </a:schemeClr>
            </a:solidFill>
            <a:ln w="25400" cap="flat">
              <a:noFill/>
              <a:prstDash val="solid"/>
              <a:miter/>
            </a:ln>
            <a:effectLst/>
          </p:spPr>
          <p:txBody>
            <a:bodyPr rtlCol="0" anchor="ctr"/>
            <a:lstStyle/>
            <a:p>
              <a:pPr algn="ctr"/>
              <a:endParaRPr lang="zh-CN" altLang="en-US" sz="2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Title">
              <a:extLst>
                <a:ext uri="{FF2B5EF4-FFF2-40B4-BE49-F238E27FC236}">
                  <a16:creationId xmlns:a16="http://schemas.microsoft.com/office/drawing/2014/main" id="{A65EF1E4-146F-946A-BEFA-AE276A9668AB}"/>
                </a:ext>
              </a:extLst>
            </p:cNvPr>
            <p:cNvSpPr txBox="1">
              <a:spLocks/>
            </p:cNvSpPr>
            <p:nvPr/>
          </p:nvSpPr>
          <p:spPr>
            <a:xfrm>
              <a:off x="590429" y="1133308"/>
              <a:ext cx="6026271" cy="517692"/>
            </a:xfrm>
            <a:prstGeom prst="rect">
              <a:avLst/>
            </a:prstGeom>
            <a:noFill/>
            <a:ln>
              <a:noFill/>
            </a:ln>
            <a:effectLst/>
          </p:spPr>
          <p:txBody>
            <a:bodyPr wrap="square" lIns="91440" tIns="45720" rIns="91440" bIns="45720" anchor="t" anchorCtr="0">
              <a:normAutofit/>
            </a:bodyPr>
            <a:lstStyle/>
            <a:p>
              <a:pPr marL="0" marR="0" lvl="0" indent="0" defTabSz="913765" rtl="0" eaLnBrk="1" fontAlgn="auto" latinLnBrk="0" hangingPunct="1">
                <a:spcBef>
                  <a:spcPts val="0"/>
                </a:spcBef>
                <a:spcAft>
                  <a:spcPts val="0"/>
                </a:spcAft>
                <a:buClrTx/>
                <a:buSzPct val="25000"/>
                <a:buFontTx/>
                <a:buNone/>
                <a:defRPr/>
              </a:pPr>
              <a:r>
                <a:rPr lang="zh-CN" altLang="en-US" sz="2400" b="1" dirty="0">
                  <a:latin typeface="Arial" panose="020B0604020202020204" pitchFamily="34" charset="0"/>
                  <a:ea typeface="微软雅黑" panose="020B0503020204020204" pitchFamily="34" charset="-122"/>
                  <a:cs typeface="+mn-ea"/>
                  <a:sym typeface="Arial" panose="020B0604020202020204" pitchFamily="34" charset="0"/>
                </a:rPr>
                <a:t>在成本管理与运营效率方面的改进</a:t>
              </a:r>
              <a:endParaRPr lang="en-US" dirty="0"/>
            </a:p>
          </p:txBody>
        </p:sp>
        <p:grpSp>
          <p:nvGrpSpPr>
            <p:cNvPr id="18" name="组合 17">
              <a:extLst>
                <a:ext uri="{FF2B5EF4-FFF2-40B4-BE49-F238E27FC236}">
                  <a16:creationId xmlns:a16="http://schemas.microsoft.com/office/drawing/2014/main" id="{BFFF1C3E-48B7-0B46-6BBF-ABB6F722A041}"/>
                </a:ext>
              </a:extLst>
            </p:cNvPr>
            <p:cNvGrpSpPr/>
            <p:nvPr/>
          </p:nvGrpSpPr>
          <p:grpSpPr>
            <a:xfrm>
              <a:off x="660400" y="1978025"/>
              <a:ext cx="3058100" cy="2262966"/>
              <a:chOff x="295342" y="2224405"/>
              <a:chExt cx="3058100" cy="2262966"/>
            </a:xfrm>
          </p:grpSpPr>
          <p:sp>
            <p:nvSpPr>
              <p:cNvPr id="19" name="ComponentBackground1">
                <a:extLst>
                  <a:ext uri="{FF2B5EF4-FFF2-40B4-BE49-F238E27FC236}">
                    <a16:creationId xmlns:a16="http://schemas.microsoft.com/office/drawing/2014/main" id="{0659359E-28F3-4E31-4B51-E5E941D6C8F1}"/>
                  </a:ext>
                </a:extLst>
              </p:cNvPr>
              <p:cNvSpPr/>
              <p:nvPr/>
            </p:nvSpPr>
            <p:spPr>
              <a:xfrm>
                <a:off x="295342" y="2496507"/>
                <a:ext cx="3058100" cy="1383011"/>
              </a:xfrm>
              <a:prstGeom prst="roundRect">
                <a:avLst>
                  <a:gd name="adj" fmla="val 427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ym typeface="Arial" panose="020B0604020202020204" pitchFamily="34" charset="0"/>
                </a:endParaRPr>
              </a:p>
            </p:txBody>
          </p:sp>
          <p:sp>
            <p:nvSpPr>
              <p:cNvPr id="24" name="Text1">
                <a:extLst>
                  <a:ext uri="{FF2B5EF4-FFF2-40B4-BE49-F238E27FC236}">
                    <a16:creationId xmlns:a16="http://schemas.microsoft.com/office/drawing/2014/main" id="{66743EC8-0FDE-24DC-EA6E-2879C33219D3}"/>
                  </a:ext>
                </a:extLst>
              </p:cNvPr>
              <p:cNvSpPr txBox="1"/>
              <p:nvPr/>
            </p:nvSpPr>
            <p:spPr>
              <a:xfrm>
                <a:off x="368941" y="2792730"/>
                <a:ext cx="2910902"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通过精细化预算和成本分析，企业实施更有效的成本控制措施，减少不必要的开支，提升资源利用效率。</a:t>
                </a:r>
                <a:endParaRPr lang="en-US" dirty="0"/>
              </a:p>
            </p:txBody>
          </p:sp>
          <p:sp>
            <p:nvSpPr>
              <p:cNvPr id="29" name="Bullet1">
                <a:extLst>
                  <a:ext uri="{FF2B5EF4-FFF2-40B4-BE49-F238E27FC236}">
                    <a16:creationId xmlns:a16="http://schemas.microsoft.com/office/drawing/2014/main" id="{DCA4AEFB-A6B3-DAF5-3C0C-B718BAEBF598}"/>
                  </a:ext>
                </a:extLst>
              </p:cNvPr>
              <p:cNvSpPr>
                <a:spLocks noChangeArrowheads="1"/>
              </p:cNvSpPr>
              <p:nvPr/>
            </p:nvSpPr>
            <p:spPr bwMode="auto">
              <a:xfrm>
                <a:off x="470543" y="2224405"/>
                <a:ext cx="2707700" cy="537682"/>
              </a:xfrm>
              <a:prstGeom prst="roundRect">
                <a:avLst>
                  <a:gd name="adj" fmla="val 9849"/>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3765"/>
                <a:r>
                  <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成本管理策略优化</a:t>
                </a:r>
                <a:endParaRPr lang="en-US" dirty="0"/>
              </a:p>
            </p:txBody>
          </p:sp>
          <p:sp>
            <p:nvSpPr>
              <p:cNvPr id="34" name="Line1">
                <a:extLst>
                  <a:ext uri="{FF2B5EF4-FFF2-40B4-BE49-F238E27FC236}">
                    <a16:creationId xmlns:a16="http://schemas.microsoft.com/office/drawing/2014/main" id="{8E2CCF47-9C53-1105-61B4-7532E22FD113}"/>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5" name="组合 54">
              <a:extLst>
                <a:ext uri="{FF2B5EF4-FFF2-40B4-BE49-F238E27FC236}">
                  <a16:creationId xmlns:a16="http://schemas.microsoft.com/office/drawing/2014/main" id="{7103FCFA-D8B8-9F1C-6BFD-9FA2B55139FD}"/>
                </a:ext>
              </a:extLst>
            </p:cNvPr>
            <p:cNvGrpSpPr/>
            <p:nvPr/>
          </p:nvGrpSpPr>
          <p:grpSpPr>
            <a:xfrm>
              <a:off x="2684099" y="3871134"/>
              <a:ext cx="2910902" cy="2262966"/>
              <a:chOff x="2486599" y="3871134"/>
              <a:chExt cx="2910902" cy="2262966"/>
            </a:xfrm>
          </p:grpSpPr>
          <p:grpSp>
            <p:nvGrpSpPr>
              <p:cNvPr id="54" name="组合 53">
                <a:extLst>
                  <a:ext uri="{FF2B5EF4-FFF2-40B4-BE49-F238E27FC236}">
                    <a16:creationId xmlns:a16="http://schemas.microsoft.com/office/drawing/2014/main" id="{C7658C7E-6406-1D9E-0E3B-C2F06E545934}"/>
                  </a:ext>
                </a:extLst>
              </p:cNvPr>
              <p:cNvGrpSpPr/>
              <p:nvPr/>
            </p:nvGrpSpPr>
            <p:grpSpPr>
              <a:xfrm>
                <a:off x="2486599" y="4543426"/>
                <a:ext cx="2910902" cy="1590674"/>
                <a:chOff x="2486599" y="4543426"/>
                <a:chExt cx="2910902" cy="1590674"/>
              </a:xfrm>
            </p:grpSpPr>
            <p:sp>
              <p:nvSpPr>
                <p:cNvPr id="51" name="Text2">
                  <a:extLst>
                    <a:ext uri="{FF2B5EF4-FFF2-40B4-BE49-F238E27FC236}">
                      <a16:creationId xmlns:a16="http://schemas.microsoft.com/office/drawing/2014/main" id="{6B779BCD-A841-02BE-5A3D-44B0FDB67750}"/>
                    </a:ext>
                  </a:extLst>
                </p:cNvPr>
                <p:cNvSpPr txBox="1"/>
                <p:nvPr/>
              </p:nvSpPr>
              <p:spPr>
                <a:xfrm>
                  <a:off x="2486599" y="4543426"/>
                  <a:ext cx="2910902"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引入先进的技术工具，优化业务流程并实现自动化操作，从而显著提高整体运营效率和工作质量。</a:t>
                  </a:r>
                  <a:endParaRPr lang="en-US" dirty="0"/>
                </a:p>
              </p:txBody>
            </p:sp>
            <p:sp>
              <p:nvSpPr>
                <p:cNvPr id="52" name="Bullet2">
                  <a:extLst>
                    <a:ext uri="{FF2B5EF4-FFF2-40B4-BE49-F238E27FC236}">
                      <a16:creationId xmlns:a16="http://schemas.microsoft.com/office/drawing/2014/main" id="{42387B25-0C84-CED2-A971-DDAED874E8C5}"/>
                    </a:ext>
                  </a:extLst>
                </p:cNvPr>
                <p:cNvSpPr>
                  <a:spLocks noChangeArrowheads="1"/>
                </p:cNvSpPr>
                <p:nvPr/>
              </p:nvSpPr>
              <p:spPr bwMode="auto">
                <a:xfrm>
                  <a:off x="2588201" y="5596418"/>
                  <a:ext cx="2707700" cy="537682"/>
                </a:xfrm>
                <a:prstGeom prst="roundRect">
                  <a:avLst>
                    <a:gd name="adj" fmla="val 9849"/>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3765"/>
                  <a:r>
                    <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流程改进与自动化</a:t>
                  </a:r>
                  <a:endParaRPr lang="en-US" dirty="0"/>
                </a:p>
              </p:txBody>
            </p:sp>
          </p:grpSp>
          <p:sp>
            <p:nvSpPr>
              <p:cNvPr id="53" name="Line1">
                <a:extLst>
                  <a:ext uri="{FF2B5EF4-FFF2-40B4-BE49-F238E27FC236}">
                    <a16:creationId xmlns:a16="http://schemas.microsoft.com/office/drawing/2014/main" id="{F4CE3314-292D-EB63-1E6F-F136C34B2C4B}"/>
                  </a:ext>
                </a:extLst>
              </p:cNvPr>
              <p:cNvSpPr>
                <a:spLocks noChangeShapeType="1"/>
              </p:cNvSpPr>
              <p:nvPr/>
            </p:nvSpPr>
            <p:spPr bwMode="auto">
              <a:xfrm>
                <a:off x="3942050" y="3871134"/>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8" name="组合 77">
              <a:extLst>
                <a:ext uri="{FF2B5EF4-FFF2-40B4-BE49-F238E27FC236}">
                  <a16:creationId xmlns:a16="http://schemas.microsoft.com/office/drawing/2014/main" id="{1971E25D-C0BE-2D90-5D8F-BEAB7273A64F}"/>
                </a:ext>
              </a:extLst>
            </p:cNvPr>
            <p:cNvGrpSpPr/>
            <p:nvPr/>
          </p:nvGrpSpPr>
          <p:grpSpPr>
            <a:xfrm>
              <a:off x="4634199" y="1660525"/>
              <a:ext cx="2910902" cy="2262966"/>
              <a:chOff x="368941" y="2224405"/>
              <a:chExt cx="2910902" cy="2262966"/>
            </a:xfrm>
          </p:grpSpPr>
          <p:sp>
            <p:nvSpPr>
              <p:cNvPr id="80" name="Text3">
                <a:extLst>
                  <a:ext uri="{FF2B5EF4-FFF2-40B4-BE49-F238E27FC236}">
                    <a16:creationId xmlns:a16="http://schemas.microsoft.com/office/drawing/2014/main" id="{65928A92-2E6A-37CA-8B95-82F5E7B53C67}"/>
                  </a:ext>
                </a:extLst>
              </p:cNvPr>
              <p:cNvSpPr txBox="1"/>
              <p:nvPr/>
            </p:nvSpPr>
            <p:spPr>
              <a:xfrm>
                <a:off x="368941" y="2792730"/>
                <a:ext cx="2910902"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借助数据分析技术，管理层能够更准确地评估成本和效率问题，并制定针对性的改进计划以达成目标。</a:t>
                </a:r>
                <a:endParaRPr lang="en-US" dirty="0"/>
              </a:p>
            </p:txBody>
          </p:sp>
          <p:sp>
            <p:nvSpPr>
              <p:cNvPr id="81" name="Bullet3">
                <a:extLst>
                  <a:ext uri="{FF2B5EF4-FFF2-40B4-BE49-F238E27FC236}">
                    <a16:creationId xmlns:a16="http://schemas.microsoft.com/office/drawing/2014/main" id="{48FE0667-93FA-54FB-E5F1-421E5227CDE9}"/>
                  </a:ext>
                </a:extLst>
              </p:cNvPr>
              <p:cNvSpPr>
                <a:spLocks noChangeArrowheads="1"/>
              </p:cNvSpPr>
              <p:nvPr/>
            </p:nvSpPr>
            <p:spPr bwMode="auto">
              <a:xfrm>
                <a:off x="470543" y="2224405"/>
                <a:ext cx="2707700" cy="537682"/>
              </a:xfrm>
              <a:prstGeom prst="roundRect">
                <a:avLst>
                  <a:gd name="adj" fmla="val 9849"/>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3765"/>
                <a:r>
                  <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数据驱动决策支持</a:t>
                </a:r>
                <a:endParaRPr lang="en-US" dirty="0"/>
              </a:p>
            </p:txBody>
          </p:sp>
          <p:sp>
            <p:nvSpPr>
              <p:cNvPr id="82" name="Line1">
                <a:extLst>
                  <a:ext uri="{FF2B5EF4-FFF2-40B4-BE49-F238E27FC236}">
                    <a16:creationId xmlns:a16="http://schemas.microsoft.com/office/drawing/2014/main" id="{25392B9F-B782-FC48-E706-81E3B4C107E6}"/>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3" name="组合 82">
              <a:extLst>
                <a:ext uri="{FF2B5EF4-FFF2-40B4-BE49-F238E27FC236}">
                  <a16:creationId xmlns:a16="http://schemas.microsoft.com/office/drawing/2014/main" id="{ED1BAE56-35F0-9D0F-5B88-A17716B42817}"/>
                </a:ext>
              </a:extLst>
            </p:cNvPr>
            <p:cNvGrpSpPr/>
            <p:nvPr/>
          </p:nvGrpSpPr>
          <p:grpSpPr>
            <a:xfrm>
              <a:off x="6510700" y="3782234"/>
              <a:ext cx="3058100" cy="2262966"/>
              <a:chOff x="2413000" y="3871134"/>
              <a:chExt cx="3058100" cy="2262966"/>
            </a:xfrm>
          </p:grpSpPr>
          <p:grpSp>
            <p:nvGrpSpPr>
              <p:cNvPr id="84" name="组合 83">
                <a:extLst>
                  <a:ext uri="{FF2B5EF4-FFF2-40B4-BE49-F238E27FC236}">
                    <a16:creationId xmlns:a16="http://schemas.microsoft.com/office/drawing/2014/main" id="{BBAA643E-ADDE-E980-2643-F72792B3D6D6}"/>
                  </a:ext>
                </a:extLst>
              </p:cNvPr>
              <p:cNvGrpSpPr/>
              <p:nvPr/>
            </p:nvGrpSpPr>
            <p:grpSpPr>
              <a:xfrm>
                <a:off x="2413000" y="4478987"/>
                <a:ext cx="3058100" cy="1655113"/>
                <a:chOff x="2413000" y="4478987"/>
                <a:chExt cx="3058100" cy="1655113"/>
              </a:xfrm>
            </p:grpSpPr>
            <p:sp>
              <p:nvSpPr>
                <p:cNvPr id="86" name="ComponentBackground4">
                  <a:extLst>
                    <a:ext uri="{FF2B5EF4-FFF2-40B4-BE49-F238E27FC236}">
                      <a16:creationId xmlns:a16="http://schemas.microsoft.com/office/drawing/2014/main" id="{A7003AD9-F896-3A91-D88A-BAD3FE727699}"/>
                    </a:ext>
                  </a:extLst>
                </p:cNvPr>
                <p:cNvSpPr/>
                <p:nvPr/>
              </p:nvSpPr>
              <p:spPr>
                <a:xfrm>
                  <a:off x="2413000" y="4478987"/>
                  <a:ext cx="3058100" cy="1383011"/>
                </a:xfrm>
                <a:prstGeom prst="roundRect">
                  <a:avLst>
                    <a:gd name="adj" fmla="val 427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ym typeface="Arial" panose="020B0604020202020204" pitchFamily="34" charset="0"/>
                  </a:endParaRPr>
                </a:p>
              </p:txBody>
            </p:sp>
            <p:sp>
              <p:nvSpPr>
                <p:cNvPr id="87" name="Text4">
                  <a:extLst>
                    <a:ext uri="{FF2B5EF4-FFF2-40B4-BE49-F238E27FC236}">
                      <a16:creationId xmlns:a16="http://schemas.microsoft.com/office/drawing/2014/main" id="{0FD8FA6B-3658-BE98-F073-4D2FE5F78960}"/>
                    </a:ext>
                  </a:extLst>
                </p:cNvPr>
                <p:cNvSpPr txBox="1"/>
                <p:nvPr/>
              </p:nvSpPr>
              <p:spPr>
                <a:xfrm>
                  <a:off x="2486599" y="4543426"/>
                  <a:ext cx="2910902"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加强部门间沟通与合作，同时开展员工技能培训，确保团队能力与企业效率提升需求相匹配。</a:t>
                  </a:r>
                  <a:endParaRPr lang="en-US" dirty="0"/>
                </a:p>
              </p:txBody>
            </p:sp>
            <p:sp>
              <p:nvSpPr>
                <p:cNvPr id="88" name="Bullet4">
                  <a:extLst>
                    <a:ext uri="{FF2B5EF4-FFF2-40B4-BE49-F238E27FC236}">
                      <a16:creationId xmlns:a16="http://schemas.microsoft.com/office/drawing/2014/main" id="{79EF889A-593C-0E9F-65EA-9D1DE462543A}"/>
                    </a:ext>
                  </a:extLst>
                </p:cNvPr>
                <p:cNvSpPr>
                  <a:spLocks noChangeArrowheads="1"/>
                </p:cNvSpPr>
                <p:nvPr/>
              </p:nvSpPr>
              <p:spPr bwMode="auto">
                <a:xfrm>
                  <a:off x="2588201" y="5596418"/>
                  <a:ext cx="2707700" cy="537682"/>
                </a:xfrm>
                <a:prstGeom prst="roundRect">
                  <a:avLst>
                    <a:gd name="adj" fmla="val 9849"/>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3765"/>
                  <a:r>
                    <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团队协作与培训</a:t>
                  </a:r>
                  <a:endParaRPr lang="en-US" dirty="0"/>
                </a:p>
              </p:txBody>
            </p:sp>
          </p:grpSp>
          <p:sp>
            <p:nvSpPr>
              <p:cNvPr id="85" name="Line1">
                <a:extLst>
                  <a:ext uri="{FF2B5EF4-FFF2-40B4-BE49-F238E27FC236}">
                    <a16:creationId xmlns:a16="http://schemas.microsoft.com/office/drawing/2014/main" id="{E5DE83DF-1D6A-91C0-7790-B51EC9D763CE}"/>
                  </a:ext>
                </a:extLst>
              </p:cNvPr>
              <p:cNvSpPr>
                <a:spLocks noChangeShapeType="1"/>
              </p:cNvSpPr>
              <p:nvPr/>
            </p:nvSpPr>
            <p:spPr bwMode="auto">
              <a:xfrm>
                <a:off x="3942050" y="3871134"/>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9" name="组合 88">
              <a:extLst>
                <a:ext uri="{FF2B5EF4-FFF2-40B4-BE49-F238E27FC236}">
                  <a16:creationId xmlns:a16="http://schemas.microsoft.com/office/drawing/2014/main" id="{5D0F9FBF-8D0C-DD85-F1A8-C5D27990319D}"/>
                </a:ext>
              </a:extLst>
            </p:cNvPr>
            <p:cNvGrpSpPr/>
            <p:nvPr/>
          </p:nvGrpSpPr>
          <p:grpSpPr>
            <a:xfrm>
              <a:off x="8460800" y="1508125"/>
              <a:ext cx="3058100" cy="2262966"/>
              <a:chOff x="295342" y="2224405"/>
              <a:chExt cx="3058100" cy="2262966"/>
            </a:xfrm>
          </p:grpSpPr>
          <p:sp>
            <p:nvSpPr>
              <p:cNvPr id="90" name="ComponentBackground5">
                <a:extLst>
                  <a:ext uri="{FF2B5EF4-FFF2-40B4-BE49-F238E27FC236}">
                    <a16:creationId xmlns:a16="http://schemas.microsoft.com/office/drawing/2014/main" id="{61CD617B-F343-7302-39E5-6312527B94AA}"/>
                  </a:ext>
                </a:extLst>
              </p:cNvPr>
              <p:cNvSpPr/>
              <p:nvPr/>
            </p:nvSpPr>
            <p:spPr>
              <a:xfrm>
                <a:off x="295342" y="2496507"/>
                <a:ext cx="3058100" cy="1383011"/>
              </a:xfrm>
              <a:prstGeom prst="roundRect">
                <a:avLst>
                  <a:gd name="adj" fmla="val 427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ym typeface="Arial" panose="020B0604020202020204" pitchFamily="34" charset="0"/>
                </a:endParaRPr>
              </a:p>
            </p:txBody>
          </p:sp>
          <p:sp>
            <p:nvSpPr>
              <p:cNvPr id="91" name="Text5">
                <a:extLst>
                  <a:ext uri="{FF2B5EF4-FFF2-40B4-BE49-F238E27FC236}">
                    <a16:creationId xmlns:a16="http://schemas.microsoft.com/office/drawing/2014/main" id="{6F7B81DB-B6AB-2EA7-8E98-42B435580B85}"/>
                  </a:ext>
                </a:extLst>
              </p:cNvPr>
              <p:cNvSpPr txBox="1"/>
              <p:nvPr/>
            </p:nvSpPr>
            <p:spPr>
              <a:xfrm>
                <a:off x="368941" y="2792730"/>
                <a:ext cx="2910902"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构建科学的绩效考核机制，激励员工关注成本节约和效率提升，推动组织目标的持续达成。</a:t>
                </a:r>
                <a:endParaRPr lang="en-US" dirty="0"/>
              </a:p>
            </p:txBody>
          </p:sp>
          <p:sp>
            <p:nvSpPr>
              <p:cNvPr id="92" name="Bullet5">
                <a:extLst>
                  <a:ext uri="{FF2B5EF4-FFF2-40B4-BE49-F238E27FC236}">
                    <a16:creationId xmlns:a16="http://schemas.microsoft.com/office/drawing/2014/main" id="{82679D46-CFBF-3EDE-8EC5-ED73837CE5B5}"/>
                  </a:ext>
                </a:extLst>
              </p:cNvPr>
              <p:cNvSpPr>
                <a:spLocks noChangeArrowheads="1"/>
              </p:cNvSpPr>
              <p:nvPr/>
            </p:nvSpPr>
            <p:spPr bwMode="auto">
              <a:xfrm>
                <a:off x="470543" y="2224405"/>
                <a:ext cx="2707700" cy="537682"/>
              </a:xfrm>
              <a:prstGeom prst="roundRect">
                <a:avLst>
                  <a:gd name="adj" fmla="val 9849"/>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3765"/>
                <a:r>
                  <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绩效评估体系完善</a:t>
                </a:r>
                <a:endParaRPr lang="en-US" dirty="0"/>
              </a:p>
            </p:txBody>
          </p:sp>
          <p:sp>
            <p:nvSpPr>
              <p:cNvPr id="93" name="Line1">
                <a:extLst>
                  <a:ext uri="{FF2B5EF4-FFF2-40B4-BE49-F238E27FC236}">
                    <a16:creationId xmlns:a16="http://schemas.microsoft.com/office/drawing/2014/main" id="{D45EE721-91F2-757A-41C5-EAC22B62D620}"/>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 name="标题 1"/>
          <p:cNvSpPr>
            <a:spLocks noGrp="1"/>
          </p:cNvSpPr>
          <p:nvPr>
            <p:ph type="title" hasCustomPrompt="1"/>
          </p:nvPr>
        </p:nvSpPr>
        <p:spPr/>
        <p:txBody>
          <a:bodyPr/>
          <a:lstStyle/>
          <a:p>
            <a:r>
              <a:rPr lang="zh-CN" altLang="en-US" dirty="0"/>
              <a:t>成本控制与效率提升</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 name="923dff61-7945-41a0-833f-0677fe310009.source.8.zh-Hans.pptx">
            <a:extLst>
              <a:ext uri="{FF2B5EF4-FFF2-40B4-BE49-F238E27FC236}">
                <a16:creationId xmlns:a16="http://schemas.microsoft.com/office/drawing/2014/main" id="{773A7C08-A88A-D5DC-C47C-3E7EDA020C5D}"/>
              </a:ext>
            </a:extLst>
          </p:cNvPr>
          <p:cNvGrpSpPr/>
          <p:nvPr/>
        </p:nvGrpSpPr>
        <p:grpSpPr>
          <a:xfrm>
            <a:off x="660398" y="1130300"/>
            <a:ext cx="10893427" cy="5003801"/>
            <a:chOff x="660398" y="1130300"/>
            <a:chExt cx="10893427" cy="5003801"/>
          </a:xfrm>
        </p:grpSpPr>
        <p:sp>
          <p:nvSpPr>
            <p:cNvPr id="243" name="Rounded Rectangle 1_1_1_1">
              <a:extLst>
                <a:ext uri="{FF2B5EF4-FFF2-40B4-BE49-F238E27FC236}">
                  <a16:creationId xmlns:a16="http://schemas.microsoft.com/office/drawing/2014/main" id="{F8540A69-834D-8DDB-9557-F24CB2CD68C0}"/>
                </a:ext>
              </a:extLst>
            </p:cNvPr>
            <p:cNvSpPr>
              <a:spLocks/>
            </p:cNvSpPr>
            <p:nvPr/>
          </p:nvSpPr>
          <p:spPr>
            <a:xfrm>
              <a:off x="4653125" y="1876743"/>
              <a:ext cx="2885749" cy="2885750"/>
            </a:xfrm>
            <a:prstGeom prst="roundRect">
              <a:avLst>
                <a:gd name="adj" fmla="val 10392"/>
              </a:avLst>
            </a:prstGeom>
            <a:solidFill>
              <a:schemeClr val="accent1">
                <a:alpha val="10000"/>
              </a:schemeClr>
            </a:solidFill>
            <a:ln w="12700">
              <a:no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a:p>
          </p:txBody>
        </p:sp>
        <p:sp>
          <p:nvSpPr>
            <p:cNvPr id="244" name="Rounded Rectangle 1_1_1">
              <a:extLst>
                <a:ext uri="{FF2B5EF4-FFF2-40B4-BE49-F238E27FC236}">
                  <a16:creationId xmlns:a16="http://schemas.microsoft.com/office/drawing/2014/main" id="{D4328876-8321-5F50-354E-FF260A08B1A1}"/>
                </a:ext>
              </a:extLst>
            </p:cNvPr>
            <p:cNvSpPr/>
            <p:nvPr/>
          </p:nvSpPr>
          <p:spPr>
            <a:xfrm>
              <a:off x="5117386" y="2341004"/>
              <a:ext cx="1957227" cy="1957228"/>
            </a:xfrm>
            <a:prstGeom prst="roundRect">
              <a:avLst>
                <a:gd name="adj" fmla="val 8887"/>
              </a:avLst>
            </a:prstGeom>
            <a:solidFill>
              <a:schemeClr val="bg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3600" b="1" dirty="0">
                <a:solidFill>
                  <a:srgbClr val="FFFFFF"/>
                </a:solidFill>
                <a:latin typeface="Arial" panose="020B0604020202020204" pitchFamily="34" charset="0"/>
                <a:cs typeface="Arial" panose="020B0604020202020204" pitchFamily="34" charset="0"/>
              </a:endParaRPr>
            </a:p>
          </p:txBody>
        </p:sp>
        <p:sp>
          <p:nvSpPr>
            <p:cNvPr id="245" name="N">
              <a:extLst>
                <a:ext uri="{FF2B5EF4-FFF2-40B4-BE49-F238E27FC236}">
                  <a16:creationId xmlns:a16="http://schemas.microsoft.com/office/drawing/2014/main" id="{739E4730-2D68-6F6F-F815-753294FF8B27}"/>
                </a:ext>
              </a:extLst>
            </p:cNvPr>
            <p:cNvSpPr/>
            <p:nvPr/>
          </p:nvSpPr>
          <p:spPr>
            <a:xfrm>
              <a:off x="5685373" y="2985531"/>
              <a:ext cx="821253" cy="668171"/>
            </a:xfrm>
            <a:custGeom>
              <a:avLst/>
              <a:gdLst>
                <a:gd name="T0" fmla="*/ 5737 w 5750"/>
                <a:gd name="T1" fmla="*/ 3683 h 4685"/>
                <a:gd name="T2" fmla="*/ 5652 w 5750"/>
                <a:gd name="T3" fmla="*/ 3225 h 4685"/>
                <a:gd name="T4" fmla="*/ 5523 w 5750"/>
                <a:gd name="T5" fmla="*/ 3191 h 4685"/>
                <a:gd name="T6" fmla="*/ 5515 w 5750"/>
                <a:gd name="T7" fmla="*/ 3196 h 4685"/>
                <a:gd name="T8" fmla="*/ 5494 w 5750"/>
                <a:gd name="T9" fmla="*/ 3191 h 4685"/>
                <a:gd name="T10" fmla="*/ 4915 w 5750"/>
                <a:gd name="T11" fmla="*/ 3165 h 4685"/>
                <a:gd name="T12" fmla="*/ 4916 w 5750"/>
                <a:gd name="T13" fmla="*/ 2916 h 4685"/>
                <a:gd name="T14" fmla="*/ 4894 w 5750"/>
                <a:gd name="T15" fmla="*/ 2451 h 4685"/>
                <a:gd name="T16" fmla="*/ 4875 w 5750"/>
                <a:gd name="T17" fmla="*/ 2419 h 4685"/>
                <a:gd name="T18" fmla="*/ 4783 w 5750"/>
                <a:gd name="T19" fmla="*/ 2360 h 4685"/>
                <a:gd name="T20" fmla="*/ 2822 w 5750"/>
                <a:gd name="T21" fmla="*/ 2298 h 4685"/>
                <a:gd name="T22" fmla="*/ 2855 w 5750"/>
                <a:gd name="T23" fmla="*/ 1291 h 4685"/>
                <a:gd name="T24" fmla="*/ 3350 w 5750"/>
                <a:gd name="T25" fmla="*/ 1288 h 4685"/>
                <a:gd name="T26" fmla="*/ 3453 w 5750"/>
                <a:gd name="T27" fmla="*/ 1185 h 4685"/>
                <a:gd name="T28" fmla="*/ 3476 w 5750"/>
                <a:gd name="T29" fmla="*/ 1119 h 4685"/>
                <a:gd name="T30" fmla="*/ 3505 w 5750"/>
                <a:gd name="T31" fmla="*/ 215 h 4685"/>
                <a:gd name="T32" fmla="*/ 3392 w 5750"/>
                <a:gd name="T33" fmla="*/ 67 h 4685"/>
                <a:gd name="T34" fmla="*/ 2654 w 5750"/>
                <a:gd name="T35" fmla="*/ 51 h 4685"/>
                <a:gd name="T36" fmla="*/ 2053 w 5750"/>
                <a:gd name="T37" fmla="*/ 50 h 4685"/>
                <a:gd name="T38" fmla="*/ 1969 w 5750"/>
                <a:gd name="T39" fmla="*/ 135 h 4685"/>
                <a:gd name="T40" fmla="*/ 1961 w 5750"/>
                <a:gd name="T41" fmla="*/ 905 h 4685"/>
                <a:gd name="T42" fmla="*/ 1934 w 5750"/>
                <a:gd name="T43" fmla="*/ 1180 h 4685"/>
                <a:gd name="T44" fmla="*/ 2030 w 5750"/>
                <a:gd name="T45" fmla="*/ 1276 h 4685"/>
                <a:gd name="T46" fmla="*/ 2662 w 5750"/>
                <a:gd name="T47" fmla="*/ 1290 h 4685"/>
                <a:gd name="T48" fmla="*/ 2680 w 5750"/>
                <a:gd name="T49" fmla="*/ 2298 h 4685"/>
                <a:gd name="T50" fmla="*/ 789 w 5750"/>
                <a:gd name="T51" fmla="*/ 2489 h 4685"/>
                <a:gd name="T52" fmla="*/ 762 w 5750"/>
                <a:gd name="T53" fmla="*/ 2495 h 4685"/>
                <a:gd name="T54" fmla="*/ 750 w 5750"/>
                <a:gd name="T55" fmla="*/ 2498 h 4685"/>
                <a:gd name="T56" fmla="*/ 720 w 5750"/>
                <a:gd name="T57" fmla="*/ 2555 h 4685"/>
                <a:gd name="T58" fmla="*/ 675 w 5750"/>
                <a:gd name="T59" fmla="*/ 3231 h 4685"/>
                <a:gd name="T60" fmla="*/ 655 w 5750"/>
                <a:gd name="T61" fmla="*/ 3232 h 4685"/>
                <a:gd name="T62" fmla="*/ 48 w 5750"/>
                <a:gd name="T63" fmla="*/ 3327 h 4685"/>
                <a:gd name="T64" fmla="*/ 55 w 5750"/>
                <a:gd name="T65" fmla="*/ 3385 h 4685"/>
                <a:gd name="T66" fmla="*/ 74 w 5750"/>
                <a:gd name="T67" fmla="*/ 3391 h 4685"/>
                <a:gd name="T68" fmla="*/ 48 w 5750"/>
                <a:gd name="T69" fmla="*/ 4135 h 4685"/>
                <a:gd name="T70" fmla="*/ 104 w 5750"/>
                <a:gd name="T71" fmla="*/ 4583 h 4685"/>
                <a:gd name="T72" fmla="*/ 661 w 5750"/>
                <a:gd name="T73" fmla="*/ 4570 h 4685"/>
                <a:gd name="T74" fmla="*/ 1564 w 5750"/>
                <a:gd name="T75" fmla="*/ 4576 h 4685"/>
                <a:gd name="T76" fmla="*/ 1656 w 5750"/>
                <a:gd name="T77" fmla="*/ 4455 h 4685"/>
                <a:gd name="T78" fmla="*/ 1581 w 5750"/>
                <a:gd name="T79" fmla="*/ 3419 h 4685"/>
                <a:gd name="T80" fmla="*/ 1556 w 5750"/>
                <a:gd name="T81" fmla="*/ 3364 h 4685"/>
                <a:gd name="T82" fmla="*/ 1530 w 5750"/>
                <a:gd name="T83" fmla="*/ 3281 h 4685"/>
                <a:gd name="T84" fmla="*/ 1518 w 5750"/>
                <a:gd name="T85" fmla="*/ 3271 h 4685"/>
                <a:gd name="T86" fmla="*/ 1440 w 5750"/>
                <a:gd name="T87" fmla="*/ 3251 h 4685"/>
                <a:gd name="T88" fmla="*/ 880 w 5750"/>
                <a:gd name="T89" fmla="*/ 3227 h 4685"/>
                <a:gd name="T90" fmla="*/ 866 w 5750"/>
                <a:gd name="T91" fmla="*/ 2602 h 4685"/>
                <a:gd name="T92" fmla="*/ 2772 w 5750"/>
                <a:gd name="T93" fmla="*/ 2570 h 4685"/>
                <a:gd name="T94" fmla="*/ 4761 w 5750"/>
                <a:gd name="T95" fmla="*/ 2579 h 4685"/>
                <a:gd name="T96" fmla="*/ 4735 w 5750"/>
                <a:gd name="T97" fmla="*/ 2916 h 4685"/>
                <a:gd name="T98" fmla="*/ 4723 w 5750"/>
                <a:gd name="T99" fmla="*/ 3170 h 4685"/>
                <a:gd name="T100" fmla="*/ 3996 w 5750"/>
                <a:gd name="T101" fmla="*/ 3281 h 4685"/>
                <a:gd name="T102" fmla="*/ 3970 w 5750"/>
                <a:gd name="T103" fmla="*/ 3377 h 4685"/>
                <a:gd name="T104" fmla="*/ 3915 w 5750"/>
                <a:gd name="T105" fmla="*/ 3916 h 4685"/>
                <a:gd name="T106" fmla="*/ 3949 w 5750"/>
                <a:gd name="T107" fmla="*/ 4508 h 4685"/>
                <a:gd name="T108" fmla="*/ 3955 w 5750"/>
                <a:gd name="T109" fmla="*/ 4516 h 4685"/>
                <a:gd name="T110" fmla="*/ 3991 w 5750"/>
                <a:gd name="T111" fmla="*/ 4597 h 4685"/>
                <a:gd name="T112" fmla="*/ 4609 w 5750"/>
                <a:gd name="T113" fmla="*/ 4643 h 4685"/>
                <a:gd name="T114" fmla="*/ 5343 w 5750"/>
                <a:gd name="T115" fmla="*/ 4622 h 4685"/>
                <a:gd name="T116" fmla="*/ 5352 w 5750"/>
                <a:gd name="T117" fmla="*/ 4624 h 4685"/>
                <a:gd name="T118" fmla="*/ 5740 w 5750"/>
                <a:gd name="T119" fmla="*/ 4296 h 4685"/>
                <a:gd name="T120" fmla="*/ 5737 w 5750"/>
                <a:gd name="T121" fmla="*/ 3683 h 4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50" h="4685">
                  <a:moveTo>
                    <a:pt x="5737" y="3683"/>
                  </a:moveTo>
                  <a:cubicBezTo>
                    <a:pt x="5734" y="3521"/>
                    <a:pt x="5750" y="3360"/>
                    <a:pt x="5652" y="3225"/>
                  </a:cubicBezTo>
                  <a:cubicBezTo>
                    <a:pt x="5620" y="3180"/>
                    <a:pt x="5574" y="3168"/>
                    <a:pt x="5523" y="3191"/>
                  </a:cubicBezTo>
                  <a:cubicBezTo>
                    <a:pt x="5520" y="3193"/>
                    <a:pt x="5518" y="3194"/>
                    <a:pt x="5515" y="3196"/>
                  </a:cubicBezTo>
                  <a:cubicBezTo>
                    <a:pt x="5508" y="3194"/>
                    <a:pt x="5502" y="3192"/>
                    <a:pt x="5494" y="3191"/>
                  </a:cubicBezTo>
                  <a:cubicBezTo>
                    <a:pt x="5315" y="3173"/>
                    <a:pt x="5117" y="3163"/>
                    <a:pt x="4915" y="3165"/>
                  </a:cubicBezTo>
                  <a:cubicBezTo>
                    <a:pt x="4918" y="3081"/>
                    <a:pt x="4915" y="2996"/>
                    <a:pt x="4916" y="2916"/>
                  </a:cubicBezTo>
                  <a:cubicBezTo>
                    <a:pt x="4918" y="2760"/>
                    <a:pt x="4918" y="2605"/>
                    <a:pt x="4894" y="2451"/>
                  </a:cubicBezTo>
                  <a:cubicBezTo>
                    <a:pt x="4892" y="2436"/>
                    <a:pt x="4885" y="2426"/>
                    <a:pt x="4875" y="2419"/>
                  </a:cubicBezTo>
                  <a:cubicBezTo>
                    <a:pt x="4859" y="2387"/>
                    <a:pt x="4829" y="2362"/>
                    <a:pt x="4783" y="2360"/>
                  </a:cubicBezTo>
                  <a:cubicBezTo>
                    <a:pt x="4169" y="2340"/>
                    <a:pt x="3495" y="2299"/>
                    <a:pt x="2822" y="2298"/>
                  </a:cubicBezTo>
                  <a:cubicBezTo>
                    <a:pt x="2851" y="1964"/>
                    <a:pt x="2841" y="1626"/>
                    <a:pt x="2855" y="1291"/>
                  </a:cubicBezTo>
                  <a:cubicBezTo>
                    <a:pt x="3020" y="1290"/>
                    <a:pt x="3185" y="1290"/>
                    <a:pt x="3350" y="1288"/>
                  </a:cubicBezTo>
                  <a:cubicBezTo>
                    <a:pt x="3417" y="1288"/>
                    <a:pt x="3451" y="1237"/>
                    <a:pt x="3453" y="1185"/>
                  </a:cubicBezTo>
                  <a:cubicBezTo>
                    <a:pt x="3468" y="1165"/>
                    <a:pt x="3478" y="1142"/>
                    <a:pt x="3476" y="1119"/>
                  </a:cubicBezTo>
                  <a:cubicBezTo>
                    <a:pt x="3447" y="816"/>
                    <a:pt x="3455" y="516"/>
                    <a:pt x="3505" y="215"/>
                  </a:cubicBezTo>
                  <a:cubicBezTo>
                    <a:pt x="3518" y="140"/>
                    <a:pt x="3474" y="69"/>
                    <a:pt x="3392" y="67"/>
                  </a:cubicBezTo>
                  <a:cubicBezTo>
                    <a:pt x="3146" y="62"/>
                    <a:pt x="2900" y="56"/>
                    <a:pt x="2654" y="51"/>
                  </a:cubicBezTo>
                  <a:cubicBezTo>
                    <a:pt x="2469" y="46"/>
                    <a:pt x="2232" y="0"/>
                    <a:pt x="2053" y="50"/>
                  </a:cubicBezTo>
                  <a:cubicBezTo>
                    <a:pt x="2014" y="62"/>
                    <a:pt x="1978" y="94"/>
                    <a:pt x="1969" y="135"/>
                  </a:cubicBezTo>
                  <a:cubicBezTo>
                    <a:pt x="1917" y="360"/>
                    <a:pt x="1943" y="655"/>
                    <a:pt x="1961" y="905"/>
                  </a:cubicBezTo>
                  <a:cubicBezTo>
                    <a:pt x="1952" y="996"/>
                    <a:pt x="1943" y="1088"/>
                    <a:pt x="1934" y="1180"/>
                  </a:cubicBezTo>
                  <a:cubicBezTo>
                    <a:pt x="1928" y="1233"/>
                    <a:pt x="1982" y="1274"/>
                    <a:pt x="2030" y="1276"/>
                  </a:cubicBezTo>
                  <a:cubicBezTo>
                    <a:pt x="2240" y="1285"/>
                    <a:pt x="2451" y="1289"/>
                    <a:pt x="2662" y="1290"/>
                  </a:cubicBezTo>
                  <a:cubicBezTo>
                    <a:pt x="2638" y="1624"/>
                    <a:pt x="2625" y="1968"/>
                    <a:pt x="2680" y="2298"/>
                  </a:cubicBezTo>
                  <a:cubicBezTo>
                    <a:pt x="2025" y="2302"/>
                    <a:pt x="1376" y="2347"/>
                    <a:pt x="789" y="2489"/>
                  </a:cubicBezTo>
                  <a:cubicBezTo>
                    <a:pt x="779" y="2489"/>
                    <a:pt x="770" y="2492"/>
                    <a:pt x="762" y="2495"/>
                  </a:cubicBezTo>
                  <a:cubicBezTo>
                    <a:pt x="758" y="2496"/>
                    <a:pt x="754" y="2497"/>
                    <a:pt x="750" y="2498"/>
                  </a:cubicBezTo>
                  <a:cubicBezTo>
                    <a:pt x="718" y="2506"/>
                    <a:pt x="712" y="2532"/>
                    <a:pt x="720" y="2555"/>
                  </a:cubicBezTo>
                  <a:cubicBezTo>
                    <a:pt x="678" y="2771"/>
                    <a:pt x="669" y="3008"/>
                    <a:pt x="675" y="3231"/>
                  </a:cubicBezTo>
                  <a:cubicBezTo>
                    <a:pt x="668" y="3232"/>
                    <a:pt x="662" y="3232"/>
                    <a:pt x="655" y="3232"/>
                  </a:cubicBezTo>
                  <a:cubicBezTo>
                    <a:pt x="450" y="3239"/>
                    <a:pt x="229" y="3222"/>
                    <a:pt x="48" y="3327"/>
                  </a:cubicBezTo>
                  <a:cubicBezTo>
                    <a:pt x="22" y="3342"/>
                    <a:pt x="31" y="3375"/>
                    <a:pt x="55" y="3385"/>
                  </a:cubicBezTo>
                  <a:cubicBezTo>
                    <a:pt x="61" y="3388"/>
                    <a:pt x="68" y="3389"/>
                    <a:pt x="74" y="3391"/>
                  </a:cubicBezTo>
                  <a:cubicBezTo>
                    <a:pt x="30" y="3636"/>
                    <a:pt x="44" y="3887"/>
                    <a:pt x="48" y="4135"/>
                  </a:cubicBezTo>
                  <a:cubicBezTo>
                    <a:pt x="49" y="4261"/>
                    <a:pt x="0" y="4486"/>
                    <a:pt x="104" y="4583"/>
                  </a:cubicBezTo>
                  <a:cubicBezTo>
                    <a:pt x="210" y="4682"/>
                    <a:pt x="533" y="4577"/>
                    <a:pt x="661" y="4570"/>
                  </a:cubicBezTo>
                  <a:cubicBezTo>
                    <a:pt x="962" y="4552"/>
                    <a:pt x="1263" y="4556"/>
                    <a:pt x="1564" y="4576"/>
                  </a:cubicBezTo>
                  <a:cubicBezTo>
                    <a:pt x="1625" y="4580"/>
                    <a:pt x="1673" y="4511"/>
                    <a:pt x="1656" y="4455"/>
                  </a:cubicBezTo>
                  <a:cubicBezTo>
                    <a:pt x="1551" y="4117"/>
                    <a:pt x="1617" y="3766"/>
                    <a:pt x="1581" y="3419"/>
                  </a:cubicBezTo>
                  <a:cubicBezTo>
                    <a:pt x="1579" y="3396"/>
                    <a:pt x="1569" y="3378"/>
                    <a:pt x="1556" y="3364"/>
                  </a:cubicBezTo>
                  <a:cubicBezTo>
                    <a:pt x="1563" y="3334"/>
                    <a:pt x="1558" y="3303"/>
                    <a:pt x="1530" y="3281"/>
                  </a:cubicBezTo>
                  <a:cubicBezTo>
                    <a:pt x="1526" y="3278"/>
                    <a:pt x="1522" y="3274"/>
                    <a:pt x="1518" y="3271"/>
                  </a:cubicBezTo>
                  <a:cubicBezTo>
                    <a:pt x="1493" y="3251"/>
                    <a:pt x="1466" y="3245"/>
                    <a:pt x="1440" y="3251"/>
                  </a:cubicBezTo>
                  <a:cubicBezTo>
                    <a:pt x="1255" y="3231"/>
                    <a:pt x="1067" y="3225"/>
                    <a:pt x="880" y="3227"/>
                  </a:cubicBezTo>
                  <a:cubicBezTo>
                    <a:pt x="893" y="3021"/>
                    <a:pt x="892" y="2805"/>
                    <a:pt x="866" y="2602"/>
                  </a:cubicBezTo>
                  <a:cubicBezTo>
                    <a:pt x="1491" y="2664"/>
                    <a:pt x="2144" y="2580"/>
                    <a:pt x="2772" y="2570"/>
                  </a:cubicBezTo>
                  <a:cubicBezTo>
                    <a:pt x="3435" y="2560"/>
                    <a:pt x="4098" y="2573"/>
                    <a:pt x="4761" y="2579"/>
                  </a:cubicBezTo>
                  <a:cubicBezTo>
                    <a:pt x="4746" y="2691"/>
                    <a:pt x="4740" y="2803"/>
                    <a:pt x="4735" y="2916"/>
                  </a:cubicBezTo>
                  <a:cubicBezTo>
                    <a:pt x="4732" y="2999"/>
                    <a:pt x="4724" y="3085"/>
                    <a:pt x="4723" y="3170"/>
                  </a:cubicBezTo>
                  <a:cubicBezTo>
                    <a:pt x="4468" y="3183"/>
                    <a:pt x="4215" y="3217"/>
                    <a:pt x="3996" y="3281"/>
                  </a:cubicBezTo>
                  <a:cubicBezTo>
                    <a:pt x="3956" y="3293"/>
                    <a:pt x="3944" y="3350"/>
                    <a:pt x="3970" y="3377"/>
                  </a:cubicBezTo>
                  <a:cubicBezTo>
                    <a:pt x="3932" y="3554"/>
                    <a:pt x="3919" y="3736"/>
                    <a:pt x="3915" y="3916"/>
                  </a:cubicBezTo>
                  <a:cubicBezTo>
                    <a:pt x="3912" y="4109"/>
                    <a:pt x="3888" y="4324"/>
                    <a:pt x="3949" y="4508"/>
                  </a:cubicBezTo>
                  <a:cubicBezTo>
                    <a:pt x="3950" y="4512"/>
                    <a:pt x="3954" y="4513"/>
                    <a:pt x="3955" y="4516"/>
                  </a:cubicBezTo>
                  <a:cubicBezTo>
                    <a:pt x="3947" y="4545"/>
                    <a:pt x="3964" y="4584"/>
                    <a:pt x="3991" y="4597"/>
                  </a:cubicBezTo>
                  <a:cubicBezTo>
                    <a:pt x="4166" y="4685"/>
                    <a:pt x="4418" y="4644"/>
                    <a:pt x="4609" y="4643"/>
                  </a:cubicBezTo>
                  <a:cubicBezTo>
                    <a:pt x="4853" y="4641"/>
                    <a:pt x="5099" y="4640"/>
                    <a:pt x="5343" y="4622"/>
                  </a:cubicBezTo>
                  <a:cubicBezTo>
                    <a:pt x="5346" y="4622"/>
                    <a:pt x="5349" y="4624"/>
                    <a:pt x="5352" y="4624"/>
                  </a:cubicBezTo>
                  <a:cubicBezTo>
                    <a:pt x="5687" y="4654"/>
                    <a:pt x="5733" y="4627"/>
                    <a:pt x="5740" y="4296"/>
                  </a:cubicBezTo>
                  <a:cubicBezTo>
                    <a:pt x="5744" y="4091"/>
                    <a:pt x="5742" y="3887"/>
                    <a:pt x="5737" y="3683"/>
                  </a:cubicBezTo>
                  <a:close/>
                </a:path>
              </a:pathLst>
            </a:cu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b="1" dirty="0">
                <a:solidFill>
                  <a:schemeClr val="accent1"/>
                </a:solidFill>
                <a:latin typeface="Arial" panose="020B0604020202020204" pitchFamily="34" charset="0"/>
                <a:cs typeface="Arial" panose="020B0604020202020204" pitchFamily="34" charset="0"/>
              </a:endParaRPr>
            </a:p>
          </p:txBody>
        </p:sp>
        <p:sp>
          <p:nvSpPr>
            <p:cNvPr id="246" name="N">
              <a:extLst>
                <a:ext uri="{FF2B5EF4-FFF2-40B4-BE49-F238E27FC236}">
                  <a16:creationId xmlns:a16="http://schemas.microsoft.com/office/drawing/2014/main" id="{75789BCB-4CFC-9B36-7C99-42ACAB82235C}"/>
                </a:ext>
              </a:extLst>
            </p:cNvPr>
            <p:cNvSpPr/>
            <p:nvPr/>
          </p:nvSpPr>
          <p:spPr>
            <a:xfrm>
              <a:off x="6952583" y="2957334"/>
              <a:ext cx="724567" cy="724567"/>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sz="2000" b="1" dirty="0">
                <a:solidFill>
                  <a:srgbClr val="FFFFFF"/>
                </a:solidFill>
                <a:latin typeface="Arial" panose="020B0604020202020204" pitchFamily="34" charset="0"/>
                <a:cs typeface="Arial" panose="020B0604020202020204" pitchFamily="34" charset="0"/>
                <a:sym typeface="+mn-lt"/>
              </a:endParaRPr>
            </a:p>
          </p:txBody>
        </p:sp>
        <p:sp>
          <p:nvSpPr>
            <p:cNvPr id="247" name="N">
              <a:extLst>
                <a:ext uri="{FF2B5EF4-FFF2-40B4-BE49-F238E27FC236}">
                  <a16:creationId xmlns:a16="http://schemas.microsoft.com/office/drawing/2014/main" id="{4A030C73-A54B-99EA-3F23-AC1BECE3BBB3}"/>
                </a:ext>
              </a:extLst>
            </p:cNvPr>
            <p:cNvSpPr/>
            <p:nvPr/>
          </p:nvSpPr>
          <p:spPr>
            <a:xfrm>
              <a:off x="4514850" y="2957334"/>
              <a:ext cx="724567" cy="724567"/>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sz="2000" b="1" dirty="0">
                <a:solidFill>
                  <a:srgbClr val="FFFFFF"/>
                </a:solidFill>
                <a:latin typeface="Arial" panose="020B0604020202020204" pitchFamily="34" charset="0"/>
                <a:cs typeface="Arial" panose="020B0604020202020204" pitchFamily="34" charset="0"/>
                <a:sym typeface="+mn-lt"/>
              </a:endParaRPr>
            </a:p>
          </p:txBody>
        </p:sp>
        <p:sp>
          <p:nvSpPr>
            <p:cNvPr id="248" name="I">
              <a:extLst>
                <a:ext uri="{FF2B5EF4-FFF2-40B4-BE49-F238E27FC236}">
                  <a16:creationId xmlns:a16="http://schemas.microsoft.com/office/drawing/2014/main" id="{2A7CE0C5-AE89-6B85-5167-DF4D85C99DEA}"/>
                </a:ext>
              </a:extLst>
            </p:cNvPr>
            <p:cNvSpPr>
              <a:spLocks noChangeAspect="1"/>
            </p:cNvSpPr>
            <p:nvPr/>
          </p:nvSpPr>
          <p:spPr>
            <a:xfrm>
              <a:off x="4682447" y="3200279"/>
              <a:ext cx="389372" cy="238676"/>
            </a:xfrm>
            <a:custGeom>
              <a:avLst/>
              <a:gdLst>
                <a:gd name="T0" fmla="*/ 4809 w 5268"/>
                <a:gd name="T1" fmla="*/ 1682 h 3332"/>
                <a:gd name="T2" fmla="*/ 4837 w 5268"/>
                <a:gd name="T3" fmla="*/ 1402 h 3332"/>
                <a:gd name="T4" fmla="*/ 3435 w 5268"/>
                <a:gd name="T5" fmla="*/ 0 h 3332"/>
                <a:gd name="T6" fmla="*/ 2150 w 5268"/>
                <a:gd name="T7" fmla="*/ 839 h 3332"/>
                <a:gd name="T8" fmla="*/ 1572 w 5268"/>
                <a:gd name="T9" fmla="*/ 667 h 3332"/>
                <a:gd name="T10" fmla="*/ 513 w 5268"/>
                <a:gd name="T11" fmla="*/ 1655 h 3332"/>
                <a:gd name="T12" fmla="*/ 0 w 5268"/>
                <a:gd name="T13" fmla="*/ 2454 h 3332"/>
                <a:gd name="T14" fmla="*/ 879 w 5268"/>
                <a:gd name="T15" fmla="*/ 3332 h 3332"/>
                <a:gd name="T16" fmla="*/ 2148 w 5268"/>
                <a:gd name="T17" fmla="*/ 3332 h 3332"/>
                <a:gd name="T18" fmla="*/ 2213 w 5268"/>
                <a:gd name="T19" fmla="*/ 3263 h 3332"/>
                <a:gd name="T20" fmla="*/ 2213 w 5268"/>
                <a:gd name="T21" fmla="*/ 2700 h 3332"/>
                <a:gd name="T22" fmla="*/ 2126 w 5268"/>
                <a:gd name="T23" fmla="*/ 2612 h 3332"/>
                <a:gd name="T24" fmla="*/ 1886 w 5268"/>
                <a:gd name="T25" fmla="*/ 2612 h 3332"/>
                <a:gd name="T26" fmla="*/ 1850 w 5268"/>
                <a:gd name="T27" fmla="*/ 2542 h 3332"/>
                <a:gd name="T28" fmla="*/ 2582 w 5268"/>
                <a:gd name="T29" fmla="*/ 1554 h 3332"/>
                <a:gd name="T30" fmla="*/ 2686 w 5268"/>
                <a:gd name="T31" fmla="*/ 1554 h 3332"/>
                <a:gd name="T32" fmla="*/ 3418 w 5268"/>
                <a:gd name="T33" fmla="*/ 2542 h 3332"/>
                <a:gd name="T34" fmla="*/ 3383 w 5268"/>
                <a:gd name="T35" fmla="*/ 2612 h 3332"/>
                <a:gd name="T36" fmla="*/ 3142 w 5268"/>
                <a:gd name="T37" fmla="*/ 2612 h 3332"/>
                <a:gd name="T38" fmla="*/ 3055 w 5268"/>
                <a:gd name="T39" fmla="*/ 2700 h 3332"/>
                <a:gd name="T40" fmla="*/ 3055 w 5268"/>
                <a:gd name="T41" fmla="*/ 3264 h 3332"/>
                <a:gd name="T42" fmla="*/ 3123 w 5268"/>
                <a:gd name="T43" fmla="*/ 3332 h 3332"/>
                <a:gd name="T44" fmla="*/ 4389 w 5268"/>
                <a:gd name="T45" fmla="*/ 3332 h 3332"/>
                <a:gd name="T46" fmla="*/ 5268 w 5268"/>
                <a:gd name="T47" fmla="*/ 2454 h 3332"/>
                <a:gd name="T48" fmla="*/ 4809 w 5268"/>
                <a:gd name="T49" fmla="*/ 1682 h 3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268" h="3332">
                  <a:moveTo>
                    <a:pt x="4809" y="1682"/>
                  </a:moveTo>
                  <a:cubicBezTo>
                    <a:pt x="4828" y="1591"/>
                    <a:pt x="4837" y="1498"/>
                    <a:pt x="4837" y="1402"/>
                  </a:cubicBezTo>
                  <a:cubicBezTo>
                    <a:pt x="4837" y="628"/>
                    <a:pt x="4209" y="0"/>
                    <a:pt x="3435" y="0"/>
                  </a:cubicBezTo>
                  <a:cubicBezTo>
                    <a:pt x="2861" y="0"/>
                    <a:pt x="2367" y="345"/>
                    <a:pt x="2150" y="839"/>
                  </a:cubicBezTo>
                  <a:cubicBezTo>
                    <a:pt x="1984" y="731"/>
                    <a:pt x="1785" y="667"/>
                    <a:pt x="1572" y="667"/>
                  </a:cubicBezTo>
                  <a:cubicBezTo>
                    <a:pt x="1010" y="667"/>
                    <a:pt x="551" y="1104"/>
                    <a:pt x="513" y="1655"/>
                  </a:cubicBezTo>
                  <a:cubicBezTo>
                    <a:pt x="211" y="1794"/>
                    <a:pt x="0" y="2099"/>
                    <a:pt x="0" y="2454"/>
                  </a:cubicBezTo>
                  <a:cubicBezTo>
                    <a:pt x="0" y="2939"/>
                    <a:pt x="393" y="3332"/>
                    <a:pt x="879" y="3332"/>
                  </a:cubicBezTo>
                  <a:lnTo>
                    <a:pt x="2148" y="3332"/>
                  </a:lnTo>
                  <a:cubicBezTo>
                    <a:pt x="2210" y="3332"/>
                    <a:pt x="2213" y="3263"/>
                    <a:pt x="2213" y="3263"/>
                  </a:cubicBezTo>
                  <a:lnTo>
                    <a:pt x="2213" y="2700"/>
                  </a:lnTo>
                  <a:cubicBezTo>
                    <a:pt x="2213" y="2651"/>
                    <a:pt x="2174" y="2612"/>
                    <a:pt x="2126" y="2612"/>
                  </a:cubicBezTo>
                  <a:lnTo>
                    <a:pt x="1886" y="2612"/>
                  </a:lnTo>
                  <a:cubicBezTo>
                    <a:pt x="1837" y="2612"/>
                    <a:pt x="1821" y="2580"/>
                    <a:pt x="1850" y="2542"/>
                  </a:cubicBezTo>
                  <a:lnTo>
                    <a:pt x="2582" y="1554"/>
                  </a:lnTo>
                  <a:cubicBezTo>
                    <a:pt x="2611" y="1515"/>
                    <a:pt x="2657" y="1515"/>
                    <a:pt x="2686" y="1554"/>
                  </a:cubicBezTo>
                  <a:lnTo>
                    <a:pt x="3418" y="2542"/>
                  </a:lnTo>
                  <a:cubicBezTo>
                    <a:pt x="3447" y="2580"/>
                    <a:pt x="3431" y="2612"/>
                    <a:pt x="3383" y="2612"/>
                  </a:cubicBezTo>
                  <a:lnTo>
                    <a:pt x="3142" y="2612"/>
                  </a:lnTo>
                  <a:cubicBezTo>
                    <a:pt x="3094" y="2612"/>
                    <a:pt x="3055" y="2651"/>
                    <a:pt x="3055" y="2700"/>
                  </a:cubicBezTo>
                  <a:lnTo>
                    <a:pt x="3055" y="3264"/>
                  </a:lnTo>
                  <a:cubicBezTo>
                    <a:pt x="3055" y="3264"/>
                    <a:pt x="3059" y="3332"/>
                    <a:pt x="3123" y="3332"/>
                  </a:cubicBezTo>
                  <a:lnTo>
                    <a:pt x="4389" y="3332"/>
                  </a:lnTo>
                  <a:cubicBezTo>
                    <a:pt x="4875" y="3332"/>
                    <a:pt x="5268" y="2939"/>
                    <a:pt x="5268" y="2454"/>
                  </a:cubicBezTo>
                  <a:cubicBezTo>
                    <a:pt x="5268" y="2121"/>
                    <a:pt x="5083" y="1831"/>
                    <a:pt x="4809" y="1682"/>
                  </a:cubicBez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765"/>
              <a:endParaRPr lang="zh-CN" altLang="en-US" sz="1600" b="1" dirty="0">
                <a:solidFill>
                  <a:srgbClr val="FFFFFF"/>
                </a:solidFill>
                <a:cs typeface="+mn-ea"/>
                <a:sym typeface="+mn-lt"/>
              </a:endParaRPr>
            </a:p>
          </p:txBody>
        </p:sp>
        <p:sp>
          <p:nvSpPr>
            <p:cNvPr id="249" name="I">
              <a:extLst>
                <a:ext uri="{FF2B5EF4-FFF2-40B4-BE49-F238E27FC236}">
                  <a16:creationId xmlns:a16="http://schemas.microsoft.com/office/drawing/2014/main" id="{90609E7A-6750-EDA9-C9B6-FAFEEB411AA9}"/>
                </a:ext>
              </a:extLst>
            </p:cNvPr>
            <p:cNvSpPr/>
            <p:nvPr/>
          </p:nvSpPr>
          <p:spPr bwMode="auto">
            <a:xfrm>
              <a:off x="7157369" y="3175124"/>
              <a:ext cx="314994" cy="288985"/>
            </a:xfrm>
            <a:custGeom>
              <a:avLst/>
              <a:gdLst>
                <a:gd name="connsiteX0" fmla="*/ 303857 w 607639"/>
                <a:gd name="connsiteY0" fmla="*/ 303714 h 557467"/>
                <a:gd name="connsiteX1" fmla="*/ 352986 w 607639"/>
                <a:gd name="connsiteY1" fmla="*/ 309132 h 557467"/>
                <a:gd name="connsiteX2" fmla="*/ 514597 w 607639"/>
                <a:gd name="connsiteY2" fmla="*/ 449845 h 557467"/>
                <a:gd name="connsiteX3" fmla="*/ 528676 w 607639"/>
                <a:gd name="connsiteY3" fmla="*/ 528182 h 557467"/>
                <a:gd name="connsiteX4" fmla="*/ 499345 w 607639"/>
                <a:gd name="connsiteY4" fmla="*/ 557467 h 557467"/>
                <a:gd name="connsiteX5" fmla="*/ 108223 w 607639"/>
                <a:gd name="connsiteY5" fmla="*/ 557467 h 557467"/>
                <a:gd name="connsiteX6" fmla="*/ 78892 w 607639"/>
                <a:gd name="connsiteY6" fmla="*/ 528182 h 557467"/>
                <a:gd name="connsiteX7" fmla="*/ 303857 w 607639"/>
                <a:gd name="connsiteY7" fmla="*/ 303714 h 557467"/>
                <a:gd name="connsiteX8" fmla="*/ 455825 w 607639"/>
                <a:gd name="connsiteY8" fmla="*/ 268995 h 557467"/>
                <a:gd name="connsiteX9" fmla="*/ 607639 w 607639"/>
                <a:gd name="connsiteY9" fmla="*/ 420565 h 557467"/>
                <a:gd name="connsiteX10" fmla="*/ 578303 w 607639"/>
                <a:gd name="connsiteY10" fmla="*/ 449854 h 557467"/>
                <a:gd name="connsiteX11" fmla="*/ 576396 w 607639"/>
                <a:gd name="connsiteY11" fmla="*/ 449854 h 557467"/>
                <a:gd name="connsiteX12" fmla="*/ 424875 w 607639"/>
                <a:gd name="connsiteY12" fmla="*/ 272217 h 557467"/>
                <a:gd name="connsiteX13" fmla="*/ 455825 w 607639"/>
                <a:gd name="connsiteY13" fmla="*/ 268995 h 557467"/>
                <a:gd name="connsiteX14" fmla="*/ 151811 w 607639"/>
                <a:gd name="connsiteY14" fmla="*/ 268995 h 557467"/>
                <a:gd name="connsiteX15" fmla="*/ 182906 w 607639"/>
                <a:gd name="connsiteY15" fmla="*/ 272217 h 557467"/>
                <a:gd name="connsiteX16" fmla="*/ 31389 w 607639"/>
                <a:gd name="connsiteY16" fmla="*/ 449854 h 557467"/>
                <a:gd name="connsiteX17" fmla="*/ 29335 w 607639"/>
                <a:gd name="connsiteY17" fmla="*/ 449854 h 557467"/>
                <a:gd name="connsiteX18" fmla="*/ 0 w 607639"/>
                <a:gd name="connsiteY18" fmla="*/ 420565 h 557467"/>
                <a:gd name="connsiteX19" fmla="*/ 151811 w 607639"/>
                <a:gd name="connsiteY19" fmla="*/ 268995 h 557467"/>
                <a:gd name="connsiteX20" fmla="*/ 462556 w 607639"/>
                <a:gd name="connsiteY20" fmla="*/ 35000 h 557467"/>
                <a:gd name="connsiteX21" fmla="*/ 543847 w 607639"/>
                <a:gd name="connsiteY21" fmla="*/ 122571 h 557467"/>
                <a:gd name="connsiteX22" fmla="*/ 462556 w 607639"/>
                <a:gd name="connsiteY22" fmla="*/ 210143 h 557467"/>
                <a:gd name="connsiteX23" fmla="*/ 485153 w 607639"/>
                <a:gd name="connsiteY23" fmla="*/ 122571 h 557467"/>
                <a:gd name="connsiteX24" fmla="*/ 462556 w 607639"/>
                <a:gd name="connsiteY24" fmla="*/ 35000 h 557467"/>
                <a:gd name="connsiteX25" fmla="*/ 145224 w 607639"/>
                <a:gd name="connsiteY25" fmla="*/ 35000 h 557467"/>
                <a:gd name="connsiteX26" fmla="*/ 122481 w 607639"/>
                <a:gd name="connsiteY26" fmla="*/ 122571 h 557467"/>
                <a:gd name="connsiteX27" fmla="*/ 145224 w 607639"/>
                <a:gd name="connsiteY27" fmla="*/ 210143 h 557467"/>
                <a:gd name="connsiteX28" fmla="*/ 63791 w 607639"/>
                <a:gd name="connsiteY28" fmla="*/ 122571 h 557467"/>
                <a:gd name="connsiteX29" fmla="*/ 145224 w 607639"/>
                <a:gd name="connsiteY29" fmla="*/ 35000 h 557467"/>
                <a:gd name="connsiteX30" fmla="*/ 303892 w 607639"/>
                <a:gd name="connsiteY30" fmla="*/ 0 h 557467"/>
                <a:gd name="connsiteX31" fmla="*/ 403912 w 607639"/>
                <a:gd name="connsiteY31" fmla="*/ 51694 h 557467"/>
                <a:gd name="connsiteX32" fmla="*/ 426497 w 607639"/>
                <a:gd name="connsiteY32" fmla="*/ 122572 h 557467"/>
                <a:gd name="connsiteX33" fmla="*/ 403912 w 607639"/>
                <a:gd name="connsiteY33" fmla="*/ 193450 h 557467"/>
                <a:gd name="connsiteX34" fmla="*/ 303892 w 607639"/>
                <a:gd name="connsiteY34" fmla="*/ 245144 h 557467"/>
                <a:gd name="connsiteX35" fmla="*/ 181141 w 607639"/>
                <a:gd name="connsiteY35" fmla="*/ 122572 h 557467"/>
                <a:gd name="connsiteX36" fmla="*/ 303892 w 607639"/>
                <a:gd name="connsiteY36" fmla="*/ 0 h 55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7639" h="557467">
                  <a:moveTo>
                    <a:pt x="303857" y="303714"/>
                  </a:moveTo>
                  <a:cubicBezTo>
                    <a:pt x="320722" y="303714"/>
                    <a:pt x="337148" y="305618"/>
                    <a:pt x="352986" y="309132"/>
                  </a:cubicBezTo>
                  <a:cubicBezTo>
                    <a:pt x="427486" y="325824"/>
                    <a:pt x="488200" y="379562"/>
                    <a:pt x="514597" y="449845"/>
                  </a:cubicBezTo>
                  <a:cubicBezTo>
                    <a:pt x="523690" y="474298"/>
                    <a:pt x="528676" y="500655"/>
                    <a:pt x="528676" y="528182"/>
                  </a:cubicBezTo>
                  <a:cubicBezTo>
                    <a:pt x="528676" y="544289"/>
                    <a:pt x="515477" y="557467"/>
                    <a:pt x="499345" y="557467"/>
                  </a:cubicBezTo>
                  <a:lnTo>
                    <a:pt x="108223" y="557467"/>
                  </a:lnTo>
                  <a:cubicBezTo>
                    <a:pt x="92091" y="557467"/>
                    <a:pt x="78892" y="544289"/>
                    <a:pt x="78892" y="528182"/>
                  </a:cubicBezTo>
                  <a:cubicBezTo>
                    <a:pt x="78892" y="404307"/>
                    <a:pt x="179789" y="303714"/>
                    <a:pt x="303857" y="303714"/>
                  </a:cubicBezTo>
                  <a:close/>
                  <a:moveTo>
                    <a:pt x="455825" y="268995"/>
                  </a:moveTo>
                  <a:cubicBezTo>
                    <a:pt x="539579" y="268995"/>
                    <a:pt x="607639" y="336945"/>
                    <a:pt x="607639" y="420565"/>
                  </a:cubicBezTo>
                  <a:cubicBezTo>
                    <a:pt x="607639" y="436674"/>
                    <a:pt x="594584" y="449854"/>
                    <a:pt x="578303" y="449854"/>
                  </a:cubicBezTo>
                  <a:lnTo>
                    <a:pt x="576396" y="449854"/>
                  </a:lnTo>
                  <a:cubicBezTo>
                    <a:pt x="553661" y="371360"/>
                    <a:pt x="497775" y="306631"/>
                    <a:pt x="424875" y="272217"/>
                  </a:cubicBezTo>
                  <a:cubicBezTo>
                    <a:pt x="434996" y="270020"/>
                    <a:pt x="445410" y="268995"/>
                    <a:pt x="455825" y="268995"/>
                  </a:cubicBezTo>
                  <a:close/>
                  <a:moveTo>
                    <a:pt x="151811" y="268995"/>
                  </a:moveTo>
                  <a:cubicBezTo>
                    <a:pt x="162371" y="268995"/>
                    <a:pt x="172785" y="270020"/>
                    <a:pt x="182906" y="272217"/>
                  </a:cubicBezTo>
                  <a:cubicBezTo>
                    <a:pt x="110008" y="306631"/>
                    <a:pt x="53977" y="371360"/>
                    <a:pt x="31389" y="449854"/>
                  </a:cubicBezTo>
                  <a:lnTo>
                    <a:pt x="29335" y="449854"/>
                  </a:lnTo>
                  <a:cubicBezTo>
                    <a:pt x="13201" y="449854"/>
                    <a:pt x="0" y="436674"/>
                    <a:pt x="0" y="420565"/>
                  </a:cubicBezTo>
                  <a:cubicBezTo>
                    <a:pt x="0" y="336945"/>
                    <a:pt x="68058" y="268995"/>
                    <a:pt x="151811" y="268995"/>
                  </a:cubicBezTo>
                  <a:close/>
                  <a:moveTo>
                    <a:pt x="462556" y="35000"/>
                  </a:moveTo>
                  <a:cubicBezTo>
                    <a:pt x="507897" y="38368"/>
                    <a:pt x="543847" y="76296"/>
                    <a:pt x="543847" y="122571"/>
                  </a:cubicBezTo>
                  <a:cubicBezTo>
                    <a:pt x="543847" y="168847"/>
                    <a:pt x="507897" y="206775"/>
                    <a:pt x="462556" y="210143"/>
                  </a:cubicBezTo>
                  <a:cubicBezTo>
                    <a:pt x="476936" y="184223"/>
                    <a:pt x="485153" y="154349"/>
                    <a:pt x="485153" y="122571"/>
                  </a:cubicBezTo>
                  <a:cubicBezTo>
                    <a:pt x="485153" y="90794"/>
                    <a:pt x="476936" y="60920"/>
                    <a:pt x="462556" y="35000"/>
                  </a:cubicBezTo>
                  <a:close/>
                  <a:moveTo>
                    <a:pt x="145224" y="35000"/>
                  </a:moveTo>
                  <a:cubicBezTo>
                    <a:pt x="130698" y="60920"/>
                    <a:pt x="122481" y="90794"/>
                    <a:pt x="122481" y="122571"/>
                  </a:cubicBezTo>
                  <a:cubicBezTo>
                    <a:pt x="122481" y="154349"/>
                    <a:pt x="130698" y="184223"/>
                    <a:pt x="145224" y="210143"/>
                  </a:cubicBezTo>
                  <a:cubicBezTo>
                    <a:pt x="99739" y="206775"/>
                    <a:pt x="63791" y="168847"/>
                    <a:pt x="63791" y="122571"/>
                  </a:cubicBezTo>
                  <a:cubicBezTo>
                    <a:pt x="63791" y="76296"/>
                    <a:pt x="99739" y="38368"/>
                    <a:pt x="145224" y="35000"/>
                  </a:cubicBezTo>
                  <a:close/>
                  <a:moveTo>
                    <a:pt x="303892" y="0"/>
                  </a:moveTo>
                  <a:cubicBezTo>
                    <a:pt x="345103" y="0"/>
                    <a:pt x="381620" y="20502"/>
                    <a:pt x="403912" y="51694"/>
                  </a:cubicBezTo>
                  <a:cubicBezTo>
                    <a:pt x="418138" y="71756"/>
                    <a:pt x="426497" y="96212"/>
                    <a:pt x="426497" y="122572"/>
                  </a:cubicBezTo>
                  <a:cubicBezTo>
                    <a:pt x="426497" y="148931"/>
                    <a:pt x="418138" y="173387"/>
                    <a:pt x="403912" y="193450"/>
                  </a:cubicBezTo>
                  <a:cubicBezTo>
                    <a:pt x="381620" y="224642"/>
                    <a:pt x="345103" y="245144"/>
                    <a:pt x="303892" y="245144"/>
                  </a:cubicBezTo>
                  <a:cubicBezTo>
                    <a:pt x="236137" y="245144"/>
                    <a:pt x="181141" y="190082"/>
                    <a:pt x="181141" y="122572"/>
                  </a:cubicBezTo>
                  <a:cubicBezTo>
                    <a:pt x="181141" y="55062"/>
                    <a:pt x="236137" y="0"/>
                    <a:pt x="303892" y="0"/>
                  </a:cubicBezTo>
                  <a:close/>
                </a:path>
              </a:pathLst>
            </a:custGeom>
            <a:solidFill>
              <a:srgbClr val="FFFFFF"/>
            </a:solidFill>
            <a:ln w="9525">
              <a:noFill/>
              <a:round/>
            </a:ln>
          </p:spPr>
          <p:txBody>
            <a:bodyPr wrap="square" lIns="91440" tIns="45720" rIns="91440" bIns="45720"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endParaRPr sz="1200" dirty="0">
                <a:cs typeface="+mn-ea"/>
                <a:sym typeface="+mn-lt"/>
              </a:endParaRPr>
            </a:p>
          </p:txBody>
        </p:sp>
        <p:sp>
          <p:nvSpPr>
            <p:cNvPr id="250" name="椭圆 249">
              <a:extLst>
                <a:ext uri="{FF2B5EF4-FFF2-40B4-BE49-F238E27FC236}">
                  <a16:creationId xmlns:a16="http://schemas.microsoft.com/office/drawing/2014/main" id="{023F41AA-4048-2F47-E548-54181F5F0F13}"/>
                </a:ext>
              </a:extLst>
            </p:cNvPr>
            <p:cNvSpPr/>
            <p:nvPr/>
          </p:nvSpPr>
          <p:spPr>
            <a:xfrm>
              <a:off x="1092197" y="5539336"/>
              <a:ext cx="10064756" cy="594764"/>
            </a:xfrm>
            <a:prstGeom prst="ellipse">
              <a:avLst/>
            </a:prstGeom>
            <a:gradFill flip="none" rotWithShape="1">
              <a:gsLst>
                <a:gs pos="0">
                  <a:schemeClr val="accent1">
                    <a:alpha val="0"/>
                  </a:schemeClr>
                </a:gs>
                <a:gs pos="100000">
                  <a:schemeClr val="accent1">
                    <a:alpha val="15000"/>
                  </a:schemeClr>
                </a:gs>
              </a:gsLst>
              <a:lin ang="5400000" scaled="1"/>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ym typeface="+mn-lt"/>
              </a:endParaRPr>
            </a:p>
          </p:txBody>
        </p:sp>
        <p:sp>
          <p:nvSpPr>
            <p:cNvPr id="251" name="箭头: 下 250">
              <a:extLst>
                <a:ext uri="{FF2B5EF4-FFF2-40B4-BE49-F238E27FC236}">
                  <a16:creationId xmlns:a16="http://schemas.microsoft.com/office/drawing/2014/main" id="{7B43E429-C497-7C43-FF3D-C95039527ED6}"/>
                </a:ext>
              </a:extLst>
            </p:cNvPr>
            <p:cNvSpPr>
              <a:spLocks/>
            </p:cNvSpPr>
            <p:nvPr/>
          </p:nvSpPr>
          <p:spPr>
            <a:xfrm>
              <a:off x="11317287" y="1130300"/>
              <a:ext cx="201613" cy="5003800"/>
            </a:xfrm>
            <a:prstGeom prst="downArrow">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2" name="箭头: 下 251">
              <a:extLst>
                <a:ext uri="{FF2B5EF4-FFF2-40B4-BE49-F238E27FC236}">
                  <a16:creationId xmlns:a16="http://schemas.microsoft.com/office/drawing/2014/main" id="{C6AB1DAF-E1D7-C9BB-8812-20EE18ED3000}"/>
                </a:ext>
              </a:extLst>
            </p:cNvPr>
            <p:cNvSpPr>
              <a:spLocks/>
            </p:cNvSpPr>
            <p:nvPr/>
          </p:nvSpPr>
          <p:spPr>
            <a:xfrm flipH="1">
              <a:off x="660398" y="1130300"/>
              <a:ext cx="201613" cy="5003800"/>
            </a:xfrm>
            <a:prstGeom prst="downArrow">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3" name="Title">
              <a:extLst>
                <a:ext uri="{FF2B5EF4-FFF2-40B4-BE49-F238E27FC236}">
                  <a16:creationId xmlns:a16="http://schemas.microsoft.com/office/drawing/2014/main" id="{D78A4A21-41D3-883E-30E0-A26D110D62F0}"/>
                </a:ext>
              </a:extLst>
            </p:cNvPr>
            <p:cNvSpPr>
              <a:spLocks/>
            </p:cNvSpPr>
            <p:nvPr/>
          </p:nvSpPr>
          <p:spPr>
            <a:xfrm>
              <a:off x="695325" y="5539336"/>
              <a:ext cx="10858500" cy="594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rPr>
                <a:t>如何利用数据分析指导业务决策</a:t>
              </a:r>
              <a:endParaRPr lang="en-US" dirty="0"/>
            </a:p>
          </p:txBody>
        </p:sp>
        <p:grpSp>
          <p:nvGrpSpPr>
            <p:cNvPr id="254" name="组合 253">
              <a:extLst>
                <a:ext uri="{FF2B5EF4-FFF2-40B4-BE49-F238E27FC236}">
                  <a16:creationId xmlns:a16="http://schemas.microsoft.com/office/drawing/2014/main" id="{36A9A459-0576-4316-94BB-3ACA89154115}"/>
                </a:ext>
              </a:extLst>
            </p:cNvPr>
            <p:cNvGrpSpPr/>
            <p:nvPr/>
          </p:nvGrpSpPr>
          <p:grpSpPr>
            <a:xfrm>
              <a:off x="850023" y="1130300"/>
              <a:ext cx="3538539" cy="1040681"/>
              <a:chOff x="850023" y="1130300"/>
              <a:chExt cx="3538539" cy="1040681"/>
            </a:xfrm>
          </p:grpSpPr>
          <p:sp>
            <p:nvSpPr>
              <p:cNvPr id="276" name="Text1">
                <a:extLst>
                  <a:ext uri="{FF2B5EF4-FFF2-40B4-BE49-F238E27FC236}">
                    <a16:creationId xmlns:a16="http://schemas.microsoft.com/office/drawing/2014/main" id="{18783617-A68F-9B54-B1B2-1AD0E0A6C941}"/>
                  </a:ext>
                </a:extLst>
              </p:cNvPr>
              <p:cNvSpPr txBox="1">
                <a:spLocks/>
              </p:cNvSpPr>
              <p:nvPr/>
            </p:nvSpPr>
            <p:spPr>
              <a:xfrm>
                <a:off x="850023" y="1553273"/>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收集和整理来自不同渠道的数据，确保数据的准确性和完整性，为后续分析奠定坚实基础。</a:t>
                </a:r>
                <a:endParaRPr lang="en-US" dirty="0"/>
              </a:p>
            </p:txBody>
          </p:sp>
          <p:sp>
            <p:nvSpPr>
              <p:cNvPr id="277" name="Bullet1">
                <a:extLst>
                  <a:ext uri="{FF2B5EF4-FFF2-40B4-BE49-F238E27FC236}">
                    <a16:creationId xmlns:a16="http://schemas.microsoft.com/office/drawing/2014/main" id="{DB149B00-8D86-CBF2-CC00-F66940F5032A}"/>
                  </a:ext>
                </a:extLst>
              </p:cNvPr>
              <p:cNvSpPr txBox="1">
                <a:spLocks/>
              </p:cNvSpPr>
              <p:nvPr/>
            </p:nvSpPr>
            <p:spPr>
              <a:xfrm>
                <a:off x="850023" y="1130300"/>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数据收集与整理</a:t>
                </a:r>
                <a:endParaRPr lang="en-US" dirty="0"/>
              </a:p>
            </p:txBody>
          </p:sp>
        </p:grpSp>
        <p:grpSp>
          <p:nvGrpSpPr>
            <p:cNvPr id="255" name="组合 254">
              <a:extLst>
                <a:ext uri="{FF2B5EF4-FFF2-40B4-BE49-F238E27FC236}">
                  <a16:creationId xmlns:a16="http://schemas.microsoft.com/office/drawing/2014/main" id="{7A6EEB90-9ECC-B5FA-480F-5FF648DEBD28}"/>
                </a:ext>
              </a:extLst>
            </p:cNvPr>
            <p:cNvGrpSpPr/>
            <p:nvPr/>
          </p:nvGrpSpPr>
          <p:grpSpPr>
            <a:xfrm>
              <a:off x="850023" y="2242952"/>
              <a:ext cx="3538539" cy="1040681"/>
              <a:chOff x="850023" y="2242952"/>
              <a:chExt cx="3538539" cy="1040681"/>
            </a:xfrm>
          </p:grpSpPr>
          <p:sp>
            <p:nvSpPr>
              <p:cNvPr id="274" name="Text2">
                <a:extLst>
                  <a:ext uri="{FF2B5EF4-FFF2-40B4-BE49-F238E27FC236}">
                    <a16:creationId xmlns:a16="http://schemas.microsoft.com/office/drawing/2014/main" id="{E16007D7-BBCC-FD6C-52F1-0FE40C6A04A4}"/>
                  </a:ext>
                </a:extLst>
              </p:cNvPr>
              <p:cNvSpPr txBox="1">
                <a:spLocks/>
              </p:cNvSpPr>
              <p:nvPr/>
            </p:nvSpPr>
            <p:spPr>
              <a:xfrm>
                <a:off x="850023" y="2665925"/>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根据业务需求选择合适的分析方法，如回归分析、聚类分析等，以提取有价值的信息。</a:t>
                </a:r>
                <a:endParaRPr lang="en-US" dirty="0"/>
              </a:p>
            </p:txBody>
          </p:sp>
          <p:sp>
            <p:nvSpPr>
              <p:cNvPr id="275" name="Bullet2">
                <a:extLst>
                  <a:ext uri="{FF2B5EF4-FFF2-40B4-BE49-F238E27FC236}">
                    <a16:creationId xmlns:a16="http://schemas.microsoft.com/office/drawing/2014/main" id="{E604C358-94BC-7F77-F8C0-2FC4083E337E}"/>
                  </a:ext>
                </a:extLst>
              </p:cNvPr>
              <p:cNvSpPr txBox="1">
                <a:spLocks/>
              </p:cNvSpPr>
              <p:nvPr/>
            </p:nvSpPr>
            <p:spPr>
              <a:xfrm>
                <a:off x="850023" y="2242952"/>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数据分析方法选择</a:t>
                </a:r>
                <a:endParaRPr lang="en-US" dirty="0"/>
              </a:p>
            </p:txBody>
          </p:sp>
        </p:grpSp>
        <p:grpSp>
          <p:nvGrpSpPr>
            <p:cNvPr id="256" name="组合 255">
              <a:extLst>
                <a:ext uri="{FF2B5EF4-FFF2-40B4-BE49-F238E27FC236}">
                  <a16:creationId xmlns:a16="http://schemas.microsoft.com/office/drawing/2014/main" id="{5E4473C2-486D-62C1-47BA-45B298AD7735}"/>
                </a:ext>
              </a:extLst>
            </p:cNvPr>
            <p:cNvGrpSpPr/>
            <p:nvPr/>
          </p:nvGrpSpPr>
          <p:grpSpPr>
            <a:xfrm>
              <a:off x="850023" y="3355604"/>
              <a:ext cx="3538539" cy="1040681"/>
              <a:chOff x="850023" y="3355604"/>
              <a:chExt cx="3538539" cy="1040681"/>
            </a:xfrm>
          </p:grpSpPr>
          <p:sp>
            <p:nvSpPr>
              <p:cNvPr id="272" name="Text3">
                <a:extLst>
                  <a:ext uri="{FF2B5EF4-FFF2-40B4-BE49-F238E27FC236}">
                    <a16:creationId xmlns:a16="http://schemas.microsoft.com/office/drawing/2014/main" id="{E70BE0B4-1E4C-EC8B-1889-347D0480AB3A}"/>
                  </a:ext>
                </a:extLst>
              </p:cNvPr>
              <p:cNvSpPr txBox="1">
                <a:spLocks/>
              </p:cNvSpPr>
              <p:nvPr/>
            </p:nvSpPr>
            <p:spPr>
              <a:xfrm>
                <a:off x="850023" y="3778577"/>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确定影响业务的关键绩效指标（KPI），通过数据分析找出改进业务的核心点。</a:t>
                </a:r>
                <a:endParaRPr lang="en-US" dirty="0"/>
              </a:p>
            </p:txBody>
          </p:sp>
          <p:sp>
            <p:nvSpPr>
              <p:cNvPr id="273" name="Bullet3">
                <a:extLst>
                  <a:ext uri="{FF2B5EF4-FFF2-40B4-BE49-F238E27FC236}">
                    <a16:creationId xmlns:a16="http://schemas.microsoft.com/office/drawing/2014/main" id="{D57AEF8D-8FBE-7959-CF9E-5D3928BCDB22}"/>
                  </a:ext>
                </a:extLst>
              </p:cNvPr>
              <p:cNvSpPr txBox="1">
                <a:spLocks/>
              </p:cNvSpPr>
              <p:nvPr/>
            </p:nvSpPr>
            <p:spPr>
              <a:xfrm>
                <a:off x="850023" y="3355604"/>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关键指标识别</a:t>
                </a:r>
                <a:endParaRPr lang="en-US" dirty="0"/>
              </a:p>
            </p:txBody>
          </p:sp>
        </p:grpSp>
        <p:grpSp>
          <p:nvGrpSpPr>
            <p:cNvPr id="257" name="组合 256">
              <a:extLst>
                <a:ext uri="{FF2B5EF4-FFF2-40B4-BE49-F238E27FC236}">
                  <a16:creationId xmlns:a16="http://schemas.microsoft.com/office/drawing/2014/main" id="{3E29498E-6041-5BFE-DD33-1F4764C13CDB}"/>
                </a:ext>
              </a:extLst>
            </p:cNvPr>
            <p:cNvGrpSpPr/>
            <p:nvPr/>
          </p:nvGrpSpPr>
          <p:grpSpPr>
            <a:xfrm>
              <a:off x="850023" y="4468255"/>
              <a:ext cx="3538539" cy="1040681"/>
              <a:chOff x="850023" y="4468255"/>
              <a:chExt cx="3538539" cy="1040681"/>
            </a:xfrm>
          </p:grpSpPr>
          <p:sp>
            <p:nvSpPr>
              <p:cNvPr id="270" name="Text4">
                <a:extLst>
                  <a:ext uri="{FF2B5EF4-FFF2-40B4-BE49-F238E27FC236}">
                    <a16:creationId xmlns:a16="http://schemas.microsoft.com/office/drawing/2014/main" id="{12BA4D05-6A5C-88FF-F684-64A630EFAC21}"/>
                  </a:ext>
                </a:extLst>
              </p:cNvPr>
              <p:cNvSpPr txBox="1">
                <a:spLocks/>
              </p:cNvSpPr>
              <p:nvPr/>
            </p:nvSpPr>
            <p:spPr>
              <a:xfrm>
                <a:off x="850023" y="4891228"/>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利用历史数据进行趋势预测，帮助团队提前识别市场变化并制定应对策略。</a:t>
                </a:r>
                <a:endParaRPr lang="en-US" dirty="0"/>
              </a:p>
            </p:txBody>
          </p:sp>
          <p:sp>
            <p:nvSpPr>
              <p:cNvPr id="271" name="Bullet4">
                <a:extLst>
                  <a:ext uri="{FF2B5EF4-FFF2-40B4-BE49-F238E27FC236}">
                    <a16:creationId xmlns:a16="http://schemas.microsoft.com/office/drawing/2014/main" id="{B80764EF-D6E1-AB09-9C99-29574559E096}"/>
                  </a:ext>
                </a:extLst>
              </p:cNvPr>
              <p:cNvSpPr txBox="1">
                <a:spLocks/>
              </p:cNvSpPr>
              <p:nvPr/>
            </p:nvSpPr>
            <p:spPr>
              <a:xfrm>
                <a:off x="850023" y="4468255"/>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趋势预测与洞察</a:t>
                </a:r>
                <a:endParaRPr lang="en-US" dirty="0"/>
              </a:p>
            </p:txBody>
          </p:sp>
        </p:grpSp>
        <p:grpSp>
          <p:nvGrpSpPr>
            <p:cNvPr id="258" name="组合 257">
              <a:extLst>
                <a:ext uri="{FF2B5EF4-FFF2-40B4-BE49-F238E27FC236}">
                  <a16:creationId xmlns:a16="http://schemas.microsoft.com/office/drawing/2014/main" id="{40CDE441-1753-EB5A-B70F-9CBD950E75CB}"/>
                </a:ext>
              </a:extLst>
            </p:cNvPr>
            <p:cNvGrpSpPr/>
            <p:nvPr/>
          </p:nvGrpSpPr>
          <p:grpSpPr>
            <a:xfrm>
              <a:off x="7790736" y="1130300"/>
              <a:ext cx="3538539" cy="1040681"/>
              <a:chOff x="7790736" y="1130300"/>
              <a:chExt cx="3538539" cy="1040681"/>
            </a:xfrm>
          </p:grpSpPr>
          <p:sp>
            <p:nvSpPr>
              <p:cNvPr id="268" name="Text5">
                <a:extLst>
                  <a:ext uri="{FF2B5EF4-FFF2-40B4-BE49-F238E27FC236}">
                    <a16:creationId xmlns:a16="http://schemas.microsoft.com/office/drawing/2014/main" id="{DE9F03BF-17CB-7ED4-C80C-F04226A71750}"/>
                  </a:ext>
                </a:extLst>
              </p:cNvPr>
              <p:cNvSpPr txBox="1">
                <a:spLocks/>
              </p:cNvSpPr>
              <p:nvPr/>
            </p:nvSpPr>
            <p:spPr>
              <a:xfrm flipH="1">
                <a:off x="7790736" y="1553273"/>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使用数据驱动的决策支持工具，将复杂数据转化为直观图表，辅助管理层快速决策。</a:t>
                </a:r>
                <a:endParaRPr lang="en-US" dirty="0"/>
              </a:p>
            </p:txBody>
          </p:sp>
          <p:sp>
            <p:nvSpPr>
              <p:cNvPr id="269" name="Bullet5">
                <a:extLst>
                  <a:ext uri="{FF2B5EF4-FFF2-40B4-BE49-F238E27FC236}">
                    <a16:creationId xmlns:a16="http://schemas.microsoft.com/office/drawing/2014/main" id="{915FDA83-0C0A-0E68-D816-A36453EAF7DB}"/>
                  </a:ext>
                </a:extLst>
              </p:cNvPr>
              <p:cNvSpPr txBox="1">
                <a:spLocks/>
              </p:cNvSpPr>
              <p:nvPr/>
            </p:nvSpPr>
            <p:spPr>
              <a:xfrm flipH="1">
                <a:off x="7790736" y="1130300"/>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决策支持系统应用</a:t>
                </a:r>
                <a:endParaRPr lang="en-US" dirty="0"/>
              </a:p>
            </p:txBody>
          </p:sp>
        </p:grpSp>
        <p:grpSp>
          <p:nvGrpSpPr>
            <p:cNvPr id="259" name="组合 258">
              <a:extLst>
                <a:ext uri="{FF2B5EF4-FFF2-40B4-BE49-F238E27FC236}">
                  <a16:creationId xmlns:a16="http://schemas.microsoft.com/office/drawing/2014/main" id="{BA128B0E-9D70-D406-3EF8-2C6E4589D19B}"/>
                </a:ext>
              </a:extLst>
            </p:cNvPr>
            <p:cNvGrpSpPr/>
            <p:nvPr/>
          </p:nvGrpSpPr>
          <p:grpSpPr>
            <a:xfrm>
              <a:off x="7790736" y="2242952"/>
              <a:ext cx="3538539" cy="1040681"/>
              <a:chOff x="7790736" y="2242952"/>
              <a:chExt cx="3538539" cy="1040681"/>
            </a:xfrm>
          </p:grpSpPr>
          <p:sp>
            <p:nvSpPr>
              <p:cNvPr id="266" name="Text6">
                <a:extLst>
                  <a:ext uri="{FF2B5EF4-FFF2-40B4-BE49-F238E27FC236}">
                    <a16:creationId xmlns:a16="http://schemas.microsoft.com/office/drawing/2014/main" id="{A45B6445-CE9F-E060-F68B-D85240B80B4A}"/>
                  </a:ext>
                </a:extLst>
              </p:cNvPr>
              <p:cNvSpPr txBox="1">
                <a:spLocks/>
              </p:cNvSpPr>
              <p:nvPr/>
            </p:nvSpPr>
            <p:spPr>
              <a:xfrm flipH="1">
                <a:off x="7790736" y="2665925"/>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基于数据分析结果评估潜在风险，并设计相应的风险管理方案以降低不确定性。</a:t>
                </a:r>
                <a:endParaRPr lang="en-US" dirty="0"/>
              </a:p>
            </p:txBody>
          </p:sp>
          <p:sp>
            <p:nvSpPr>
              <p:cNvPr id="267" name="Bullet6">
                <a:extLst>
                  <a:ext uri="{FF2B5EF4-FFF2-40B4-BE49-F238E27FC236}">
                    <a16:creationId xmlns:a16="http://schemas.microsoft.com/office/drawing/2014/main" id="{212B8DF4-CEA1-2DD6-8013-4C063C914445}"/>
                  </a:ext>
                </a:extLst>
              </p:cNvPr>
              <p:cNvSpPr txBox="1">
                <a:spLocks/>
              </p:cNvSpPr>
              <p:nvPr/>
            </p:nvSpPr>
            <p:spPr>
              <a:xfrm flipH="1">
                <a:off x="7790736" y="2242952"/>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风险评估与管理</a:t>
                </a:r>
                <a:endParaRPr lang="en-US" dirty="0"/>
              </a:p>
            </p:txBody>
          </p:sp>
        </p:grpSp>
        <p:grpSp>
          <p:nvGrpSpPr>
            <p:cNvPr id="260" name="组合 259">
              <a:extLst>
                <a:ext uri="{FF2B5EF4-FFF2-40B4-BE49-F238E27FC236}">
                  <a16:creationId xmlns:a16="http://schemas.microsoft.com/office/drawing/2014/main" id="{1F56D73A-6DF2-3872-800A-5560676AEDC4}"/>
                </a:ext>
              </a:extLst>
            </p:cNvPr>
            <p:cNvGrpSpPr/>
            <p:nvPr/>
          </p:nvGrpSpPr>
          <p:grpSpPr>
            <a:xfrm>
              <a:off x="7790736" y="3355604"/>
              <a:ext cx="3538539" cy="1040681"/>
              <a:chOff x="7790736" y="3355604"/>
              <a:chExt cx="3538539" cy="1040681"/>
            </a:xfrm>
          </p:grpSpPr>
          <p:sp>
            <p:nvSpPr>
              <p:cNvPr id="264" name="Text7">
                <a:extLst>
                  <a:ext uri="{FF2B5EF4-FFF2-40B4-BE49-F238E27FC236}">
                    <a16:creationId xmlns:a16="http://schemas.microsoft.com/office/drawing/2014/main" id="{54EB663C-B055-264B-DB13-6287401ECF31}"/>
                  </a:ext>
                </a:extLst>
              </p:cNvPr>
              <p:cNvSpPr txBox="1">
                <a:spLocks/>
              </p:cNvSpPr>
              <p:nvPr/>
            </p:nvSpPr>
            <p:spPr>
              <a:xfrm flipH="1">
                <a:off x="7790736" y="3778577"/>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定期跟踪基于数据分析做出的决策实施效果，持续优化分析模型和业务流程。</a:t>
                </a:r>
                <a:endParaRPr lang="en-US" dirty="0"/>
              </a:p>
            </p:txBody>
          </p:sp>
          <p:sp>
            <p:nvSpPr>
              <p:cNvPr id="265" name="Bullet7">
                <a:extLst>
                  <a:ext uri="{FF2B5EF4-FFF2-40B4-BE49-F238E27FC236}">
                    <a16:creationId xmlns:a16="http://schemas.microsoft.com/office/drawing/2014/main" id="{7B22426E-F2C0-6DCA-2503-23A6BC07E57F}"/>
                  </a:ext>
                </a:extLst>
              </p:cNvPr>
              <p:cNvSpPr txBox="1">
                <a:spLocks/>
              </p:cNvSpPr>
              <p:nvPr/>
            </p:nvSpPr>
            <p:spPr>
              <a:xfrm flipH="1">
                <a:off x="7790736" y="3355604"/>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实施效果跟踪</a:t>
                </a:r>
                <a:endParaRPr lang="en-US" dirty="0"/>
              </a:p>
            </p:txBody>
          </p:sp>
        </p:grpSp>
        <p:grpSp>
          <p:nvGrpSpPr>
            <p:cNvPr id="261" name="组合 260">
              <a:extLst>
                <a:ext uri="{FF2B5EF4-FFF2-40B4-BE49-F238E27FC236}">
                  <a16:creationId xmlns:a16="http://schemas.microsoft.com/office/drawing/2014/main" id="{1B6CE6C0-B50A-07D2-8FE5-497445852E74}"/>
                </a:ext>
              </a:extLst>
            </p:cNvPr>
            <p:cNvGrpSpPr/>
            <p:nvPr/>
          </p:nvGrpSpPr>
          <p:grpSpPr>
            <a:xfrm>
              <a:off x="7790736" y="4468255"/>
              <a:ext cx="3538539" cy="1040681"/>
              <a:chOff x="7790736" y="4468255"/>
              <a:chExt cx="3538539" cy="1040681"/>
            </a:xfrm>
          </p:grpSpPr>
          <p:sp>
            <p:nvSpPr>
              <p:cNvPr id="262" name="Text8">
                <a:extLst>
                  <a:ext uri="{FF2B5EF4-FFF2-40B4-BE49-F238E27FC236}">
                    <a16:creationId xmlns:a16="http://schemas.microsoft.com/office/drawing/2014/main" id="{BA0EF7E5-361C-EA96-CB4C-DA0522FED89B}"/>
                  </a:ext>
                </a:extLst>
              </p:cNvPr>
              <p:cNvSpPr txBox="1">
                <a:spLocks/>
              </p:cNvSpPr>
              <p:nvPr/>
            </p:nvSpPr>
            <p:spPr>
              <a:xfrm flipH="1">
                <a:off x="7790736" y="4891228"/>
                <a:ext cx="3538539" cy="6177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000" dirty="0">
                    <a:cs typeface="+mn-ea"/>
                    <a:sym typeface="+mn-lt"/>
                  </a:rPr>
                  <a:t>加强跨部门协作，确保数据分析结果能够被有效理解和应用于实际业务场景中。</a:t>
                </a:r>
                <a:endParaRPr lang="en-US" dirty="0"/>
              </a:p>
            </p:txBody>
          </p:sp>
          <p:sp>
            <p:nvSpPr>
              <p:cNvPr id="263" name="Bullet8">
                <a:extLst>
                  <a:ext uri="{FF2B5EF4-FFF2-40B4-BE49-F238E27FC236}">
                    <a16:creationId xmlns:a16="http://schemas.microsoft.com/office/drawing/2014/main" id="{F6F49C65-0818-4A05-2507-047077415B88}"/>
                  </a:ext>
                </a:extLst>
              </p:cNvPr>
              <p:cNvSpPr txBox="1">
                <a:spLocks/>
              </p:cNvSpPr>
              <p:nvPr/>
            </p:nvSpPr>
            <p:spPr>
              <a:xfrm flipH="1">
                <a:off x="7790736" y="4468255"/>
                <a:ext cx="3538539" cy="422971"/>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cs typeface="+mn-ea"/>
                    <a:sym typeface="+mn-lt"/>
                  </a:rPr>
                  <a:t>团队协作与沟通</a:t>
                </a:r>
                <a:endParaRPr lang="en-US" dirty="0"/>
              </a:p>
            </p:txBody>
          </p:sp>
        </p:grpSp>
      </p:grpSp>
      <p:sp>
        <p:nvSpPr>
          <p:cNvPr id="2" name="标题 1"/>
          <p:cNvSpPr>
            <a:spLocks noGrp="1"/>
          </p:cNvSpPr>
          <p:nvPr>
            <p:ph type="title" hasCustomPrompt="1"/>
          </p:nvPr>
        </p:nvSpPr>
        <p:spPr/>
        <p:txBody>
          <a:bodyPr/>
          <a:lstStyle/>
          <a:p>
            <a:r>
              <a:rPr lang="zh-CN" altLang="en-US" dirty="0"/>
              <a:t>数据驱动决策</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solidFill>
                  <a:schemeClr val="accent1"/>
                </a:solidFill>
              </a:rPr>
              <a:t>团队建设</a:t>
            </a:r>
            <a:r>
              <a:rPr lang="zh-CN" altLang="en-US" dirty="0"/>
              <a:t>与人才培养</a:t>
            </a:r>
            <a:endParaRPr lang="en-US" dirty="0"/>
          </a:p>
        </p:txBody>
      </p:sp>
      <p:sp>
        <p:nvSpPr>
          <p:cNvPr id="25" name="文本占位符 24"/>
          <p:cNvSpPr>
            <a:spLocks noGrp="1"/>
          </p:cNvSpPr>
          <p:nvPr>
            <p:ph type="body" sz="quarter" idx="1" hasCustomPrompt="1"/>
          </p:nvPr>
        </p:nvSpPr>
        <p:spPr/>
        <p:txBody>
          <a:bodyPr/>
          <a:lstStyle/>
          <a:p>
            <a:r>
              <a:rPr lang="zh-CN" altLang="en-US" dirty="0"/>
              <a:t>探讨团队建设与人才发展的重要意义</a:t>
            </a:r>
            <a:endParaRPr lang="en-US" dirty="0"/>
          </a:p>
        </p:txBody>
      </p:sp>
      <p:sp>
        <p:nvSpPr>
          <p:cNvPr id="2" name="文本框 1">
            <a:extLst>
              <a:ext uri="{FF2B5EF4-FFF2-40B4-BE49-F238E27FC236}">
                <a16:creationId xmlns:a16="http://schemas.microsoft.com/office/drawing/2014/main" id="{36DA1025-CDE8-2F89-EF45-8F3E99B0170E}"/>
              </a:ext>
            </a:extLst>
          </p:cNvPr>
          <p:cNvSpPr txBox="1"/>
          <p:nvPr/>
        </p:nvSpPr>
        <p:spPr>
          <a:xfrm>
            <a:off x="660400" y="1944031"/>
            <a:ext cx="3410857" cy="1323439"/>
          </a:xfrm>
          <a:prstGeom prst="rect">
            <a:avLst/>
          </a:prstGeom>
          <a:noFill/>
        </p:spPr>
        <p:txBody>
          <a:bodyPr wrap="square" rtlCol="0">
            <a:spAutoFit/>
          </a:bodyPr>
          <a:lstStyle/>
          <a:p>
            <a:r>
              <a:rPr lang="en-US" altLang="zh-CN" sz="8000" b="1" dirty="0">
                <a:solidFill>
                  <a:schemeClr val="accent1"/>
                </a:solidFill>
              </a:rPr>
              <a:t>03.</a:t>
            </a:r>
            <a:endParaRPr lang="zh-CN" altLang="en-US" sz="8000" b="1"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BBD15EF-C4D8-F507-B882-DF3EBDDC2ACE}"/>
              </a:ext>
            </a:extLst>
          </p:cNvPr>
          <p:cNvGrpSpPr/>
          <p:nvPr/>
        </p:nvGrpSpPr>
        <p:grpSpPr>
          <a:xfrm>
            <a:off x="660400" y="1130300"/>
            <a:ext cx="10871200" cy="5041392"/>
            <a:chOff x="660400" y="1130300"/>
            <a:chExt cx="10871200" cy="5041392"/>
          </a:xfrm>
        </p:grpSpPr>
        <p:sp>
          <p:nvSpPr>
            <p:cNvPr id="3" name="ComponentBackground1">
              <a:extLst>
                <a:ext uri="{FF2B5EF4-FFF2-40B4-BE49-F238E27FC236}">
                  <a16:creationId xmlns:a16="http://schemas.microsoft.com/office/drawing/2014/main" id="{03AE4985-D5C4-8789-00BA-CFFC897D10A3}"/>
                </a:ext>
              </a:extLst>
            </p:cNvPr>
            <p:cNvSpPr/>
            <p:nvPr/>
          </p:nvSpPr>
          <p:spPr>
            <a:xfrm>
              <a:off x="3246120" y="1130300"/>
              <a:ext cx="8285480" cy="5041392"/>
            </a:xfrm>
            <a:prstGeom prst="roundRect">
              <a:avLst>
                <a:gd name="adj" fmla="val 8505"/>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4" name="5dd4b203-4cbf-4787-82b6-4f258421dc50.source.5.zh-Hans.pptx">
              <a:extLst>
                <a:ext uri="{FF2B5EF4-FFF2-40B4-BE49-F238E27FC236}">
                  <a16:creationId xmlns:a16="http://schemas.microsoft.com/office/drawing/2014/main" id="{BA65A578-04EF-E0D5-9C67-2A6926B0805E}"/>
                </a:ext>
              </a:extLst>
            </p:cNvPr>
            <p:cNvGrpSpPr/>
            <p:nvPr/>
          </p:nvGrpSpPr>
          <p:grpSpPr>
            <a:xfrm>
              <a:off x="660400" y="1130300"/>
              <a:ext cx="10858500" cy="5003800"/>
              <a:chOff x="660400" y="1130300"/>
              <a:chExt cx="10858500" cy="5003800"/>
            </a:xfrm>
          </p:grpSpPr>
          <p:sp>
            <p:nvSpPr>
              <p:cNvPr id="18" name="Title">
                <a:extLst>
                  <a:ext uri="{FF2B5EF4-FFF2-40B4-BE49-F238E27FC236}">
                    <a16:creationId xmlns:a16="http://schemas.microsoft.com/office/drawing/2014/main" id="{76405153-8A09-1FA1-5AB2-A20D15F81501}"/>
                  </a:ext>
                </a:extLst>
              </p:cNvPr>
              <p:cNvSpPr txBox="1"/>
              <p:nvPr/>
            </p:nvSpPr>
            <p:spPr>
              <a:xfrm>
                <a:off x="660400" y="2806700"/>
                <a:ext cx="2463800" cy="1651000"/>
              </a:xfrm>
              <a:prstGeom prst="rect">
                <a:avLst/>
              </a:prstGeom>
              <a:noFill/>
            </p:spPr>
            <p:txBody>
              <a:bodyPr vert="horz" wrap="square" rtlCol="0" anchor="ctr" anchorCtr="0">
                <a:normAutofit/>
              </a:bodyPr>
              <a:lstStyle/>
              <a:p>
                <a:r>
                  <a:rPr lang="zh-CN" altLang="en-US" sz="2400" b="1" dirty="0">
                    <a:cs typeface="+mn-ea"/>
                    <a:sym typeface="+mn-lt"/>
                  </a:rPr>
                  <a:t>针对员工能力提升的培训计划与效果</a:t>
                </a:r>
                <a:endParaRPr lang="en-US" dirty="0"/>
              </a:p>
            </p:txBody>
          </p:sp>
          <p:grpSp>
            <p:nvGrpSpPr>
              <p:cNvPr id="40" name="组合 39">
                <a:extLst>
                  <a:ext uri="{FF2B5EF4-FFF2-40B4-BE49-F238E27FC236}">
                    <a16:creationId xmlns:a16="http://schemas.microsoft.com/office/drawing/2014/main" id="{ED777E75-9C1F-89AA-CD86-DD96783A82AD}"/>
                  </a:ext>
                </a:extLst>
              </p:cNvPr>
              <p:cNvGrpSpPr/>
              <p:nvPr/>
            </p:nvGrpSpPr>
            <p:grpSpPr>
              <a:xfrm>
                <a:off x="3466595" y="1130300"/>
                <a:ext cx="8052305" cy="775390"/>
                <a:chOff x="3466595" y="1130300"/>
                <a:chExt cx="8052305" cy="775390"/>
              </a:xfrm>
            </p:grpSpPr>
            <p:cxnSp>
              <p:nvCxnSpPr>
                <p:cNvPr id="54" name="Shape1">
                  <a:extLst>
                    <a:ext uri="{FF2B5EF4-FFF2-40B4-BE49-F238E27FC236}">
                      <a16:creationId xmlns:a16="http://schemas.microsoft.com/office/drawing/2014/main" id="{F793D3C3-1D3A-EF72-E60C-461946D5B97F}"/>
                    </a:ext>
                  </a:extLst>
                </p:cNvPr>
                <p:cNvCxnSpPr>
                  <a:cxnSpLocks/>
                </p:cNvCxnSpPr>
                <p:nvPr/>
              </p:nvCxnSpPr>
              <p:spPr>
                <a:xfrm rot="5400000" flipH="1">
                  <a:off x="3242601" y="1517995"/>
                  <a:ext cx="4479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Bullet1">
                  <a:extLst>
                    <a:ext uri="{FF2B5EF4-FFF2-40B4-BE49-F238E27FC236}">
                      <a16:creationId xmlns:a16="http://schemas.microsoft.com/office/drawing/2014/main" id="{0053628D-3299-2C97-7F7E-36D2557FE9C9}"/>
                    </a:ext>
                  </a:extLst>
                </p:cNvPr>
                <p:cNvSpPr txBox="1"/>
                <p:nvPr/>
              </p:nvSpPr>
              <p:spPr>
                <a:xfrm>
                  <a:off x="3505201" y="1130300"/>
                  <a:ext cx="2197099" cy="775390"/>
                </a:xfrm>
                <a:prstGeom prst="rect">
                  <a:avLst/>
                </a:prstGeom>
                <a:noFill/>
              </p:spPr>
              <p:txBody>
                <a:bodyPr wrap="square" rtlCol="0" anchor="ctr" anchorCtr="0">
                  <a:normAutofit/>
                </a:bodyPr>
                <a:lstStyle/>
                <a:p>
                  <a:pPr>
                    <a:lnSpc>
                      <a:spcPct val="120000"/>
                    </a:lnSpc>
                  </a:pPr>
                  <a:r>
                    <a:rPr lang="zh-CN" altLang="en-US" b="1" dirty="0">
                      <a:cs typeface="+mn-ea"/>
                      <a:sym typeface="+mn-lt"/>
                    </a:rPr>
                    <a:t>培训需求分析</a:t>
                  </a:r>
                  <a:endParaRPr lang="en-US" dirty="0"/>
                </a:p>
              </p:txBody>
            </p:sp>
            <p:sp>
              <p:nvSpPr>
                <p:cNvPr id="53" name="Text1">
                  <a:extLst>
                    <a:ext uri="{FF2B5EF4-FFF2-40B4-BE49-F238E27FC236}">
                      <a16:creationId xmlns:a16="http://schemas.microsoft.com/office/drawing/2014/main" id="{FB112F1A-2AD8-8F68-AB0D-7239FFF5259C}"/>
                    </a:ext>
                  </a:extLst>
                </p:cNvPr>
                <p:cNvSpPr txBox="1"/>
                <p:nvPr/>
              </p:nvSpPr>
              <p:spPr>
                <a:xfrm>
                  <a:off x="5702299" y="1130300"/>
                  <a:ext cx="5816601" cy="775390"/>
                </a:xfrm>
                <a:prstGeom prst="rect">
                  <a:avLst/>
                </a:prstGeom>
                <a:noFill/>
              </p:spPr>
              <p:txBody>
                <a:bodyPr wrap="square" rtlCol="0" anchor="ctr" anchorCtr="0">
                  <a:normAutofit/>
                </a:bodyPr>
                <a:lstStyle/>
                <a:p>
                  <a:pPr>
                    <a:lnSpc>
                      <a:spcPct val="120000"/>
                    </a:lnSpc>
                  </a:pPr>
                  <a:r>
                    <a:rPr lang="zh-CN" altLang="en-US" sz="1200" dirty="0">
                      <a:cs typeface="+mn-ea"/>
                      <a:sym typeface="+mn-lt"/>
                    </a:rPr>
                    <a:t>针对不同岗位和员工能力水平，进行详细的培训需求调查，确保培训计划能够满足实际工作中的技能提升要求。</a:t>
                  </a:r>
                  <a:endParaRPr lang="en-US" dirty="0"/>
                </a:p>
              </p:txBody>
            </p:sp>
          </p:grpSp>
          <p:grpSp>
            <p:nvGrpSpPr>
              <p:cNvPr id="41" name="组合 40">
                <a:extLst>
                  <a:ext uri="{FF2B5EF4-FFF2-40B4-BE49-F238E27FC236}">
                    <a16:creationId xmlns:a16="http://schemas.microsoft.com/office/drawing/2014/main" id="{86D6043D-DCA5-4919-D406-D837550A1F3A}"/>
                  </a:ext>
                </a:extLst>
              </p:cNvPr>
              <p:cNvGrpSpPr/>
              <p:nvPr/>
            </p:nvGrpSpPr>
            <p:grpSpPr>
              <a:xfrm>
                <a:off x="3466595" y="2187402"/>
                <a:ext cx="8052305" cy="775390"/>
                <a:chOff x="3466595" y="1975982"/>
                <a:chExt cx="8052305" cy="775390"/>
              </a:xfrm>
            </p:grpSpPr>
            <p:cxnSp>
              <p:nvCxnSpPr>
                <p:cNvPr id="4" name="Shape2">
                  <a:extLst>
                    <a:ext uri="{FF2B5EF4-FFF2-40B4-BE49-F238E27FC236}">
                      <a16:creationId xmlns:a16="http://schemas.microsoft.com/office/drawing/2014/main" id="{1F5EC432-DE2A-0BDD-F548-005E9E041F9C}"/>
                    </a:ext>
                  </a:extLst>
                </p:cNvPr>
                <p:cNvCxnSpPr>
                  <a:cxnSpLocks/>
                </p:cNvCxnSpPr>
                <p:nvPr/>
              </p:nvCxnSpPr>
              <p:spPr>
                <a:xfrm rot="5400000" flipH="1">
                  <a:off x="3242601" y="2363677"/>
                  <a:ext cx="4479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Bullet2">
                  <a:extLst>
                    <a:ext uri="{FF2B5EF4-FFF2-40B4-BE49-F238E27FC236}">
                      <a16:creationId xmlns:a16="http://schemas.microsoft.com/office/drawing/2014/main" id="{449FB2E8-D7DE-A13A-718D-53ED8D0CE8D9}"/>
                    </a:ext>
                  </a:extLst>
                </p:cNvPr>
                <p:cNvSpPr txBox="1"/>
                <p:nvPr/>
              </p:nvSpPr>
              <p:spPr>
                <a:xfrm>
                  <a:off x="3505201" y="1975982"/>
                  <a:ext cx="2197099" cy="775390"/>
                </a:xfrm>
                <a:prstGeom prst="rect">
                  <a:avLst/>
                </a:prstGeom>
                <a:noFill/>
              </p:spPr>
              <p:txBody>
                <a:bodyPr wrap="square" rtlCol="0" anchor="ctr" anchorCtr="0">
                  <a:normAutofit/>
                </a:bodyPr>
                <a:lstStyle/>
                <a:p>
                  <a:pPr>
                    <a:lnSpc>
                      <a:spcPct val="120000"/>
                    </a:lnSpc>
                  </a:pPr>
                  <a:r>
                    <a:rPr lang="zh-CN" altLang="en-US" b="1" dirty="0">
                      <a:cs typeface="+mn-ea"/>
                      <a:sym typeface="+mn-lt"/>
                    </a:rPr>
                    <a:t>制定培训计划</a:t>
                  </a:r>
                  <a:endParaRPr lang="en-US" dirty="0"/>
                </a:p>
              </p:txBody>
            </p:sp>
            <p:sp>
              <p:nvSpPr>
                <p:cNvPr id="7" name="Text2">
                  <a:extLst>
                    <a:ext uri="{FF2B5EF4-FFF2-40B4-BE49-F238E27FC236}">
                      <a16:creationId xmlns:a16="http://schemas.microsoft.com/office/drawing/2014/main" id="{727FDE30-DE20-2A6E-9666-28A99E19FB10}"/>
                    </a:ext>
                  </a:extLst>
                </p:cNvPr>
                <p:cNvSpPr txBox="1"/>
                <p:nvPr/>
              </p:nvSpPr>
              <p:spPr>
                <a:xfrm>
                  <a:off x="5702299" y="1975982"/>
                  <a:ext cx="5816601" cy="775390"/>
                </a:xfrm>
                <a:prstGeom prst="rect">
                  <a:avLst/>
                </a:prstGeom>
                <a:noFill/>
              </p:spPr>
              <p:txBody>
                <a:bodyPr wrap="square" rtlCol="0" anchor="ctr" anchorCtr="0">
                  <a:normAutofit/>
                </a:bodyPr>
                <a:lstStyle/>
                <a:p>
                  <a:pPr>
                    <a:lnSpc>
                      <a:spcPct val="120000"/>
                    </a:lnSpc>
                  </a:pPr>
                  <a:r>
                    <a:rPr lang="zh-CN" altLang="en-US" sz="1200" dirty="0">
                      <a:cs typeface="+mn-ea"/>
                      <a:sym typeface="+mn-lt"/>
                    </a:rPr>
                    <a:t>根据需求分析结果，设计系统化的培训课程，包括理论学习、实操演练以及案例分享，全面提升员工的专业素养。</a:t>
                  </a:r>
                  <a:endParaRPr lang="en-US" dirty="0"/>
                </a:p>
              </p:txBody>
            </p:sp>
          </p:grpSp>
          <p:grpSp>
            <p:nvGrpSpPr>
              <p:cNvPr id="42" name="组合 41">
                <a:extLst>
                  <a:ext uri="{FF2B5EF4-FFF2-40B4-BE49-F238E27FC236}">
                    <a16:creationId xmlns:a16="http://schemas.microsoft.com/office/drawing/2014/main" id="{5146701A-A3FB-53FE-B8A4-9443AC2E19CF}"/>
                  </a:ext>
                </a:extLst>
              </p:cNvPr>
              <p:cNvGrpSpPr/>
              <p:nvPr/>
            </p:nvGrpSpPr>
            <p:grpSpPr>
              <a:xfrm>
                <a:off x="3466595" y="3244504"/>
                <a:ext cx="8052305" cy="775390"/>
                <a:chOff x="3466595" y="2821664"/>
                <a:chExt cx="8052305" cy="775390"/>
              </a:xfrm>
            </p:grpSpPr>
            <p:cxnSp>
              <p:nvCxnSpPr>
                <p:cNvPr id="9" name="Shape3">
                  <a:extLst>
                    <a:ext uri="{FF2B5EF4-FFF2-40B4-BE49-F238E27FC236}">
                      <a16:creationId xmlns:a16="http://schemas.microsoft.com/office/drawing/2014/main" id="{0A6E0038-FDE2-B6A1-E1DB-FE0D2ACF0043}"/>
                    </a:ext>
                  </a:extLst>
                </p:cNvPr>
                <p:cNvCxnSpPr>
                  <a:cxnSpLocks/>
                </p:cNvCxnSpPr>
                <p:nvPr/>
              </p:nvCxnSpPr>
              <p:spPr>
                <a:xfrm rot="5400000" flipH="1">
                  <a:off x="3242601" y="3209359"/>
                  <a:ext cx="4479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Bullet3">
                  <a:extLst>
                    <a:ext uri="{FF2B5EF4-FFF2-40B4-BE49-F238E27FC236}">
                      <a16:creationId xmlns:a16="http://schemas.microsoft.com/office/drawing/2014/main" id="{3F765DF3-CDD5-E1AC-AAC6-69D933C74DB0}"/>
                    </a:ext>
                  </a:extLst>
                </p:cNvPr>
                <p:cNvSpPr txBox="1"/>
                <p:nvPr/>
              </p:nvSpPr>
              <p:spPr>
                <a:xfrm>
                  <a:off x="3505201" y="2821664"/>
                  <a:ext cx="2197099" cy="775390"/>
                </a:xfrm>
                <a:prstGeom prst="rect">
                  <a:avLst/>
                </a:prstGeom>
                <a:noFill/>
              </p:spPr>
              <p:txBody>
                <a:bodyPr wrap="square" rtlCol="0" anchor="ctr" anchorCtr="0">
                  <a:normAutofit/>
                </a:bodyPr>
                <a:lstStyle/>
                <a:p>
                  <a:pPr>
                    <a:lnSpc>
                      <a:spcPct val="120000"/>
                    </a:lnSpc>
                  </a:pPr>
                  <a:r>
                    <a:rPr lang="zh-CN" altLang="en-US" b="1" dirty="0">
                      <a:cs typeface="+mn-ea"/>
                      <a:sym typeface="+mn-lt"/>
                    </a:rPr>
                    <a:t>实施效果评估</a:t>
                  </a:r>
                  <a:endParaRPr lang="en-US" dirty="0"/>
                </a:p>
              </p:txBody>
            </p:sp>
            <p:sp>
              <p:nvSpPr>
                <p:cNvPr id="12" name="Text3">
                  <a:extLst>
                    <a:ext uri="{FF2B5EF4-FFF2-40B4-BE49-F238E27FC236}">
                      <a16:creationId xmlns:a16="http://schemas.microsoft.com/office/drawing/2014/main" id="{8D272929-5227-3DC5-C89B-4EFBFFE129F5}"/>
                    </a:ext>
                  </a:extLst>
                </p:cNvPr>
                <p:cNvSpPr txBox="1"/>
                <p:nvPr/>
              </p:nvSpPr>
              <p:spPr>
                <a:xfrm>
                  <a:off x="5702299" y="2821664"/>
                  <a:ext cx="5816601" cy="775390"/>
                </a:xfrm>
                <a:prstGeom prst="rect">
                  <a:avLst/>
                </a:prstGeom>
                <a:noFill/>
              </p:spPr>
              <p:txBody>
                <a:bodyPr wrap="square" rtlCol="0" anchor="ctr" anchorCtr="0">
                  <a:normAutofit/>
                </a:bodyPr>
                <a:lstStyle/>
                <a:p>
                  <a:pPr>
                    <a:lnSpc>
                      <a:spcPct val="120000"/>
                    </a:lnSpc>
                  </a:pPr>
                  <a:r>
                    <a:rPr lang="zh-CN" altLang="en-US" sz="1200" dirty="0">
                      <a:cs typeface="+mn-ea"/>
                      <a:sym typeface="+mn-lt"/>
                    </a:rPr>
                    <a:t>通过考试、项目实践及反馈问卷等方式，评估培训效果，及时调整培训内容以适应员工的成长需求。</a:t>
                  </a:r>
                  <a:endParaRPr lang="en-US" dirty="0"/>
                </a:p>
              </p:txBody>
            </p:sp>
          </p:grpSp>
          <p:grpSp>
            <p:nvGrpSpPr>
              <p:cNvPr id="43" name="组合 42">
                <a:extLst>
                  <a:ext uri="{FF2B5EF4-FFF2-40B4-BE49-F238E27FC236}">
                    <a16:creationId xmlns:a16="http://schemas.microsoft.com/office/drawing/2014/main" id="{1AFBCBC4-029B-F30B-972E-6E1F36718558}"/>
                  </a:ext>
                </a:extLst>
              </p:cNvPr>
              <p:cNvGrpSpPr/>
              <p:nvPr/>
            </p:nvGrpSpPr>
            <p:grpSpPr>
              <a:xfrm>
                <a:off x="3466595" y="4301606"/>
                <a:ext cx="8052305" cy="775390"/>
                <a:chOff x="3466595" y="3667346"/>
                <a:chExt cx="8052305" cy="775390"/>
              </a:xfrm>
            </p:grpSpPr>
            <p:cxnSp>
              <p:nvCxnSpPr>
                <p:cNvPr id="25" name="Shape4">
                  <a:extLst>
                    <a:ext uri="{FF2B5EF4-FFF2-40B4-BE49-F238E27FC236}">
                      <a16:creationId xmlns:a16="http://schemas.microsoft.com/office/drawing/2014/main" id="{5B24E902-02AD-984A-F550-CA64E37F267C}"/>
                    </a:ext>
                  </a:extLst>
                </p:cNvPr>
                <p:cNvCxnSpPr>
                  <a:cxnSpLocks/>
                </p:cNvCxnSpPr>
                <p:nvPr/>
              </p:nvCxnSpPr>
              <p:spPr>
                <a:xfrm rot="5400000" flipH="1">
                  <a:off x="3242601" y="4055041"/>
                  <a:ext cx="4479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Bullet4">
                  <a:extLst>
                    <a:ext uri="{FF2B5EF4-FFF2-40B4-BE49-F238E27FC236}">
                      <a16:creationId xmlns:a16="http://schemas.microsoft.com/office/drawing/2014/main" id="{D20A744D-0FF9-54B2-C727-ECE742178E4F}"/>
                    </a:ext>
                  </a:extLst>
                </p:cNvPr>
                <p:cNvSpPr txBox="1"/>
                <p:nvPr/>
              </p:nvSpPr>
              <p:spPr>
                <a:xfrm>
                  <a:off x="3505201" y="3667346"/>
                  <a:ext cx="2197099" cy="775390"/>
                </a:xfrm>
                <a:prstGeom prst="rect">
                  <a:avLst/>
                </a:prstGeom>
                <a:noFill/>
              </p:spPr>
              <p:txBody>
                <a:bodyPr wrap="square" rtlCol="0" anchor="ctr" anchorCtr="0">
                  <a:normAutofit/>
                </a:bodyPr>
                <a:lstStyle/>
                <a:p>
                  <a:pPr>
                    <a:lnSpc>
                      <a:spcPct val="120000"/>
                    </a:lnSpc>
                  </a:pPr>
                  <a:r>
                    <a:rPr lang="zh-CN" altLang="en-US" b="1" dirty="0">
                      <a:cs typeface="+mn-ea"/>
                      <a:sym typeface="+mn-lt"/>
                    </a:rPr>
                    <a:t>职业发展路径</a:t>
                  </a:r>
                  <a:endParaRPr lang="en-US" dirty="0"/>
                </a:p>
              </p:txBody>
            </p:sp>
            <p:sp>
              <p:nvSpPr>
                <p:cNvPr id="28" name="Text4">
                  <a:extLst>
                    <a:ext uri="{FF2B5EF4-FFF2-40B4-BE49-F238E27FC236}">
                      <a16:creationId xmlns:a16="http://schemas.microsoft.com/office/drawing/2014/main" id="{F4AFC051-8CF1-17DB-8B7A-0E8AE2C0B0AF}"/>
                    </a:ext>
                  </a:extLst>
                </p:cNvPr>
                <p:cNvSpPr txBox="1"/>
                <p:nvPr/>
              </p:nvSpPr>
              <p:spPr>
                <a:xfrm>
                  <a:off x="5702299" y="3667346"/>
                  <a:ext cx="5816601" cy="775390"/>
                </a:xfrm>
                <a:prstGeom prst="rect">
                  <a:avLst/>
                </a:prstGeom>
                <a:noFill/>
              </p:spPr>
              <p:txBody>
                <a:bodyPr wrap="square" rtlCol="0" anchor="ctr" anchorCtr="0">
                  <a:normAutofit/>
                </a:bodyPr>
                <a:lstStyle/>
                <a:p>
                  <a:pPr>
                    <a:lnSpc>
                      <a:spcPct val="120000"/>
                    </a:lnSpc>
                  </a:pPr>
                  <a:r>
                    <a:rPr lang="zh-CN" altLang="en-US" sz="1200" dirty="0">
                      <a:cs typeface="+mn-ea"/>
                      <a:sym typeface="+mn-lt"/>
                    </a:rPr>
                    <a:t>结合培训成果，为员工规划清晰的职业发展路径，激励其持续学习与进步，从而实现个人与企业的共同发展。</a:t>
                  </a:r>
                  <a:endParaRPr lang="en-US" dirty="0"/>
                </a:p>
              </p:txBody>
            </p:sp>
          </p:grpSp>
          <p:grpSp>
            <p:nvGrpSpPr>
              <p:cNvPr id="59" name="组合 58">
                <a:extLst>
                  <a:ext uri="{FF2B5EF4-FFF2-40B4-BE49-F238E27FC236}">
                    <a16:creationId xmlns:a16="http://schemas.microsoft.com/office/drawing/2014/main" id="{3E468835-4FBF-1501-27BE-8E9AE6731375}"/>
                  </a:ext>
                </a:extLst>
              </p:cNvPr>
              <p:cNvGrpSpPr/>
              <p:nvPr/>
            </p:nvGrpSpPr>
            <p:grpSpPr>
              <a:xfrm>
                <a:off x="3466595" y="5358710"/>
                <a:ext cx="8052305" cy="775390"/>
                <a:chOff x="3466595" y="4513028"/>
                <a:chExt cx="8052305" cy="775390"/>
              </a:xfrm>
            </p:grpSpPr>
            <p:cxnSp>
              <p:nvCxnSpPr>
                <p:cNvPr id="30" name="Shape5">
                  <a:extLst>
                    <a:ext uri="{FF2B5EF4-FFF2-40B4-BE49-F238E27FC236}">
                      <a16:creationId xmlns:a16="http://schemas.microsoft.com/office/drawing/2014/main" id="{FB22EAB6-A30C-D28A-1273-69298DDE8166}"/>
                    </a:ext>
                  </a:extLst>
                </p:cNvPr>
                <p:cNvCxnSpPr>
                  <a:cxnSpLocks/>
                </p:cNvCxnSpPr>
                <p:nvPr/>
              </p:nvCxnSpPr>
              <p:spPr>
                <a:xfrm rot="5400000" flipH="1">
                  <a:off x="3242601" y="4900723"/>
                  <a:ext cx="4479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Bullet5">
                  <a:extLst>
                    <a:ext uri="{FF2B5EF4-FFF2-40B4-BE49-F238E27FC236}">
                      <a16:creationId xmlns:a16="http://schemas.microsoft.com/office/drawing/2014/main" id="{128C5CF9-7960-2E8B-99BC-0779E2F095EF}"/>
                    </a:ext>
                  </a:extLst>
                </p:cNvPr>
                <p:cNvSpPr txBox="1"/>
                <p:nvPr/>
              </p:nvSpPr>
              <p:spPr>
                <a:xfrm>
                  <a:off x="3505201" y="4513028"/>
                  <a:ext cx="2197099" cy="775390"/>
                </a:xfrm>
                <a:prstGeom prst="rect">
                  <a:avLst/>
                </a:prstGeom>
                <a:noFill/>
              </p:spPr>
              <p:txBody>
                <a:bodyPr wrap="square" rtlCol="0" anchor="ctr" anchorCtr="0">
                  <a:normAutofit/>
                </a:bodyPr>
                <a:lstStyle/>
                <a:p>
                  <a:pPr>
                    <a:lnSpc>
                      <a:spcPct val="120000"/>
                    </a:lnSpc>
                  </a:pPr>
                  <a:r>
                    <a:rPr lang="zh-CN" altLang="en-US" b="1" dirty="0">
                      <a:cs typeface="+mn-ea"/>
                      <a:sym typeface="+mn-lt"/>
                    </a:rPr>
                    <a:t>激励机制建设</a:t>
                  </a:r>
                  <a:endParaRPr lang="en-US" dirty="0"/>
                </a:p>
              </p:txBody>
            </p:sp>
            <p:sp>
              <p:nvSpPr>
                <p:cNvPr id="33" name="Text5">
                  <a:extLst>
                    <a:ext uri="{FF2B5EF4-FFF2-40B4-BE49-F238E27FC236}">
                      <a16:creationId xmlns:a16="http://schemas.microsoft.com/office/drawing/2014/main" id="{0D860332-8EB6-374B-201B-3D1932DFCDD7}"/>
                    </a:ext>
                  </a:extLst>
                </p:cNvPr>
                <p:cNvSpPr txBox="1"/>
                <p:nvPr/>
              </p:nvSpPr>
              <p:spPr>
                <a:xfrm>
                  <a:off x="5702299" y="4513028"/>
                  <a:ext cx="5816601" cy="775390"/>
                </a:xfrm>
                <a:prstGeom prst="rect">
                  <a:avLst/>
                </a:prstGeom>
                <a:noFill/>
              </p:spPr>
              <p:txBody>
                <a:bodyPr wrap="square" rtlCol="0" anchor="ctr" anchorCtr="0">
                  <a:normAutofit/>
                </a:bodyPr>
                <a:lstStyle/>
                <a:p>
                  <a:pPr>
                    <a:lnSpc>
                      <a:spcPct val="120000"/>
                    </a:lnSpc>
                  </a:pPr>
                  <a:r>
                    <a:rPr lang="zh-CN" altLang="en-US" sz="1200" dirty="0">
                      <a:cs typeface="+mn-ea"/>
                      <a:sym typeface="+mn-lt"/>
                    </a:rPr>
                    <a:t>建立完善的激励机制，将培训成果与绩效考核挂钩，鼓励员工积极参与培训，促进整体团队能力的提升。</a:t>
                  </a:r>
                  <a:endParaRPr lang="en-US" dirty="0"/>
                </a:p>
              </p:txBody>
            </p:sp>
          </p:grpSp>
        </p:grpSp>
      </p:grpSp>
      <p:sp>
        <p:nvSpPr>
          <p:cNvPr id="2" name="标题 1"/>
          <p:cNvSpPr>
            <a:spLocks noGrp="1"/>
          </p:cNvSpPr>
          <p:nvPr>
            <p:ph type="title" hasCustomPrompt="1"/>
          </p:nvPr>
        </p:nvSpPr>
        <p:spPr/>
        <p:txBody>
          <a:bodyPr/>
          <a:lstStyle/>
          <a:p>
            <a:r>
              <a:rPr lang="zh-CN" altLang="en-US" dirty="0"/>
              <a:t>员工培训与发展</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 name="8cbbaec3-b50d-42fd-81e8-acda0b815cab.source.6.zh-Hans.pptx">
            <a:extLst>
              <a:ext uri="{FF2B5EF4-FFF2-40B4-BE49-F238E27FC236}">
                <a16:creationId xmlns:a16="http://schemas.microsoft.com/office/drawing/2014/main" id="{EADBB46C-5BF6-1816-D402-C344DC461ED2}"/>
              </a:ext>
            </a:extLst>
          </p:cNvPr>
          <p:cNvGrpSpPr/>
          <p:nvPr/>
        </p:nvGrpSpPr>
        <p:grpSpPr>
          <a:xfrm>
            <a:off x="0" y="1130300"/>
            <a:ext cx="12192000" cy="5105400"/>
            <a:chOff x="0" y="1130300"/>
            <a:chExt cx="12192000" cy="5105400"/>
          </a:xfrm>
        </p:grpSpPr>
        <p:cxnSp>
          <p:nvCxnSpPr>
            <p:cNvPr id="245" name="直接连接符 244">
              <a:extLst>
                <a:ext uri="{FF2B5EF4-FFF2-40B4-BE49-F238E27FC236}">
                  <a16:creationId xmlns:a16="http://schemas.microsoft.com/office/drawing/2014/main" id="{17093DB7-6D72-2BBE-92A0-E7AE3D39F513}"/>
                </a:ext>
              </a:extLst>
            </p:cNvPr>
            <p:cNvCxnSpPr/>
            <p:nvPr/>
          </p:nvCxnSpPr>
          <p:spPr>
            <a:xfrm>
              <a:off x="0" y="2278744"/>
              <a:ext cx="12192000" cy="0"/>
            </a:xfrm>
            <a:prstGeom prst="line">
              <a:avLst/>
            </a:prstGeom>
            <a:ln w="6350">
              <a:solidFill>
                <a:schemeClr val="dk1">
                  <a:lumMod val="95000"/>
                  <a:lumOff val="5000"/>
                  <a:alpha val="50000"/>
                </a:schemeClr>
              </a:solidFill>
            </a:ln>
          </p:spPr>
          <p:style>
            <a:lnRef idx="1">
              <a:schemeClr val="accent1"/>
            </a:lnRef>
            <a:fillRef idx="0">
              <a:schemeClr val="accent1"/>
            </a:fillRef>
            <a:effectRef idx="0">
              <a:schemeClr val="accent1"/>
            </a:effectRef>
            <a:fontRef idx="minor">
              <a:schemeClr val="tx1"/>
            </a:fontRef>
          </p:style>
        </p:cxnSp>
        <p:sp>
          <p:nvSpPr>
            <p:cNvPr id="4" name="Title">
              <a:extLst>
                <a:ext uri="{FF2B5EF4-FFF2-40B4-BE49-F238E27FC236}">
                  <a16:creationId xmlns:a16="http://schemas.microsoft.com/office/drawing/2014/main" id="{56427D3D-E2E7-C1E7-2265-CF5AC316835A}"/>
                </a:ext>
              </a:extLst>
            </p:cNvPr>
            <p:cNvSpPr txBox="1">
              <a:spLocks/>
            </p:cNvSpPr>
            <p:nvPr/>
          </p:nvSpPr>
          <p:spPr>
            <a:xfrm>
              <a:off x="660400" y="1130300"/>
              <a:ext cx="10858500" cy="712955"/>
            </a:xfrm>
            <a:prstGeom prst="rect">
              <a:avLst/>
            </a:prstGeom>
            <a:noFill/>
          </p:spPr>
          <p:txBody>
            <a:bodyPr wrap="square" rtlCol="0" anchor="ctr" anchorCtr="0">
              <a:normAutofit/>
            </a:bodyPr>
            <a:lstStyle/>
            <a:p>
              <a:r>
                <a:rPr kumimoji="0" lang="zh-CN" altLang="en-US" sz="24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Arial" panose="020B0604020202020204" pitchFamily="34" charset="0"/>
                </a:rPr>
                <a:t>绩效管理与激励措施的设计与实施</a:t>
              </a:r>
              <a:endParaRPr lang="en-US" dirty="0"/>
            </a:p>
          </p:txBody>
        </p:sp>
        <p:grpSp>
          <p:nvGrpSpPr>
            <p:cNvPr id="195" name="组合 194">
              <a:extLst>
                <a:ext uri="{FF2B5EF4-FFF2-40B4-BE49-F238E27FC236}">
                  <a16:creationId xmlns:a16="http://schemas.microsoft.com/office/drawing/2014/main" id="{C49D5AD6-E5C5-B170-2E64-E4BAB6995CB3}"/>
                </a:ext>
              </a:extLst>
            </p:cNvPr>
            <p:cNvGrpSpPr/>
            <p:nvPr/>
          </p:nvGrpSpPr>
          <p:grpSpPr>
            <a:xfrm>
              <a:off x="660400" y="2200956"/>
              <a:ext cx="1738504" cy="3970736"/>
              <a:chOff x="660400" y="2200956"/>
              <a:chExt cx="1738504" cy="3970736"/>
            </a:xfrm>
          </p:grpSpPr>
          <p:sp>
            <p:nvSpPr>
              <p:cNvPr id="28" name="ComponentBackground1">
                <a:extLst>
                  <a:ext uri="{FF2B5EF4-FFF2-40B4-BE49-F238E27FC236}">
                    <a16:creationId xmlns:a16="http://schemas.microsoft.com/office/drawing/2014/main" id="{04C3F042-5196-B907-25BC-DECB4F371CFD}"/>
                  </a:ext>
                </a:extLst>
              </p:cNvPr>
              <p:cNvSpPr/>
              <p:nvPr/>
            </p:nvSpPr>
            <p:spPr>
              <a:xfrm>
                <a:off x="660400" y="3204558"/>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Bullet1">
                <a:extLst>
                  <a:ext uri="{FF2B5EF4-FFF2-40B4-BE49-F238E27FC236}">
                    <a16:creationId xmlns:a16="http://schemas.microsoft.com/office/drawing/2014/main" id="{ED899E03-A34C-4E2D-4361-941B8E0CD90B}"/>
                  </a:ext>
                </a:extLst>
              </p:cNvPr>
              <p:cNvSpPr>
                <a:spLocks/>
              </p:cNvSpPr>
              <p:nvPr/>
            </p:nvSpPr>
            <p:spPr>
              <a:xfrm>
                <a:off x="711276"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绩效目标设定</a:t>
                </a:r>
                <a:endParaRPr lang="en-US" dirty="0"/>
              </a:p>
            </p:txBody>
          </p:sp>
          <p:sp>
            <p:nvSpPr>
              <p:cNvPr id="247" name="Shape1">
                <a:extLst>
                  <a:ext uri="{FF2B5EF4-FFF2-40B4-BE49-F238E27FC236}">
                    <a16:creationId xmlns:a16="http://schemas.microsoft.com/office/drawing/2014/main" id="{2E461576-28DB-2F08-5BCF-A3C692E9B636}"/>
                  </a:ext>
                </a:extLst>
              </p:cNvPr>
              <p:cNvSpPr>
                <a:spLocks/>
              </p:cNvSpPr>
              <p:nvPr/>
            </p:nvSpPr>
            <p:spPr>
              <a:xfrm>
                <a:off x="838200"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1">
                <a:extLst>
                  <a:ext uri="{FF2B5EF4-FFF2-40B4-BE49-F238E27FC236}">
                    <a16:creationId xmlns:a16="http://schemas.microsoft.com/office/drawing/2014/main" id="{354CF266-062B-380E-4BEE-930B37CBF0AB}"/>
                  </a:ext>
                </a:extLst>
              </p:cNvPr>
              <p:cNvSpPr>
                <a:spLocks/>
              </p:cNvSpPr>
              <p:nvPr/>
            </p:nvSpPr>
            <p:spPr>
              <a:xfrm>
                <a:off x="711276" y="3268566"/>
                <a:ext cx="163675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明确团队和个人的绩效目标，确保目标具体可衡量，为后续考核提供依据，同时结合企业发展战略进行调整。</a:t>
                </a:r>
                <a:endParaRPr lang="en-US" dirty="0"/>
              </a:p>
            </p:txBody>
          </p:sp>
        </p:grpSp>
        <p:grpSp>
          <p:nvGrpSpPr>
            <p:cNvPr id="194" name="组合 193">
              <a:extLst>
                <a:ext uri="{FF2B5EF4-FFF2-40B4-BE49-F238E27FC236}">
                  <a16:creationId xmlns:a16="http://schemas.microsoft.com/office/drawing/2014/main" id="{0D57EB54-A47E-7ED7-0008-B6978AF993CF}"/>
                </a:ext>
              </a:extLst>
            </p:cNvPr>
            <p:cNvGrpSpPr/>
            <p:nvPr/>
          </p:nvGrpSpPr>
          <p:grpSpPr>
            <a:xfrm>
              <a:off x="2497101" y="2200956"/>
              <a:ext cx="1738504" cy="3970736"/>
              <a:chOff x="2497101" y="2200956"/>
              <a:chExt cx="1738504" cy="3970736"/>
            </a:xfrm>
          </p:grpSpPr>
          <p:sp>
            <p:nvSpPr>
              <p:cNvPr id="25" name="ComponentBackground2">
                <a:extLst>
                  <a:ext uri="{FF2B5EF4-FFF2-40B4-BE49-F238E27FC236}">
                    <a16:creationId xmlns:a16="http://schemas.microsoft.com/office/drawing/2014/main" id="{F1707DE3-D1C8-75E4-D36E-156A247B40AE}"/>
                  </a:ext>
                </a:extLst>
              </p:cNvPr>
              <p:cNvSpPr/>
              <p:nvPr/>
            </p:nvSpPr>
            <p:spPr>
              <a:xfrm>
                <a:off x="2497101" y="3204558"/>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Bullet2">
                <a:extLst>
                  <a:ext uri="{FF2B5EF4-FFF2-40B4-BE49-F238E27FC236}">
                    <a16:creationId xmlns:a16="http://schemas.microsoft.com/office/drawing/2014/main" id="{01BF7E57-3803-72A1-20DD-F4E3DDB4D893}"/>
                  </a:ext>
                </a:extLst>
              </p:cNvPr>
              <p:cNvSpPr>
                <a:spLocks/>
              </p:cNvSpPr>
              <p:nvPr/>
            </p:nvSpPr>
            <p:spPr>
              <a:xfrm>
                <a:off x="2547977"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考核指标设计</a:t>
                </a:r>
                <a:endParaRPr lang="en-US" dirty="0"/>
              </a:p>
            </p:txBody>
          </p:sp>
          <p:sp>
            <p:nvSpPr>
              <p:cNvPr id="246" name="Shape2">
                <a:extLst>
                  <a:ext uri="{FF2B5EF4-FFF2-40B4-BE49-F238E27FC236}">
                    <a16:creationId xmlns:a16="http://schemas.microsoft.com/office/drawing/2014/main" id="{82BECC00-656D-92D5-ED18-33491CA0CC9E}"/>
                  </a:ext>
                </a:extLst>
              </p:cNvPr>
              <p:cNvSpPr>
                <a:spLocks/>
              </p:cNvSpPr>
              <p:nvPr/>
            </p:nvSpPr>
            <p:spPr>
              <a:xfrm>
                <a:off x="2651316"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Text2">
                <a:extLst>
                  <a:ext uri="{FF2B5EF4-FFF2-40B4-BE49-F238E27FC236}">
                    <a16:creationId xmlns:a16="http://schemas.microsoft.com/office/drawing/2014/main" id="{733BA58C-A708-9DC7-7C23-63CCAAEC9100}"/>
                  </a:ext>
                </a:extLst>
              </p:cNvPr>
              <p:cNvSpPr>
                <a:spLocks/>
              </p:cNvSpPr>
              <p:nvPr/>
            </p:nvSpPr>
            <p:spPr>
              <a:xfrm>
                <a:off x="2547977" y="3268566"/>
                <a:ext cx="163675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err="1">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根据岗位职责设计合理的考核指标，平衡定性和定量指标，确保公平性和科学性，提升员工积极性。</a:t>
                </a:r>
                <a:endParaRPr lang="en-US" dirty="0"/>
              </a:p>
            </p:txBody>
          </p:sp>
        </p:grpSp>
        <p:grpSp>
          <p:nvGrpSpPr>
            <p:cNvPr id="193" name="组合 192">
              <a:extLst>
                <a:ext uri="{FF2B5EF4-FFF2-40B4-BE49-F238E27FC236}">
                  <a16:creationId xmlns:a16="http://schemas.microsoft.com/office/drawing/2014/main" id="{85DF0665-52B7-8D04-F6BB-76E5E9CBA98E}"/>
                </a:ext>
              </a:extLst>
            </p:cNvPr>
            <p:cNvGrpSpPr/>
            <p:nvPr/>
          </p:nvGrpSpPr>
          <p:grpSpPr>
            <a:xfrm>
              <a:off x="4321100" y="2200956"/>
              <a:ext cx="1738504" cy="3970736"/>
              <a:chOff x="4321100" y="2200956"/>
              <a:chExt cx="1738504" cy="3970736"/>
            </a:xfrm>
          </p:grpSpPr>
          <p:sp>
            <p:nvSpPr>
              <p:cNvPr id="22" name="ComponentBackground3">
                <a:extLst>
                  <a:ext uri="{FF2B5EF4-FFF2-40B4-BE49-F238E27FC236}">
                    <a16:creationId xmlns:a16="http://schemas.microsoft.com/office/drawing/2014/main" id="{C88C46DD-C4D8-3A6B-6C5A-DA57D878E463}"/>
                  </a:ext>
                </a:extLst>
              </p:cNvPr>
              <p:cNvSpPr/>
              <p:nvPr/>
            </p:nvSpPr>
            <p:spPr>
              <a:xfrm>
                <a:off x="4321100" y="3204558"/>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Bullet3">
                <a:extLst>
                  <a:ext uri="{FF2B5EF4-FFF2-40B4-BE49-F238E27FC236}">
                    <a16:creationId xmlns:a16="http://schemas.microsoft.com/office/drawing/2014/main" id="{D1605C0B-549D-E14B-F6B7-1EC356168ACF}"/>
                  </a:ext>
                </a:extLst>
              </p:cNvPr>
              <p:cNvSpPr>
                <a:spLocks/>
              </p:cNvSpPr>
              <p:nvPr/>
            </p:nvSpPr>
            <p:spPr>
              <a:xfrm>
                <a:off x="4371976"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激励措施制定</a:t>
                </a:r>
                <a:endParaRPr lang="en-US" dirty="0"/>
              </a:p>
            </p:txBody>
          </p:sp>
          <p:sp>
            <p:nvSpPr>
              <p:cNvPr id="248" name="Shape3">
                <a:extLst>
                  <a:ext uri="{FF2B5EF4-FFF2-40B4-BE49-F238E27FC236}">
                    <a16:creationId xmlns:a16="http://schemas.microsoft.com/office/drawing/2014/main" id="{2B066100-A042-5109-04A5-CB3901D797BC}"/>
                  </a:ext>
                </a:extLst>
              </p:cNvPr>
              <p:cNvSpPr/>
              <p:nvPr/>
            </p:nvSpPr>
            <p:spPr>
              <a:xfrm>
                <a:off x="4464432"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3">
                <a:extLst>
                  <a:ext uri="{FF2B5EF4-FFF2-40B4-BE49-F238E27FC236}">
                    <a16:creationId xmlns:a16="http://schemas.microsoft.com/office/drawing/2014/main" id="{3F121FE3-B9D6-EE4E-1827-D157723D57F4}"/>
                  </a:ext>
                </a:extLst>
              </p:cNvPr>
              <p:cNvSpPr>
                <a:spLocks/>
              </p:cNvSpPr>
              <p:nvPr/>
            </p:nvSpPr>
            <p:spPr>
              <a:xfrm>
                <a:off x="4321101" y="3268566"/>
                <a:ext cx="173850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err="1">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结合绩效结果设计多样化的激励措施，包括物质奖励和精神激励，以满足不同员工的需求，提高工作动力。</a:t>
                </a:r>
                <a:endParaRPr lang="en-US" dirty="0"/>
              </a:p>
            </p:txBody>
          </p:sp>
        </p:grpSp>
        <p:grpSp>
          <p:nvGrpSpPr>
            <p:cNvPr id="192" name="组合 191">
              <a:extLst>
                <a:ext uri="{FF2B5EF4-FFF2-40B4-BE49-F238E27FC236}">
                  <a16:creationId xmlns:a16="http://schemas.microsoft.com/office/drawing/2014/main" id="{99AA1636-587A-D5E4-793D-BDCE3DCC0F37}"/>
                </a:ext>
              </a:extLst>
            </p:cNvPr>
            <p:cNvGrpSpPr/>
            <p:nvPr/>
          </p:nvGrpSpPr>
          <p:grpSpPr>
            <a:xfrm>
              <a:off x="6145099" y="2200956"/>
              <a:ext cx="1738504" cy="3970736"/>
              <a:chOff x="6145099" y="2200956"/>
              <a:chExt cx="1738504" cy="3970736"/>
            </a:xfrm>
          </p:grpSpPr>
          <p:sp>
            <p:nvSpPr>
              <p:cNvPr id="19" name="ComponentBackground4">
                <a:extLst>
                  <a:ext uri="{FF2B5EF4-FFF2-40B4-BE49-F238E27FC236}">
                    <a16:creationId xmlns:a16="http://schemas.microsoft.com/office/drawing/2014/main" id="{FD0DCDDD-EEE0-B13A-8E68-F89DB766D16F}"/>
                  </a:ext>
                </a:extLst>
              </p:cNvPr>
              <p:cNvSpPr/>
              <p:nvPr/>
            </p:nvSpPr>
            <p:spPr>
              <a:xfrm>
                <a:off x="6145099" y="3204558"/>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Bullet4">
                <a:extLst>
                  <a:ext uri="{FF2B5EF4-FFF2-40B4-BE49-F238E27FC236}">
                    <a16:creationId xmlns:a16="http://schemas.microsoft.com/office/drawing/2014/main" id="{8FEE836C-0746-80F3-F20B-B824EC1F3CC9}"/>
                  </a:ext>
                </a:extLst>
              </p:cNvPr>
              <p:cNvSpPr>
                <a:spLocks/>
              </p:cNvSpPr>
              <p:nvPr/>
            </p:nvSpPr>
            <p:spPr>
              <a:xfrm>
                <a:off x="6195975"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实施过程管理</a:t>
                </a:r>
                <a:endParaRPr lang="en-US" dirty="0"/>
              </a:p>
            </p:txBody>
          </p:sp>
          <p:sp>
            <p:nvSpPr>
              <p:cNvPr id="249" name="Shape4">
                <a:extLst>
                  <a:ext uri="{FF2B5EF4-FFF2-40B4-BE49-F238E27FC236}">
                    <a16:creationId xmlns:a16="http://schemas.microsoft.com/office/drawing/2014/main" id="{D8A556B7-0A06-825F-615B-B54803C2236C}"/>
                  </a:ext>
                </a:extLst>
              </p:cNvPr>
              <p:cNvSpPr/>
              <p:nvPr/>
            </p:nvSpPr>
            <p:spPr>
              <a:xfrm>
                <a:off x="6277548"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Text4">
                <a:extLst>
                  <a:ext uri="{FF2B5EF4-FFF2-40B4-BE49-F238E27FC236}">
                    <a16:creationId xmlns:a16="http://schemas.microsoft.com/office/drawing/2014/main" id="{1F9EACEF-6C32-E149-3806-A1F1BB8C008E}"/>
                  </a:ext>
                </a:extLst>
              </p:cNvPr>
              <p:cNvSpPr>
                <a:spLocks/>
              </p:cNvSpPr>
              <p:nvPr/>
            </p:nvSpPr>
            <p:spPr>
              <a:xfrm>
                <a:off x="6195975" y="3268566"/>
                <a:ext cx="163675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err="1">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在绩效周期内持续跟踪和反馈，及时发现并解决存在的问题，确保绩效管理的有效执行，促进员工成长。</a:t>
                </a:r>
                <a:endParaRPr lang="en-US" dirty="0"/>
              </a:p>
            </p:txBody>
          </p:sp>
        </p:grpSp>
        <p:grpSp>
          <p:nvGrpSpPr>
            <p:cNvPr id="255" name="组合 254">
              <a:extLst>
                <a:ext uri="{FF2B5EF4-FFF2-40B4-BE49-F238E27FC236}">
                  <a16:creationId xmlns:a16="http://schemas.microsoft.com/office/drawing/2014/main" id="{AC340314-7976-7E50-4C78-6AFE1F06C709}"/>
                </a:ext>
              </a:extLst>
            </p:cNvPr>
            <p:cNvGrpSpPr/>
            <p:nvPr/>
          </p:nvGrpSpPr>
          <p:grpSpPr>
            <a:xfrm>
              <a:off x="7969099" y="2200956"/>
              <a:ext cx="1738504" cy="3970736"/>
              <a:chOff x="7969099" y="2200956"/>
              <a:chExt cx="1738504" cy="3970736"/>
            </a:xfrm>
          </p:grpSpPr>
          <p:sp>
            <p:nvSpPr>
              <p:cNvPr id="16" name="ComponentBackground5">
                <a:extLst>
                  <a:ext uri="{FF2B5EF4-FFF2-40B4-BE49-F238E27FC236}">
                    <a16:creationId xmlns:a16="http://schemas.microsoft.com/office/drawing/2014/main" id="{FB508E4B-801F-F832-FA23-A194C3AF48E2}"/>
                  </a:ext>
                </a:extLst>
              </p:cNvPr>
              <p:cNvSpPr/>
              <p:nvPr/>
            </p:nvSpPr>
            <p:spPr>
              <a:xfrm>
                <a:off x="7969099" y="3204558"/>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Bullet5">
                <a:extLst>
                  <a:ext uri="{FF2B5EF4-FFF2-40B4-BE49-F238E27FC236}">
                    <a16:creationId xmlns:a16="http://schemas.microsoft.com/office/drawing/2014/main" id="{FB9E786A-9506-B11F-C178-FD12A3B32B3B}"/>
                  </a:ext>
                </a:extLst>
              </p:cNvPr>
              <p:cNvSpPr>
                <a:spLocks/>
              </p:cNvSpPr>
              <p:nvPr/>
            </p:nvSpPr>
            <p:spPr>
              <a:xfrm>
                <a:off x="8019975"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数据分析与优化</a:t>
                </a:r>
                <a:endParaRPr lang="en-US" dirty="0"/>
              </a:p>
            </p:txBody>
          </p:sp>
          <p:sp>
            <p:nvSpPr>
              <p:cNvPr id="250" name="Shape5">
                <a:extLst>
                  <a:ext uri="{FF2B5EF4-FFF2-40B4-BE49-F238E27FC236}">
                    <a16:creationId xmlns:a16="http://schemas.microsoft.com/office/drawing/2014/main" id="{67791719-49B6-5DD1-359F-433A1107F089}"/>
                  </a:ext>
                </a:extLst>
              </p:cNvPr>
              <p:cNvSpPr/>
              <p:nvPr/>
            </p:nvSpPr>
            <p:spPr>
              <a:xfrm>
                <a:off x="8090664"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Text5">
                <a:extLst>
                  <a:ext uri="{FF2B5EF4-FFF2-40B4-BE49-F238E27FC236}">
                    <a16:creationId xmlns:a16="http://schemas.microsoft.com/office/drawing/2014/main" id="{29D9827B-B43C-85BD-C887-77C4D7F351EC}"/>
                  </a:ext>
                </a:extLst>
              </p:cNvPr>
              <p:cNvSpPr>
                <a:spLocks/>
              </p:cNvSpPr>
              <p:nvPr/>
            </p:nvSpPr>
            <p:spPr>
              <a:xfrm>
                <a:off x="8019975" y="3268566"/>
                <a:ext cx="163675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err="1">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定期分析绩效数据，评估激励机制的效果，不断优化考核标准和激励方案，适应组织发展需求。</a:t>
                </a:r>
                <a:endParaRPr lang="en-US" dirty="0"/>
              </a:p>
            </p:txBody>
          </p:sp>
        </p:grpSp>
        <p:grpSp>
          <p:nvGrpSpPr>
            <p:cNvPr id="252" name="组合 251">
              <a:extLst>
                <a:ext uri="{FF2B5EF4-FFF2-40B4-BE49-F238E27FC236}">
                  <a16:creationId xmlns:a16="http://schemas.microsoft.com/office/drawing/2014/main" id="{563A628D-2CC2-6156-823B-3C1B8FD32DB2}"/>
                </a:ext>
              </a:extLst>
            </p:cNvPr>
            <p:cNvGrpSpPr/>
            <p:nvPr/>
          </p:nvGrpSpPr>
          <p:grpSpPr>
            <a:xfrm>
              <a:off x="9793096" y="2200956"/>
              <a:ext cx="1738504" cy="4034744"/>
              <a:chOff x="9793096" y="2200956"/>
              <a:chExt cx="1738504" cy="4034744"/>
            </a:xfrm>
          </p:grpSpPr>
          <p:sp>
            <p:nvSpPr>
              <p:cNvPr id="232" name="ComponentBackground6">
                <a:extLst>
                  <a:ext uri="{FF2B5EF4-FFF2-40B4-BE49-F238E27FC236}">
                    <a16:creationId xmlns:a16="http://schemas.microsoft.com/office/drawing/2014/main" id="{1AC546BD-6F3A-5283-7EC9-D29EFE4FB87A}"/>
                  </a:ext>
                </a:extLst>
              </p:cNvPr>
              <p:cNvSpPr/>
              <p:nvPr/>
            </p:nvSpPr>
            <p:spPr>
              <a:xfrm>
                <a:off x="9793096" y="3268566"/>
                <a:ext cx="1738504" cy="2967134"/>
              </a:xfrm>
              <a:prstGeom prst="roundRect">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5" name="Bullet6">
                <a:extLst>
                  <a:ext uri="{FF2B5EF4-FFF2-40B4-BE49-F238E27FC236}">
                    <a16:creationId xmlns:a16="http://schemas.microsoft.com/office/drawing/2014/main" id="{1FB4F4E3-9B18-AD6C-1911-603BDCC6D818}"/>
                  </a:ext>
                </a:extLst>
              </p:cNvPr>
              <p:cNvSpPr>
                <a:spLocks/>
              </p:cNvSpPr>
              <p:nvPr/>
            </p:nvSpPr>
            <p:spPr>
              <a:xfrm>
                <a:off x="9843972" y="2447925"/>
                <a:ext cx="1636752" cy="820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员工参与和沟通</a:t>
                </a:r>
                <a:endParaRPr lang="en-US" dirty="0"/>
              </a:p>
            </p:txBody>
          </p:sp>
          <p:sp>
            <p:nvSpPr>
              <p:cNvPr id="238" name="Text6">
                <a:extLst>
                  <a:ext uri="{FF2B5EF4-FFF2-40B4-BE49-F238E27FC236}">
                    <a16:creationId xmlns:a16="http://schemas.microsoft.com/office/drawing/2014/main" id="{1C4513D2-FE97-2F92-3593-4C4EAF0AE4B3}"/>
                  </a:ext>
                </a:extLst>
              </p:cNvPr>
              <p:cNvSpPr>
                <a:spLocks/>
              </p:cNvSpPr>
              <p:nvPr/>
            </p:nvSpPr>
            <p:spPr>
              <a:xfrm>
                <a:off x="9843972" y="3268566"/>
                <a:ext cx="1636752" cy="2841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err="1">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鼓励员工参与绩效管理过程，加强双向沟通，确保考核透明公正，增强员工对激励机制的认可度。</a:t>
                </a:r>
                <a:endParaRPr lang="en-US" dirty="0"/>
              </a:p>
            </p:txBody>
          </p:sp>
          <p:sp>
            <p:nvSpPr>
              <p:cNvPr id="251" name="Shape6">
                <a:extLst>
                  <a:ext uri="{FF2B5EF4-FFF2-40B4-BE49-F238E27FC236}">
                    <a16:creationId xmlns:a16="http://schemas.microsoft.com/office/drawing/2014/main" id="{B46880E3-E08A-3E4E-5991-AFD7583507C0}"/>
                  </a:ext>
                </a:extLst>
              </p:cNvPr>
              <p:cNvSpPr/>
              <p:nvPr/>
            </p:nvSpPr>
            <p:spPr>
              <a:xfrm>
                <a:off x="9903780" y="2200956"/>
                <a:ext cx="155575" cy="155575"/>
              </a:xfrm>
              <a:prstGeom prst="ellipse">
                <a:avLst/>
              </a:prstGeom>
              <a:solidFill>
                <a:schemeClr val="accent1"/>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354"/>
                <a:endParaRPr lang="zh-CN" altLang="en-US" sz="1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 name="标题 1"/>
          <p:cNvSpPr>
            <a:spLocks noGrp="1"/>
          </p:cNvSpPr>
          <p:nvPr>
            <p:ph type="title" hasCustomPrompt="1"/>
          </p:nvPr>
        </p:nvSpPr>
        <p:spPr/>
        <p:txBody>
          <a:bodyPr/>
          <a:lstStyle/>
          <a:p>
            <a:r>
              <a:rPr lang="zh-CN" altLang="en-US" dirty="0"/>
              <a:t>绩效考核与激励机制</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solidFill>
                  <a:schemeClr val="accent1"/>
                </a:solidFill>
              </a:rPr>
              <a:t>风险管理</a:t>
            </a:r>
            <a:r>
              <a:rPr lang="zh-CN" altLang="en-US" dirty="0"/>
              <a:t>与问题应对</a:t>
            </a:r>
            <a:endParaRPr lang="en-US" dirty="0"/>
          </a:p>
        </p:txBody>
      </p:sp>
      <p:sp>
        <p:nvSpPr>
          <p:cNvPr id="25" name="文本占位符 24"/>
          <p:cNvSpPr>
            <a:spLocks noGrp="1"/>
          </p:cNvSpPr>
          <p:nvPr>
            <p:ph type="body" sz="quarter" idx="1" hasCustomPrompt="1"/>
          </p:nvPr>
        </p:nvSpPr>
        <p:spPr/>
        <p:txBody>
          <a:bodyPr/>
          <a:lstStyle/>
          <a:p>
            <a:r>
              <a:rPr lang="zh-CN" altLang="en-US" dirty="0"/>
              <a:t>分析行业面临的潜在风险及解决方案</a:t>
            </a:r>
            <a:endParaRPr lang="en-US" dirty="0"/>
          </a:p>
        </p:txBody>
      </p:sp>
      <p:sp>
        <p:nvSpPr>
          <p:cNvPr id="2" name="文本框 1">
            <a:extLst>
              <a:ext uri="{FF2B5EF4-FFF2-40B4-BE49-F238E27FC236}">
                <a16:creationId xmlns:a16="http://schemas.microsoft.com/office/drawing/2014/main" id="{61CF97A5-D7FF-F1A7-6D7D-978F5926F29B}"/>
              </a:ext>
            </a:extLst>
          </p:cNvPr>
          <p:cNvSpPr txBox="1"/>
          <p:nvPr/>
        </p:nvSpPr>
        <p:spPr>
          <a:xfrm>
            <a:off x="660400" y="1944031"/>
            <a:ext cx="3410857" cy="1323439"/>
          </a:xfrm>
          <a:prstGeom prst="rect">
            <a:avLst/>
          </a:prstGeom>
          <a:noFill/>
        </p:spPr>
        <p:txBody>
          <a:bodyPr wrap="square" rtlCol="0">
            <a:spAutoFit/>
          </a:bodyPr>
          <a:lstStyle/>
          <a:p>
            <a:r>
              <a:rPr lang="en-US" altLang="zh-CN" sz="8000" b="1" dirty="0">
                <a:solidFill>
                  <a:schemeClr val="accent1"/>
                </a:solidFill>
              </a:rPr>
              <a:t>04.</a:t>
            </a:r>
            <a:endParaRPr lang="zh-CN" altLang="en-US" sz="8000" b="1" dirty="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a20f0a4b-d491-4450-8163-ae036c394490.source.3.zh-Hans.pptx">
            <a:extLst>
              <a:ext uri="{FF2B5EF4-FFF2-40B4-BE49-F238E27FC236}">
                <a16:creationId xmlns:a16="http://schemas.microsoft.com/office/drawing/2014/main" id="{1D518243-73F7-D114-19B8-D005078E5F2F}"/>
              </a:ext>
            </a:extLst>
          </p:cNvPr>
          <p:cNvGrpSpPr/>
          <p:nvPr/>
        </p:nvGrpSpPr>
        <p:grpSpPr>
          <a:xfrm>
            <a:off x="660400" y="1130300"/>
            <a:ext cx="10858500" cy="5003800"/>
            <a:chOff x="660400" y="1130300"/>
            <a:chExt cx="10858500" cy="5003800"/>
          </a:xfrm>
        </p:grpSpPr>
        <p:sp>
          <p:nvSpPr>
            <p:cNvPr id="29" name="Title">
              <a:extLst>
                <a:ext uri="{FF2B5EF4-FFF2-40B4-BE49-F238E27FC236}">
                  <a16:creationId xmlns:a16="http://schemas.microsoft.com/office/drawing/2014/main" id="{DDFB71F3-DC76-BE86-3A01-BC50FD5987AD}"/>
                </a:ext>
              </a:extLst>
            </p:cNvPr>
            <p:cNvSpPr txBox="1"/>
            <p:nvPr/>
          </p:nvSpPr>
          <p:spPr>
            <a:xfrm>
              <a:off x="660400" y="1130300"/>
              <a:ext cx="10858500" cy="52322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tabLst/>
                <a:defRPr/>
              </a:pPr>
              <a:r>
                <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面对技术快速迭代时的适应性调整</a:t>
              </a:r>
              <a:endParaRPr lang="en-US" dirty="0"/>
            </a:p>
          </p:txBody>
        </p:sp>
        <p:sp>
          <p:nvSpPr>
            <p:cNvPr id="8" name="islide-7">
              <a:extLst>
                <a:ext uri="{FF2B5EF4-FFF2-40B4-BE49-F238E27FC236}">
                  <a16:creationId xmlns:a16="http://schemas.microsoft.com/office/drawing/2014/main" id="{97BD36EB-73F6-015C-79CB-CA995EDF617F}"/>
                </a:ext>
              </a:extLst>
            </p:cNvPr>
            <p:cNvSpPr>
              <a:spLocks noChangeShapeType="1"/>
            </p:cNvSpPr>
            <p:nvPr/>
          </p:nvSpPr>
          <p:spPr bwMode="auto">
            <a:xfrm flipV="1">
              <a:off x="8289428" y="4355418"/>
              <a:ext cx="0" cy="259139"/>
            </a:xfrm>
            <a:prstGeom prst="line">
              <a:avLst/>
            </a:prstGeom>
            <a:noFill/>
            <a:ln w="4445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islide-17">
              <a:extLst>
                <a:ext uri="{FF2B5EF4-FFF2-40B4-BE49-F238E27FC236}">
                  <a16:creationId xmlns:a16="http://schemas.microsoft.com/office/drawing/2014/main" id="{57435561-B2BC-8CF8-78DB-5B5F53E5C622}"/>
                </a:ext>
              </a:extLst>
            </p:cNvPr>
            <p:cNvSpPr>
              <a:spLocks noChangeShapeType="1"/>
            </p:cNvSpPr>
            <p:nvPr/>
          </p:nvSpPr>
          <p:spPr bwMode="auto">
            <a:xfrm flipV="1">
              <a:off x="3914449" y="4355418"/>
              <a:ext cx="0" cy="259139"/>
            </a:xfrm>
            <a:prstGeom prst="line">
              <a:avLst/>
            </a:prstGeom>
            <a:noFill/>
            <a:ln w="4445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5" name="组合 24">
              <a:extLst>
                <a:ext uri="{FF2B5EF4-FFF2-40B4-BE49-F238E27FC236}">
                  <a16:creationId xmlns:a16="http://schemas.microsoft.com/office/drawing/2014/main" id="{F980BB20-FAE7-32B2-02DF-C6283470B5A7}"/>
                </a:ext>
              </a:extLst>
            </p:cNvPr>
            <p:cNvGrpSpPr/>
            <p:nvPr/>
          </p:nvGrpSpPr>
          <p:grpSpPr>
            <a:xfrm>
              <a:off x="1659057" y="3237672"/>
              <a:ext cx="8861186" cy="1110446"/>
              <a:chOff x="660400" y="3237672"/>
              <a:chExt cx="6208830" cy="1110446"/>
            </a:xfrm>
          </p:grpSpPr>
          <p:sp>
            <p:nvSpPr>
              <p:cNvPr id="6" name="islide-1">
                <a:extLst>
                  <a:ext uri="{FF2B5EF4-FFF2-40B4-BE49-F238E27FC236}">
                    <a16:creationId xmlns:a16="http://schemas.microsoft.com/office/drawing/2014/main" id="{E37AD104-CE34-75A4-A548-F6D5F21696FA}"/>
                  </a:ext>
                </a:extLst>
              </p:cNvPr>
              <p:cNvSpPr>
                <a:spLocks noChangeShapeType="1"/>
              </p:cNvSpPr>
              <p:nvPr/>
            </p:nvSpPr>
            <p:spPr bwMode="auto">
              <a:xfrm>
                <a:off x="3764948" y="3237672"/>
                <a:ext cx="0" cy="272668"/>
              </a:xfrm>
              <a:prstGeom prst="line">
                <a:avLst/>
              </a:prstGeom>
              <a:noFill/>
              <a:ln w="4445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islide-3">
                <a:extLst>
                  <a:ext uri="{FF2B5EF4-FFF2-40B4-BE49-F238E27FC236}">
                    <a16:creationId xmlns:a16="http://schemas.microsoft.com/office/drawing/2014/main" id="{9CAA3430-1378-DEB2-54D5-3BE334D24528}"/>
                  </a:ext>
                </a:extLst>
              </p:cNvPr>
              <p:cNvSpPr/>
              <p:nvPr/>
            </p:nvSpPr>
            <p:spPr bwMode="auto">
              <a:xfrm>
                <a:off x="3758895" y="3517625"/>
                <a:ext cx="863486" cy="506830"/>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445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islide-4">
                <a:extLst>
                  <a:ext uri="{FF2B5EF4-FFF2-40B4-BE49-F238E27FC236}">
                    <a16:creationId xmlns:a16="http://schemas.microsoft.com/office/drawing/2014/main" id="{206591DE-6465-E99E-ABED-2F6957648437}"/>
                  </a:ext>
                </a:extLst>
              </p:cNvPr>
              <p:cNvSpPr/>
              <p:nvPr/>
            </p:nvSpPr>
            <p:spPr bwMode="auto">
              <a:xfrm>
                <a:off x="3103712" y="3517625"/>
                <a:ext cx="655183" cy="291401"/>
              </a:xfrm>
              <a:custGeom>
                <a:avLst/>
                <a:gdLst>
                  <a:gd name="T0" fmla="*/ 0 w 218"/>
                  <a:gd name="T1" fmla="*/ 112 h 112"/>
                  <a:gd name="T2" fmla="*/ 218 w 218"/>
                  <a:gd name="T3" fmla="*/ 0 h 112"/>
                </a:gdLst>
                <a:ahLst/>
                <a:cxnLst>
                  <a:cxn ang="0">
                    <a:pos x="T0" y="T1"/>
                  </a:cxn>
                  <a:cxn ang="0">
                    <a:pos x="T2" y="T3"/>
                  </a:cxn>
                </a:cxnLst>
                <a:rect l="0" t="0" r="r" b="b"/>
                <a:pathLst>
                  <a:path w="218" h="112">
                    <a:moveTo>
                      <a:pt x="0" y="112"/>
                    </a:moveTo>
                    <a:cubicBezTo>
                      <a:pt x="53" y="51"/>
                      <a:pt x="115" y="0"/>
                      <a:pt x="218" y="0"/>
                    </a:cubicBezTo>
                  </a:path>
                </a:pathLst>
              </a:custGeom>
              <a:noFill/>
              <a:ln w="4445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islide-9">
                <a:extLst>
                  <a:ext uri="{FF2B5EF4-FFF2-40B4-BE49-F238E27FC236}">
                    <a16:creationId xmlns:a16="http://schemas.microsoft.com/office/drawing/2014/main" id="{74753B8F-7A29-FA60-80D8-1127B0D4556F}"/>
                  </a:ext>
                </a:extLst>
              </p:cNvPr>
              <p:cNvSpPr/>
              <p:nvPr/>
            </p:nvSpPr>
            <p:spPr bwMode="auto">
              <a:xfrm>
                <a:off x="4622381" y="3894365"/>
                <a:ext cx="1503369"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4450" cap="flat">
                <a:solidFill>
                  <a:schemeClr val="accent1"/>
                </a:solidFill>
                <a:prstDash val="solid"/>
                <a:miter lim="800000"/>
              </a:ln>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islide-19">
                <a:extLst>
                  <a:ext uri="{FF2B5EF4-FFF2-40B4-BE49-F238E27FC236}">
                    <a16:creationId xmlns:a16="http://schemas.microsoft.com/office/drawing/2014/main" id="{F7274AAE-7BDD-6FD3-0326-CFABF1B26051}"/>
                  </a:ext>
                </a:extLst>
              </p:cNvPr>
              <p:cNvSpPr/>
              <p:nvPr/>
            </p:nvSpPr>
            <p:spPr bwMode="auto">
              <a:xfrm>
                <a:off x="660400" y="3517625"/>
                <a:ext cx="2445128" cy="830492"/>
              </a:xfrm>
              <a:custGeom>
                <a:avLst/>
                <a:gdLst>
                  <a:gd name="T0" fmla="*/ 0 w 813"/>
                  <a:gd name="T1" fmla="*/ 0 h 320"/>
                  <a:gd name="T2" fmla="*/ 515 w 813"/>
                  <a:gd name="T3" fmla="*/ 320 h 320"/>
                  <a:gd name="T4" fmla="*/ 813 w 813"/>
                  <a:gd name="T5" fmla="*/ 112 h 320"/>
                </a:gdLst>
                <a:ahLst/>
                <a:cxnLst>
                  <a:cxn ang="0">
                    <a:pos x="T0" y="T1"/>
                  </a:cxn>
                  <a:cxn ang="0">
                    <a:pos x="T2" y="T3"/>
                  </a:cxn>
                  <a:cxn ang="0">
                    <a:pos x="T4" y="T5"/>
                  </a:cxn>
                </a:cxnLst>
                <a:rect l="0" t="0" r="r" b="b"/>
                <a:pathLst>
                  <a:path w="813" h="320">
                    <a:moveTo>
                      <a:pt x="0" y="0"/>
                    </a:moveTo>
                    <a:cubicBezTo>
                      <a:pt x="258" y="0"/>
                      <a:pt x="258" y="320"/>
                      <a:pt x="515" y="320"/>
                    </a:cubicBezTo>
                    <a:cubicBezTo>
                      <a:pt x="670" y="320"/>
                      <a:pt x="732" y="204"/>
                      <a:pt x="813" y="112"/>
                    </a:cubicBezTo>
                  </a:path>
                </a:pathLst>
              </a:custGeom>
              <a:noFill/>
              <a:ln w="44450" cap="flat">
                <a:solidFill>
                  <a:schemeClr val="accent1"/>
                </a:solidFill>
                <a:prstDash val="solid"/>
                <a:miter lim="800000"/>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5" name="islide-14">
                <a:extLst>
                  <a:ext uri="{FF2B5EF4-FFF2-40B4-BE49-F238E27FC236}">
                    <a16:creationId xmlns:a16="http://schemas.microsoft.com/office/drawing/2014/main" id="{E6F2E671-1FA9-BD6E-3D7C-8C4F683A4258}"/>
                  </a:ext>
                </a:extLst>
              </p:cNvPr>
              <p:cNvSpPr/>
              <p:nvPr/>
            </p:nvSpPr>
            <p:spPr bwMode="auto">
              <a:xfrm>
                <a:off x="6123900" y="3511867"/>
                <a:ext cx="745330" cy="386939"/>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445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0" name="组合 199">
              <a:extLst>
                <a:ext uri="{FF2B5EF4-FFF2-40B4-BE49-F238E27FC236}">
                  <a16:creationId xmlns:a16="http://schemas.microsoft.com/office/drawing/2014/main" id="{A8AEC9C7-C671-5E51-77FD-245EB1456670}"/>
                </a:ext>
              </a:extLst>
            </p:cNvPr>
            <p:cNvGrpSpPr/>
            <p:nvPr/>
          </p:nvGrpSpPr>
          <p:grpSpPr>
            <a:xfrm>
              <a:off x="2101188" y="3234550"/>
              <a:ext cx="3617384" cy="2899550"/>
              <a:chOff x="-502072" y="3234550"/>
              <a:chExt cx="3617384" cy="2899550"/>
            </a:xfrm>
          </p:grpSpPr>
          <p:sp>
            <p:nvSpPr>
              <p:cNvPr id="19" name="Shape1">
                <a:extLst>
                  <a:ext uri="{FF2B5EF4-FFF2-40B4-BE49-F238E27FC236}">
                    <a16:creationId xmlns:a16="http://schemas.microsoft.com/office/drawing/2014/main" id="{8E96768B-C59B-F0EA-D77A-7B0BDFF235E7}"/>
                  </a:ext>
                </a:extLst>
              </p:cNvPr>
              <p:cNvSpPr>
                <a:spLocks noChangeArrowheads="1"/>
              </p:cNvSpPr>
              <p:nvPr/>
            </p:nvSpPr>
            <p:spPr bwMode="auto">
              <a:xfrm>
                <a:off x="1257743" y="4623388"/>
                <a:ext cx="108235" cy="109276"/>
              </a:xfrm>
              <a:prstGeom prst="ellipse">
                <a:avLst/>
              </a:prstGeom>
              <a:noFill/>
              <a:ln w="44450" cap="flat">
                <a:solidFill>
                  <a:schemeClr val="accent1"/>
                </a:solidFill>
                <a:prstDash val="solid"/>
                <a:miter lim="800000"/>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Number1">
                <a:extLst>
                  <a:ext uri="{FF2B5EF4-FFF2-40B4-BE49-F238E27FC236}">
                    <a16:creationId xmlns:a16="http://schemas.microsoft.com/office/drawing/2014/main" id="{6C354903-2E37-606D-1B42-839A5A946FDB}"/>
                  </a:ext>
                </a:extLst>
              </p:cNvPr>
              <p:cNvSpPr>
                <a:spLocks noChangeArrowheads="1"/>
              </p:cNvSpPr>
              <p:nvPr/>
            </p:nvSpPr>
            <p:spPr bwMode="auto">
              <a:xfrm>
                <a:off x="883348" y="3234550"/>
                <a:ext cx="857025" cy="862755"/>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Bullet1">
                <a:extLst>
                  <a:ext uri="{FF2B5EF4-FFF2-40B4-BE49-F238E27FC236}">
                    <a16:creationId xmlns:a16="http://schemas.microsoft.com/office/drawing/2014/main" id="{D971976F-28F1-9494-EA62-8E3195E85404}"/>
                  </a:ext>
                </a:extLst>
              </p:cNvPr>
              <p:cNvSpPr txBox="1"/>
              <p:nvPr/>
            </p:nvSpPr>
            <p:spPr>
              <a:xfrm>
                <a:off x="-502072"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tabLst/>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18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快速迭代的影响</a:t>
                </a:r>
                <a:endParaRPr lang="en-US" dirty="0"/>
              </a:p>
            </p:txBody>
          </p:sp>
          <p:sp>
            <p:nvSpPr>
              <p:cNvPr id="34" name="Text1">
                <a:extLst>
                  <a:ext uri="{FF2B5EF4-FFF2-40B4-BE49-F238E27FC236}">
                    <a16:creationId xmlns:a16="http://schemas.microsoft.com/office/drawing/2014/main" id="{9F2A06B4-90C7-61ED-082E-CD5F9FF80B92}"/>
                  </a:ext>
                </a:extLst>
              </p:cNvPr>
              <p:cNvSpPr txBox="1"/>
              <p:nvPr/>
            </p:nvSpPr>
            <p:spPr>
              <a:xfrm>
                <a:off x="-502072" y="5283276"/>
                <a:ext cx="3617384" cy="850824"/>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技术快速更新可能导致现有系统和流程失效，企业需评估其对业务连续性及成本的影响，及时调整策略。</a:t>
                </a:r>
                <a:endParaRPr lang="en-US" dirty="0"/>
              </a:p>
            </p:txBody>
          </p:sp>
        </p:grpSp>
        <p:grpSp>
          <p:nvGrpSpPr>
            <p:cNvPr id="201" name="组合 200">
              <a:extLst>
                <a:ext uri="{FF2B5EF4-FFF2-40B4-BE49-F238E27FC236}">
                  <a16:creationId xmlns:a16="http://schemas.microsoft.com/office/drawing/2014/main" id="{497E0137-9EEE-8F0E-377F-93DC4A290338}"/>
                </a:ext>
              </a:extLst>
            </p:cNvPr>
            <p:cNvGrpSpPr/>
            <p:nvPr/>
          </p:nvGrpSpPr>
          <p:grpSpPr>
            <a:xfrm>
              <a:off x="4221862" y="1725930"/>
              <a:ext cx="3617384" cy="2885384"/>
              <a:chOff x="784379" y="1725930"/>
              <a:chExt cx="3617384" cy="2885384"/>
            </a:xfrm>
          </p:grpSpPr>
          <p:sp>
            <p:nvSpPr>
              <p:cNvPr id="3" name="Shape2">
                <a:extLst>
                  <a:ext uri="{FF2B5EF4-FFF2-40B4-BE49-F238E27FC236}">
                    <a16:creationId xmlns:a16="http://schemas.microsoft.com/office/drawing/2014/main" id="{A785F708-6689-8C65-CA45-AE181D473639}"/>
                  </a:ext>
                </a:extLst>
              </p:cNvPr>
              <p:cNvSpPr>
                <a:spLocks noChangeArrowheads="1"/>
              </p:cNvSpPr>
              <p:nvPr/>
            </p:nvSpPr>
            <p:spPr bwMode="auto">
              <a:xfrm>
                <a:off x="2601308" y="3131518"/>
                <a:ext cx="106153" cy="106153"/>
              </a:xfrm>
              <a:prstGeom prst="ellipse">
                <a:avLst/>
              </a:prstGeom>
              <a:noFill/>
              <a:ln w="4445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Number2">
                <a:extLst>
                  <a:ext uri="{FF2B5EF4-FFF2-40B4-BE49-F238E27FC236}">
                    <a16:creationId xmlns:a16="http://schemas.microsoft.com/office/drawing/2014/main" id="{8434E079-3514-E019-7085-EC69ACC781D8}"/>
                  </a:ext>
                </a:extLst>
              </p:cNvPr>
              <p:cNvSpPr>
                <a:spLocks noChangeArrowheads="1"/>
              </p:cNvSpPr>
              <p:nvPr/>
            </p:nvSpPr>
            <p:spPr bwMode="auto">
              <a:xfrm>
                <a:off x="2224725" y="3750851"/>
                <a:ext cx="859318" cy="860463"/>
              </a:xfrm>
              <a:prstGeom prst="round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Bullet2">
                <a:extLst>
                  <a:ext uri="{FF2B5EF4-FFF2-40B4-BE49-F238E27FC236}">
                    <a16:creationId xmlns:a16="http://schemas.microsoft.com/office/drawing/2014/main" id="{AD0F87A4-D235-6C4A-3FE5-5DBA7B03AAC7}"/>
                  </a:ext>
                </a:extLst>
              </p:cNvPr>
              <p:cNvSpPr txBox="1"/>
              <p:nvPr/>
            </p:nvSpPr>
            <p:spPr>
              <a:xfrm>
                <a:off x="784379" y="1725930"/>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tabLst/>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18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适应性调整策略</a:t>
                </a:r>
                <a:endParaRPr lang="en-US" dirty="0"/>
              </a:p>
            </p:txBody>
          </p:sp>
          <p:sp>
            <p:nvSpPr>
              <p:cNvPr id="36" name="Text2">
                <a:extLst>
                  <a:ext uri="{FF2B5EF4-FFF2-40B4-BE49-F238E27FC236}">
                    <a16:creationId xmlns:a16="http://schemas.microsoft.com/office/drawing/2014/main" id="{6FA70F6F-7BE8-7C32-B63E-CAF0AAC16729}"/>
                  </a:ext>
                </a:extLst>
              </p:cNvPr>
              <p:cNvSpPr txBox="1"/>
              <p:nvPr/>
            </p:nvSpPr>
            <p:spPr>
              <a:xfrm>
                <a:off x="784379" y="2242999"/>
                <a:ext cx="3617384" cy="850824"/>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针对技术更新，企业应制定灵活的应对方案，包括员工培训、工具升级及资源重新分配以保持竞争力。</a:t>
                </a:r>
                <a:endParaRPr lang="en-US" dirty="0"/>
              </a:p>
            </p:txBody>
          </p:sp>
        </p:grpSp>
        <p:grpSp>
          <p:nvGrpSpPr>
            <p:cNvPr id="202" name="组合 201">
              <a:extLst>
                <a:ext uri="{FF2B5EF4-FFF2-40B4-BE49-F238E27FC236}">
                  <a16:creationId xmlns:a16="http://schemas.microsoft.com/office/drawing/2014/main" id="{5F3C8286-0A1F-83D3-58A8-9AA6DDDDFD97}"/>
                </a:ext>
              </a:extLst>
            </p:cNvPr>
            <p:cNvGrpSpPr/>
            <p:nvPr/>
          </p:nvGrpSpPr>
          <p:grpSpPr>
            <a:xfrm>
              <a:off x="6471038" y="3234550"/>
              <a:ext cx="3617384" cy="2899550"/>
              <a:chOff x="2164281" y="3234550"/>
              <a:chExt cx="3617384" cy="2899550"/>
            </a:xfrm>
          </p:grpSpPr>
          <p:sp>
            <p:nvSpPr>
              <p:cNvPr id="9" name="Shape3">
                <a:extLst>
                  <a:ext uri="{FF2B5EF4-FFF2-40B4-BE49-F238E27FC236}">
                    <a16:creationId xmlns:a16="http://schemas.microsoft.com/office/drawing/2014/main" id="{102C6588-A084-52C9-063A-CA0416AB19B1}"/>
                  </a:ext>
                </a:extLst>
              </p:cNvPr>
              <p:cNvSpPr>
                <a:spLocks noChangeArrowheads="1"/>
              </p:cNvSpPr>
              <p:nvPr/>
            </p:nvSpPr>
            <p:spPr bwMode="auto">
              <a:xfrm>
                <a:off x="3927181" y="4623388"/>
                <a:ext cx="108235" cy="109276"/>
              </a:xfrm>
              <a:prstGeom prst="ellipse">
                <a:avLst/>
              </a:prstGeom>
              <a:noFill/>
              <a:ln w="44450" cap="flat">
                <a:solidFill>
                  <a:schemeClr val="accent1"/>
                </a:solidFill>
                <a:prstDash val="solid"/>
                <a:miter lim="800000"/>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Number3">
                <a:extLst>
                  <a:ext uri="{FF2B5EF4-FFF2-40B4-BE49-F238E27FC236}">
                    <a16:creationId xmlns:a16="http://schemas.microsoft.com/office/drawing/2014/main" id="{6785A4E4-41AE-B77F-69BB-0845A91EC933}"/>
                  </a:ext>
                </a:extLst>
              </p:cNvPr>
              <p:cNvSpPr>
                <a:spLocks noChangeArrowheads="1"/>
              </p:cNvSpPr>
              <p:nvPr/>
            </p:nvSpPr>
            <p:spPr bwMode="auto">
              <a:xfrm>
                <a:off x="3552786" y="3234550"/>
                <a:ext cx="857025" cy="862755"/>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0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Bullet3">
                <a:extLst>
                  <a:ext uri="{FF2B5EF4-FFF2-40B4-BE49-F238E27FC236}">
                    <a16:creationId xmlns:a16="http://schemas.microsoft.com/office/drawing/2014/main" id="{7F714650-02B1-10B1-AAD2-7AB6C7B0FE77}"/>
                  </a:ext>
                </a:extLst>
              </p:cNvPr>
              <p:cNvSpPr txBox="1"/>
              <p:nvPr/>
            </p:nvSpPr>
            <p:spPr>
              <a:xfrm>
                <a:off x="2164281"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tabLst/>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18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风险管理机制</a:t>
                </a:r>
                <a:endParaRPr lang="en-US" dirty="0"/>
              </a:p>
            </p:txBody>
          </p:sp>
          <p:sp>
            <p:nvSpPr>
              <p:cNvPr id="38" name="Text3">
                <a:extLst>
                  <a:ext uri="{FF2B5EF4-FFF2-40B4-BE49-F238E27FC236}">
                    <a16:creationId xmlns:a16="http://schemas.microsoft.com/office/drawing/2014/main" id="{A2581516-FBDB-4648-5774-4BB25EDD4F89}"/>
                  </a:ext>
                </a:extLst>
              </p:cNvPr>
              <p:cNvSpPr txBox="1"/>
              <p:nvPr/>
            </p:nvSpPr>
            <p:spPr>
              <a:xfrm>
                <a:off x="2164281" y="5283276"/>
                <a:ext cx="3617384" cy="850824"/>
              </a:xfrm>
              <a:prstGeom prst="rect">
                <a:avLst/>
              </a:prstGeom>
              <a:noFill/>
            </p:spPr>
            <p:txBody>
              <a:bodyPr wrap="square" lIns="91440" tIns="45720" rIns="91440" bIns="45720" rtlCol="0" anchor="t" anchorCtr="0">
                <a:no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建立完善的监控与反馈系统，预测技术变化带来的潜在风险，并通过定期审查优化风险管理措施。</a:t>
                </a:r>
                <a:endParaRPr lang="en-US" dirty="0"/>
              </a:p>
            </p:txBody>
          </p:sp>
        </p:grpSp>
      </p:grpSp>
      <p:sp>
        <p:nvSpPr>
          <p:cNvPr id="2" name="标题 1"/>
          <p:cNvSpPr>
            <a:spLocks noGrp="1"/>
          </p:cNvSpPr>
          <p:nvPr>
            <p:ph type="title" hasCustomPrompt="1"/>
          </p:nvPr>
        </p:nvSpPr>
        <p:spPr/>
        <p:txBody>
          <a:bodyPr/>
          <a:lstStyle/>
          <a:p>
            <a:r>
              <a:rPr lang="zh-CN" altLang="en-US" dirty="0"/>
              <a:t>技术更新风险</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739206cb-dc7f-4be6-84d2-6a61f8dbccb3.source.6.zh-Hans.pptx">
            <a:extLst>
              <a:ext uri="{FF2B5EF4-FFF2-40B4-BE49-F238E27FC236}">
                <a16:creationId xmlns:a16="http://schemas.microsoft.com/office/drawing/2014/main" id="{5048CF6F-5D2B-5D3C-6A40-A296A18A2B4D}"/>
              </a:ext>
            </a:extLst>
          </p:cNvPr>
          <p:cNvGrpSpPr/>
          <p:nvPr/>
        </p:nvGrpSpPr>
        <p:grpSpPr>
          <a:xfrm>
            <a:off x="660400" y="1130300"/>
            <a:ext cx="10858500" cy="5003800"/>
            <a:chOff x="660400" y="1130300"/>
            <a:chExt cx="10858500" cy="5003800"/>
          </a:xfrm>
        </p:grpSpPr>
        <p:sp>
          <p:nvSpPr>
            <p:cNvPr id="19" name="Title">
              <a:extLst>
                <a:ext uri="{FF2B5EF4-FFF2-40B4-BE49-F238E27FC236}">
                  <a16:creationId xmlns:a16="http://schemas.microsoft.com/office/drawing/2014/main" id="{26D2CB26-9B0B-578D-25C0-A5B12DF1D748}"/>
                </a:ext>
              </a:extLst>
            </p:cNvPr>
            <p:cNvSpPr txBox="1"/>
            <p:nvPr/>
          </p:nvSpPr>
          <p:spPr>
            <a:xfrm>
              <a:off x="660400" y="1130300"/>
              <a:ext cx="10858500" cy="609600"/>
            </a:xfrm>
            <a:prstGeom prst="rect">
              <a:avLst/>
            </a:prstGeom>
            <a:noFill/>
          </p:spPr>
          <p:txBody>
            <a:bodyPr vert="horz" wrap="square" rtlCol="0" anchor="ctr" anchorCtr="0">
              <a:normAutofit/>
            </a:bodyPr>
            <a:lstStyle/>
            <a:p>
              <a:r>
                <a:rPr lang="zh-CN" altLang="en-US" sz="2400" b="1" dirty="0">
                  <a:cs typeface="+mn-ea"/>
                  <a:sym typeface="+mn-lt"/>
                </a:rPr>
                <a:t>改善内部管理流程以降低运营风险</a:t>
              </a:r>
              <a:endParaRPr lang="en-US" dirty="0"/>
            </a:p>
          </p:txBody>
        </p:sp>
        <p:grpSp>
          <p:nvGrpSpPr>
            <p:cNvPr id="21" name="组合 20">
              <a:extLst>
                <a:ext uri="{FF2B5EF4-FFF2-40B4-BE49-F238E27FC236}">
                  <a16:creationId xmlns:a16="http://schemas.microsoft.com/office/drawing/2014/main" id="{C045A9FE-EA5C-1E0E-8A05-E2C99C303936}"/>
                </a:ext>
              </a:extLst>
            </p:cNvPr>
            <p:cNvGrpSpPr/>
            <p:nvPr/>
          </p:nvGrpSpPr>
          <p:grpSpPr>
            <a:xfrm>
              <a:off x="660400" y="1816824"/>
              <a:ext cx="5397361" cy="1400086"/>
              <a:chOff x="660400" y="1816824"/>
              <a:chExt cx="5397361" cy="1400086"/>
            </a:xfrm>
          </p:grpSpPr>
          <p:sp>
            <p:nvSpPr>
              <p:cNvPr id="7" name="Picture1">
                <a:extLst>
                  <a:ext uri="{FF2B5EF4-FFF2-40B4-BE49-F238E27FC236}">
                    <a16:creationId xmlns:a16="http://schemas.microsoft.com/office/drawing/2014/main" id="{7DCE1696-E508-CE21-A3A2-419CF0603F69}"/>
                  </a:ext>
                </a:extLst>
              </p:cNvPr>
              <p:cNvSpPr/>
              <p:nvPr/>
            </p:nvSpPr>
            <p:spPr>
              <a:xfrm>
                <a:off x="4189400" y="1816824"/>
                <a:ext cx="1868361" cy="1395189"/>
              </a:xfrm>
              <a:prstGeom prst="roundRect">
                <a:avLst>
                  <a:gd name="adj" fmla="val 5200"/>
                </a:avLst>
              </a:prstGeom>
              <a:blipFill>
                <a:blip r:embed="rId2"/>
                <a:srcRect/>
                <a:stretch>
                  <a:fillRect l="-6047" r="-5965"/>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1" name="Bullet1">
                <a:extLst>
                  <a:ext uri="{FF2B5EF4-FFF2-40B4-BE49-F238E27FC236}">
                    <a16:creationId xmlns:a16="http://schemas.microsoft.com/office/drawing/2014/main" id="{8F1FFBAC-DDBC-DCD0-5864-B499A76D9101}"/>
                  </a:ext>
                </a:extLst>
              </p:cNvPr>
              <p:cNvSpPr txBox="1">
                <a:spLocks/>
              </p:cNvSpPr>
              <p:nvPr/>
            </p:nvSpPr>
            <p:spPr>
              <a:xfrm>
                <a:off x="948038" y="1835262"/>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风险识别与评估</a:t>
                </a:r>
                <a:endParaRPr lang="en-US" dirty="0"/>
              </a:p>
            </p:txBody>
          </p:sp>
          <p:sp>
            <p:nvSpPr>
              <p:cNvPr id="12" name="Text1">
                <a:extLst>
                  <a:ext uri="{FF2B5EF4-FFF2-40B4-BE49-F238E27FC236}">
                    <a16:creationId xmlns:a16="http://schemas.microsoft.com/office/drawing/2014/main" id="{10836AAA-07C5-9842-C899-688E10218ADA}"/>
                  </a:ext>
                </a:extLst>
              </p:cNvPr>
              <p:cNvSpPr txBox="1"/>
              <p:nvPr/>
            </p:nvSpPr>
            <p:spPr>
              <a:xfrm>
                <a:off x="948038" y="2354006"/>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solidFill>
                      <a:schemeClr val="tx1"/>
                    </a:solidFill>
                    <a:cs typeface="+mn-ea"/>
                    <a:sym typeface="+mn-lt"/>
                  </a:rPr>
                  <a:t>内部管理风险的首要步骤是识别潜在风险并进行系统性评估，确保全面了解可能影响运营的各种因素。</a:t>
                </a:r>
                <a:endParaRPr lang="en-US" dirty="0"/>
              </a:p>
            </p:txBody>
          </p:sp>
          <p:sp>
            <p:nvSpPr>
              <p:cNvPr id="13" name="Number1">
                <a:extLst>
                  <a:ext uri="{FF2B5EF4-FFF2-40B4-BE49-F238E27FC236}">
                    <a16:creationId xmlns:a16="http://schemas.microsoft.com/office/drawing/2014/main" id="{8F9D2BF3-BB09-FF4C-CB6F-E2A473A51EB1}"/>
                  </a:ext>
                </a:extLst>
              </p:cNvPr>
              <p:cNvSpPr txBox="1">
                <a:spLocks/>
              </p:cNvSpPr>
              <p:nvPr/>
            </p:nvSpPr>
            <p:spPr>
              <a:xfrm>
                <a:off x="660400" y="1835262"/>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1</a:t>
                </a:r>
              </a:p>
            </p:txBody>
          </p:sp>
        </p:grpSp>
        <p:grpSp>
          <p:nvGrpSpPr>
            <p:cNvPr id="22" name="组合 21">
              <a:extLst>
                <a:ext uri="{FF2B5EF4-FFF2-40B4-BE49-F238E27FC236}">
                  <a16:creationId xmlns:a16="http://schemas.microsoft.com/office/drawing/2014/main" id="{49791D99-A9D4-08F7-60EC-64E5737D126D}"/>
                </a:ext>
              </a:extLst>
            </p:cNvPr>
            <p:cNvGrpSpPr/>
            <p:nvPr/>
          </p:nvGrpSpPr>
          <p:grpSpPr>
            <a:xfrm>
              <a:off x="660400" y="3277868"/>
              <a:ext cx="5397361" cy="1397637"/>
              <a:chOff x="660400" y="3277868"/>
              <a:chExt cx="5397361" cy="1397637"/>
            </a:xfrm>
          </p:grpSpPr>
          <p:sp>
            <p:nvSpPr>
              <p:cNvPr id="9" name="Picture2">
                <a:extLst>
                  <a:ext uri="{FF2B5EF4-FFF2-40B4-BE49-F238E27FC236}">
                    <a16:creationId xmlns:a16="http://schemas.microsoft.com/office/drawing/2014/main" id="{A0CA4200-D226-125F-CE9F-67E3ED859009}"/>
                  </a:ext>
                </a:extLst>
              </p:cNvPr>
              <p:cNvSpPr/>
              <p:nvPr/>
            </p:nvSpPr>
            <p:spPr>
              <a:xfrm>
                <a:off x="4189400" y="3277868"/>
                <a:ext cx="1868361" cy="1395188"/>
              </a:xfrm>
              <a:prstGeom prst="roundRect">
                <a:avLst>
                  <a:gd name="adj" fmla="val 5200"/>
                </a:avLst>
              </a:prstGeom>
              <a:blipFill>
                <a:blip r:embed="rId3"/>
                <a:stretch>
                  <a:fillRect l="-16734" r="-16509"/>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9" name="Bullet2">
                <a:extLst>
                  <a:ext uri="{FF2B5EF4-FFF2-40B4-BE49-F238E27FC236}">
                    <a16:creationId xmlns:a16="http://schemas.microsoft.com/office/drawing/2014/main" id="{7033D66C-D8DA-ADED-ABEA-AA1E6DEF94C2}"/>
                  </a:ext>
                </a:extLst>
              </p:cNvPr>
              <p:cNvSpPr txBox="1"/>
              <p:nvPr/>
            </p:nvSpPr>
            <p:spPr>
              <a:xfrm>
                <a:off x="948038" y="3293857"/>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流程优化策略</a:t>
                </a:r>
                <a:endParaRPr lang="en-US" dirty="0"/>
              </a:p>
            </p:txBody>
          </p:sp>
          <p:sp>
            <p:nvSpPr>
              <p:cNvPr id="30" name="Text2">
                <a:extLst>
                  <a:ext uri="{FF2B5EF4-FFF2-40B4-BE49-F238E27FC236}">
                    <a16:creationId xmlns:a16="http://schemas.microsoft.com/office/drawing/2014/main" id="{35112BED-B823-7E70-6B9D-6A4B5C021EBE}"/>
                  </a:ext>
                </a:extLst>
              </p:cNvPr>
              <p:cNvSpPr txBox="1"/>
              <p:nvPr/>
            </p:nvSpPr>
            <p:spPr>
              <a:xfrm>
                <a:off x="948038" y="3812601"/>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cs typeface="+mn-ea"/>
                    <a:sym typeface="+mn-lt"/>
                  </a:rPr>
                  <a:t>改善内部管理流程需要制定明确的优化策略，通过精简和标准化操作降低人为错误和资源浪费。</a:t>
                </a:r>
                <a:endParaRPr lang="en-US" dirty="0"/>
              </a:p>
            </p:txBody>
          </p:sp>
          <p:sp>
            <p:nvSpPr>
              <p:cNvPr id="15" name="Number2">
                <a:extLst>
                  <a:ext uri="{FF2B5EF4-FFF2-40B4-BE49-F238E27FC236}">
                    <a16:creationId xmlns:a16="http://schemas.microsoft.com/office/drawing/2014/main" id="{D26307C3-3241-7B18-A159-8D3213A27B69}"/>
                  </a:ext>
                </a:extLst>
              </p:cNvPr>
              <p:cNvSpPr txBox="1">
                <a:spLocks/>
              </p:cNvSpPr>
              <p:nvPr/>
            </p:nvSpPr>
            <p:spPr>
              <a:xfrm>
                <a:off x="660400" y="3288497"/>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2</a:t>
                </a:r>
              </a:p>
            </p:txBody>
          </p:sp>
        </p:grpSp>
        <p:grpSp>
          <p:nvGrpSpPr>
            <p:cNvPr id="23" name="组合 22">
              <a:extLst>
                <a:ext uri="{FF2B5EF4-FFF2-40B4-BE49-F238E27FC236}">
                  <a16:creationId xmlns:a16="http://schemas.microsoft.com/office/drawing/2014/main" id="{A1CAD9EC-423E-BE4D-1F44-0E210B1CA9FE}"/>
                </a:ext>
              </a:extLst>
            </p:cNvPr>
            <p:cNvGrpSpPr/>
            <p:nvPr/>
          </p:nvGrpSpPr>
          <p:grpSpPr>
            <a:xfrm>
              <a:off x="660400" y="4738912"/>
              <a:ext cx="5397361" cy="1395188"/>
              <a:chOff x="660400" y="4738912"/>
              <a:chExt cx="5397361" cy="1395188"/>
            </a:xfrm>
          </p:grpSpPr>
          <p:sp>
            <p:nvSpPr>
              <p:cNvPr id="3" name="Picture3">
                <a:extLst>
                  <a:ext uri="{FF2B5EF4-FFF2-40B4-BE49-F238E27FC236}">
                    <a16:creationId xmlns:a16="http://schemas.microsoft.com/office/drawing/2014/main" id="{4F97880F-EDD8-DEC1-E57B-195103DA68B4}"/>
                  </a:ext>
                </a:extLst>
              </p:cNvPr>
              <p:cNvSpPr/>
              <p:nvPr/>
            </p:nvSpPr>
            <p:spPr>
              <a:xfrm>
                <a:off x="4189400" y="4738912"/>
                <a:ext cx="1868361" cy="1395188"/>
              </a:xfrm>
              <a:prstGeom prst="roundRect">
                <a:avLst>
                  <a:gd name="adj" fmla="val 5200"/>
                </a:avLst>
              </a:prstGeom>
              <a:blipFill>
                <a:blip r:embed="rId4"/>
                <a:stretch>
                  <a:fillRect t="-3598" b="-3534"/>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2" name="Bullet3">
                <a:extLst>
                  <a:ext uri="{FF2B5EF4-FFF2-40B4-BE49-F238E27FC236}">
                    <a16:creationId xmlns:a16="http://schemas.microsoft.com/office/drawing/2014/main" id="{9B751DBD-E950-8E40-9848-404249996D42}"/>
                  </a:ext>
                </a:extLst>
              </p:cNvPr>
              <p:cNvSpPr txBox="1"/>
              <p:nvPr/>
            </p:nvSpPr>
            <p:spPr>
              <a:xfrm>
                <a:off x="948038" y="4752452"/>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员工培训与意识提升</a:t>
                </a:r>
                <a:endParaRPr lang="en-US" dirty="0"/>
              </a:p>
            </p:txBody>
          </p:sp>
          <p:sp>
            <p:nvSpPr>
              <p:cNvPr id="33" name="Text3">
                <a:extLst>
                  <a:ext uri="{FF2B5EF4-FFF2-40B4-BE49-F238E27FC236}">
                    <a16:creationId xmlns:a16="http://schemas.microsoft.com/office/drawing/2014/main" id="{CB66DF9D-3DD8-0E60-1FCE-D98295A3C08A}"/>
                  </a:ext>
                </a:extLst>
              </p:cNvPr>
              <p:cNvSpPr txBox="1"/>
              <p:nvPr/>
            </p:nvSpPr>
            <p:spPr>
              <a:xfrm>
                <a:off x="948038" y="5271196"/>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solidFill>
                      <a:schemeClr val="tx1"/>
                    </a:solidFill>
                    <a:cs typeface="+mn-ea"/>
                    <a:sym typeface="+mn-lt"/>
                  </a:rPr>
                  <a:t>提高员工对风险管理的认知，定期开展培训计划，帮助团队成员更好地理解其在降低运营风险中的角色。</a:t>
                </a:r>
                <a:endParaRPr lang="en-US" dirty="0"/>
              </a:p>
            </p:txBody>
          </p:sp>
          <p:sp>
            <p:nvSpPr>
              <p:cNvPr id="16" name="Number3">
                <a:extLst>
                  <a:ext uri="{FF2B5EF4-FFF2-40B4-BE49-F238E27FC236}">
                    <a16:creationId xmlns:a16="http://schemas.microsoft.com/office/drawing/2014/main" id="{7C5C7E93-C84E-DAA7-EBF0-02F4728E44D6}"/>
                  </a:ext>
                </a:extLst>
              </p:cNvPr>
              <p:cNvSpPr txBox="1">
                <a:spLocks/>
              </p:cNvSpPr>
              <p:nvPr/>
            </p:nvSpPr>
            <p:spPr>
              <a:xfrm>
                <a:off x="660400" y="4747092"/>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3</a:t>
                </a:r>
              </a:p>
            </p:txBody>
          </p:sp>
        </p:grpSp>
        <p:grpSp>
          <p:nvGrpSpPr>
            <p:cNvPr id="24" name="组合 23">
              <a:extLst>
                <a:ext uri="{FF2B5EF4-FFF2-40B4-BE49-F238E27FC236}">
                  <a16:creationId xmlns:a16="http://schemas.microsoft.com/office/drawing/2014/main" id="{578AB775-C1D6-0171-67F9-5C1CB5821880}"/>
                </a:ext>
              </a:extLst>
            </p:cNvPr>
            <p:cNvGrpSpPr/>
            <p:nvPr/>
          </p:nvGrpSpPr>
          <p:grpSpPr>
            <a:xfrm>
              <a:off x="6121539" y="1816824"/>
              <a:ext cx="5397361" cy="1400086"/>
              <a:chOff x="6121539" y="1816824"/>
              <a:chExt cx="5397361" cy="1400086"/>
            </a:xfrm>
          </p:grpSpPr>
          <p:sp>
            <p:nvSpPr>
              <p:cNvPr id="8" name="Picture4">
                <a:extLst>
                  <a:ext uri="{FF2B5EF4-FFF2-40B4-BE49-F238E27FC236}">
                    <a16:creationId xmlns:a16="http://schemas.microsoft.com/office/drawing/2014/main" id="{C6C5F89F-C2FA-CFF2-A588-2D109E76F6B3}"/>
                  </a:ext>
                </a:extLst>
              </p:cNvPr>
              <p:cNvSpPr/>
              <p:nvPr/>
            </p:nvSpPr>
            <p:spPr>
              <a:xfrm>
                <a:off x="6121539" y="1816824"/>
                <a:ext cx="1868361" cy="1395189"/>
              </a:xfrm>
              <a:prstGeom prst="roundRect">
                <a:avLst>
                  <a:gd name="adj" fmla="val 5200"/>
                </a:avLst>
              </a:prstGeom>
              <a:blipFill>
                <a:blip r:embed="rId5"/>
                <a:srcRect/>
                <a:stretch>
                  <a:fillRect l="-6047" r="-5965"/>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7" name="Bullet4">
                <a:extLst>
                  <a:ext uri="{FF2B5EF4-FFF2-40B4-BE49-F238E27FC236}">
                    <a16:creationId xmlns:a16="http://schemas.microsoft.com/office/drawing/2014/main" id="{6ADA7DB5-CABE-C765-1DD5-DA0F21611C8D}"/>
                  </a:ext>
                </a:extLst>
              </p:cNvPr>
              <p:cNvSpPr txBox="1"/>
              <p:nvPr/>
            </p:nvSpPr>
            <p:spPr>
              <a:xfrm>
                <a:off x="8356600" y="1835262"/>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监控与反馈机制</a:t>
                </a:r>
                <a:endParaRPr lang="en-US" dirty="0"/>
              </a:p>
            </p:txBody>
          </p:sp>
          <p:sp>
            <p:nvSpPr>
              <p:cNvPr id="38" name="Text4">
                <a:extLst>
                  <a:ext uri="{FF2B5EF4-FFF2-40B4-BE49-F238E27FC236}">
                    <a16:creationId xmlns:a16="http://schemas.microsoft.com/office/drawing/2014/main" id="{B0423CD2-950A-E75A-C675-3504505217F0}"/>
                  </a:ext>
                </a:extLst>
              </p:cNvPr>
              <p:cNvSpPr txBox="1"/>
              <p:nvPr/>
            </p:nvSpPr>
            <p:spPr>
              <a:xfrm>
                <a:off x="8356600" y="2354006"/>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cs typeface="+mn-ea"/>
                    <a:sym typeface="+mn-lt"/>
                  </a:rPr>
                  <a:t>建立完善的监控和反馈体系，及时发现和纠正管理流程中的问题，从而有效减少潜在风险的影响。</a:t>
                </a:r>
                <a:endParaRPr lang="en-US" dirty="0"/>
              </a:p>
            </p:txBody>
          </p:sp>
          <p:sp>
            <p:nvSpPr>
              <p:cNvPr id="17" name="Number4">
                <a:extLst>
                  <a:ext uri="{FF2B5EF4-FFF2-40B4-BE49-F238E27FC236}">
                    <a16:creationId xmlns:a16="http://schemas.microsoft.com/office/drawing/2014/main" id="{0004B0FB-1B39-5EE3-D817-4446F4DC3662}"/>
                  </a:ext>
                </a:extLst>
              </p:cNvPr>
              <p:cNvSpPr txBox="1">
                <a:spLocks/>
              </p:cNvSpPr>
              <p:nvPr/>
            </p:nvSpPr>
            <p:spPr>
              <a:xfrm>
                <a:off x="8061235" y="1835262"/>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4</a:t>
                </a:r>
              </a:p>
            </p:txBody>
          </p:sp>
        </p:grpSp>
        <p:grpSp>
          <p:nvGrpSpPr>
            <p:cNvPr id="25" name="组合 24">
              <a:extLst>
                <a:ext uri="{FF2B5EF4-FFF2-40B4-BE49-F238E27FC236}">
                  <a16:creationId xmlns:a16="http://schemas.microsoft.com/office/drawing/2014/main" id="{1BADCC1D-9570-6534-4FA0-5D78BC370F86}"/>
                </a:ext>
              </a:extLst>
            </p:cNvPr>
            <p:cNvGrpSpPr/>
            <p:nvPr/>
          </p:nvGrpSpPr>
          <p:grpSpPr>
            <a:xfrm>
              <a:off x="6121539" y="3277868"/>
              <a:ext cx="5397361" cy="1397637"/>
              <a:chOff x="6121539" y="3277868"/>
              <a:chExt cx="5397361" cy="1397637"/>
            </a:xfrm>
          </p:grpSpPr>
          <p:sp>
            <p:nvSpPr>
              <p:cNvPr id="10" name="Picture5">
                <a:extLst>
                  <a:ext uri="{FF2B5EF4-FFF2-40B4-BE49-F238E27FC236}">
                    <a16:creationId xmlns:a16="http://schemas.microsoft.com/office/drawing/2014/main" id="{DD0267BA-515F-2CA2-334E-ED4EE6C9C69B}"/>
                  </a:ext>
                </a:extLst>
              </p:cNvPr>
              <p:cNvSpPr/>
              <p:nvPr/>
            </p:nvSpPr>
            <p:spPr>
              <a:xfrm>
                <a:off x="6121539" y="3277868"/>
                <a:ext cx="1868361" cy="1395188"/>
              </a:xfrm>
              <a:prstGeom prst="roundRect">
                <a:avLst>
                  <a:gd name="adj" fmla="val 5200"/>
                </a:avLst>
              </a:prstGeom>
              <a:blipFill>
                <a:blip r:embed="rId6"/>
                <a:stretch>
                  <a:fillRect l="-6047" r="-5965"/>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40" name="Bullet5">
                <a:extLst>
                  <a:ext uri="{FF2B5EF4-FFF2-40B4-BE49-F238E27FC236}">
                    <a16:creationId xmlns:a16="http://schemas.microsoft.com/office/drawing/2014/main" id="{2946C85A-E623-3979-6C4B-AC0A5A692EA4}"/>
                  </a:ext>
                </a:extLst>
              </p:cNvPr>
              <p:cNvSpPr txBox="1"/>
              <p:nvPr/>
            </p:nvSpPr>
            <p:spPr>
              <a:xfrm>
                <a:off x="8356600" y="3293857"/>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数据驱动决策支持</a:t>
                </a:r>
                <a:endParaRPr lang="en-US" dirty="0"/>
              </a:p>
            </p:txBody>
          </p:sp>
          <p:sp>
            <p:nvSpPr>
              <p:cNvPr id="41" name="Text5">
                <a:extLst>
                  <a:ext uri="{FF2B5EF4-FFF2-40B4-BE49-F238E27FC236}">
                    <a16:creationId xmlns:a16="http://schemas.microsoft.com/office/drawing/2014/main" id="{7CDF8CCE-9725-8F8A-D6A1-6CAC7EFDA761}"/>
                  </a:ext>
                </a:extLst>
              </p:cNvPr>
              <p:cNvSpPr txBox="1"/>
              <p:nvPr/>
            </p:nvSpPr>
            <p:spPr>
              <a:xfrm>
                <a:off x="8356600" y="3812601"/>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cs typeface="+mn-ea"/>
                    <a:sym typeface="+mn-lt"/>
                  </a:rPr>
                  <a:t>利用数据分析工具辅助决策，通过量化关键指标来评估内部管理效率，并提出针对性改进措施。</a:t>
                </a:r>
                <a:endParaRPr lang="en-US" dirty="0"/>
              </a:p>
            </p:txBody>
          </p:sp>
          <p:sp>
            <p:nvSpPr>
              <p:cNvPr id="18" name="Number5">
                <a:extLst>
                  <a:ext uri="{FF2B5EF4-FFF2-40B4-BE49-F238E27FC236}">
                    <a16:creationId xmlns:a16="http://schemas.microsoft.com/office/drawing/2014/main" id="{35544EF7-6088-5222-D672-886EDCB3BD76}"/>
                  </a:ext>
                </a:extLst>
              </p:cNvPr>
              <p:cNvSpPr txBox="1">
                <a:spLocks/>
              </p:cNvSpPr>
              <p:nvPr/>
            </p:nvSpPr>
            <p:spPr>
              <a:xfrm>
                <a:off x="8061235" y="3288497"/>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5</a:t>
                </a:r>
              </a:p>
            </p:txBody>
          </p:sp>
        </p:grpSp>
        <p:grpSp>
          <p:nvGrpSpPr>
            <p:cNvPr id="26" name="组合 25">
              <a:extLst>
                <a:ext uri="{FF2B5EF4-FFF2-40B4-BE49-F238E27FC236}">
                  <a16:creationId xmlns:a16="http://schemas.microsoft.com/office/drawing/2014/main" id="{1A9EE387-7E1E-1E6B-AA9A-CEAB055CF8D9}"/>
                </a:ext>
              </a:extLst>
            </p:cNvPr>
            <p:cNvGrpSpPr/>
            <p:nvPr/>
          </p:nvGrpSpPr>
          <p:grpSpPr>
            <a:xfrm>
              <a:off x="6121539" y="4738912"/>
              <a:ext cx="5397361" cy="1395188"/>
              <a:chOff x="6121539" y="4738912"/>
              <a:chExt cx="5397361" cy="1395188"/>
            </a:xfrm>
          </p:grpSpPr>
          <p:sp>
            <p:nvSpPr>
              <p:cNvPr id="4" name="Picture6">
                <a:extLst>
                  <a:ext uri="{FF2B5EF4-FFF2-40B4-BE49-F238E27FC236}">
                    <a16:creationId xmlns:a16="http://schemas.microsoft.com/office/drawing/2014/main" id="{53A1A879-F28A-6D10-F6F0-0D4C037DCB59}"/>
                  </a:ext>
                </a:extLst>
              </p:cNvPr>
              <p:cNvSpPr/>
              <p:nvPr/>
            </p:nvSpPr>
            <p:spPr>
              <a:xfrm>
                <a:off x="6121539" y="4738912"/>
                <a:ext cx="1868361" cy="1395188"/>
              </a:xfrm>
              <a:prstGeom prst="roundRect">
                <a:avLst>
                  <a:gd name="adj" fmla="val 5200"/>
                </a:avLst>
              </a:prstGeom>
              <a:blipFill>
                <a:blip r:embed="rId7"/>
                <a:stretch>
                  <a:fillRect l="-6047" r="-5965"/>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43" name="Bullet6">
                <a:extLst>
                  <a:ext uri="{FF2B5EF4-FFF2-40B4-BE49-F238E27FC236}">
                    <a16:creationId xmlns:a16="http://schemas.microsoft.com/office/drawing/2014/main" id="{453AFFFA-28D6-BAE7-102B-98477D22D0AE}"/>
                  </a:ext>
                </a:extLst>
              </p:cNvPr>
              <p:cNvSpPr txBox="1"/>
              <p:nvPr/>
            </p:nvSpPr>
            <p:spPr>
              <a:xfrm>
                <a:off x="8356600" y="4752452"/>
                <a:ext cx="3162300" cy="518746"/>
              </a:xfrm>
              <a:prstGeom prst="rect">
                <a:avLst/>
              </a:prstGeom>
            </p:spPr>
            <p:txBody>
              <a:bodyPr vert="horz" wrap="square" lIns="91440" tIns="45720" rIns="91440" bIns="45720" anchor="ctr" anchorCtr="0">
                <a:normAutofit/>
              </a:bodyPr>
              <a:lstStyle/>
              <a:p>
                <a:pPr>
                  <a:lnSpc>
                    <a:spcPct val="120000"/>
                  </a:lnSpc>
                </a:pPr>
                <a:r>
                  <a:rPr lang="zh-CN" altLang="en-US" b="1" kern="900" dirty="0">
                    <a:cs typeface="+mn-ea"/>
                    <a:sym typeface="+mn-lt"/>
                  </a:rPr>
                  <a:t>持续改进文化构建</a:t>
                </a:r>
                <a:endParaRPr lang="en-US" dirty="0"/>
              </a:p>
            </p:txBody>
          </p:sp>
          <p:sp>
            <p:nvSpPr>
              <p:cNvPr id="44" name="Text6">
                <a:extLst>
                  <a:ext uri="{FF2B5EF4-FFF2-40B4-BE49-F238E27FC236}">
                    <a16:creationId xmlns:a16="http://schemas.microsoft.com/office/drawing/2014/main" id="{7D8FDEF0-6906-8C15-A00F-B3218F0662FE}"/>
                  </a:ext>
                </a:extLst>
              </p:cNvPr>
              <p:cNvSpPr txBox="1"/>
              <p:nvPr/>
            </p:nvSpPr>
            <p:spPr>
              <a:xfrm>
                <a:off x="8356600" y="5271196"/>
                <a:ext cx="3162300" cy="862904"/>
              </a:xfrm>
              <a:prstGeom prst="rect">
                <a:avLst/>
              </a:prstGeom>
            </p:spPr>
            <p:txBody>
              <a:bodyPr vert="horz" wrap="square" lIns="91440" tIns="45720" rIns="91440" bIns="45720" anchor="t" anchorCtr="0">
                <a:normAutofit/>
              </a:bodyPr>
              <a:lstStyle/>
              <a:p>
                <a:pPr algn="l">
                  <a:lnSpc>
                    <a:spcPct val="120000"/>
                  </a:lnSpc>
                </a:pPr>
                <a:r>
                  <a:rPr lang="zh-CN" altLang="en-US" sz="1200" dirty="0">
                    <a:solidFill>
                      <a:schemeClr val="tx1"/>
                    </a:solidFill>
                    <a:cs typeface="+mn-ea"/>
                    <a:sym typeface="+mn-lt"/>
                  </a:rPr>
                  <a:t>推动组织内部形成持续改进的文化氛围，鼓励创新思维和跨部门协作，以灵活应对各种管理挑战。</a:t>
                </a:r>
                <a:endParaRPr lang="en-US" dirty="0"/>
              </a:p>
            </p:txBody>
          </p:sp>
          <p:sp>
            <p:nvSpPr>
              <p:cNvPr id="20" name="Number6">
                <a:extLst>
                  <a:ext uri="{FF2B5EF4-FFF2-40B4-BE49-F238E27FC236}">
                    <a16:creationId xmlns:a16="http://schemas.microsoft.com/office/drawing/2014/main" id="{CB3ABFE8-6452-51FD-D439-6FBB9A241527}"/>
                  </a:ext>
                </a:extLst>
              </p:cNvPr>
              <p:cNvSpPr txBox="1">
                <a:spLocks/>
              </p:cNvSpPr>
              <p:nvPr/>
            </p:nvSpPr>
            <p:spPr>
              <a:xfrm>
                <a:off x="8061235" y="4747092"/>
                <a:ext cx="287338" cy="524106"/>
              </a:xfrm>
              <a:prstGeom prst="rect">
                <a:avLst/>
              </a:prstGeom>
              <a:noFill/>
              <a:effectLst/>
            </p:spPr>
            <p:txBody>
              <a:bodyPr wrap="none" lIns="91440" tIns="45720" rIns="91440" bIns="45720" rtlCol="0" anchor="ctr">
                <a:norm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altLang="zh-CN" sz="2400" dirty="0">
                    <a:solidFill>
                      <a:schemeClr val="accent1"/>
                    </a:solidFill>
                    <a:effectLst/>
                    <a:cs typeface="+mn-ea"/>
                    <a:sym typeface="+mn-lt"/>
                  </a:rPr>
                  <a:t>6</a:t>
                </a:r>
              </a:p>
            </p:txBody>
          </p:sp>
        </p:grpSp>
      </p:grpSp>
      <p:sp>
        <p:nvSpPr>
          <p:cNvPr id="2" name="标题 1"/>
          <p:cNvSpPr>
            <a:spLocks noGrp="1"/>
          </p:cNvSpPr>
          <p:nvPr>
            <p:ph type="title" hasCustomPrompt="1"/>
          </p:nvPr>
        </p:nvSpPr>
        <p:spPr/>
        <p:txBody>
          <a:bodyPr/>
          <a:lstStyle/>
          <a:p>
            <a:r>
              <a:rPr lang="zh-CN" altLang="en-US" dirty="0"/>
              <a:t>内部管理风险</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C9DDAF2-0D4C-B98F-3ACA-821FE7018B01}"/>
              </a:ext>
            </a:extLst>
          </p:cNvPr>
          <p:cNvGrpSpPr/>
          <p:nvPr/>
        </p:nvGrpSpPr>
        <p:grpSpPr>
          <a:xfrm>
            <a:off x="660399" y="1265256"/>
            <a:ext cx="10858500" cy="5060868"/>
            <a:chOff x="660399" y="1265256"/>
            <a:chExt cx="10858500" cy="5060868"/>
          </a:xfrm>
        </p:grpSpPr>
        <p:sp>
          <p:nvSpPr>
            <p:cNvPr id="13" name="ComponentBackground1">
              <a:extLst>
                <a:ext uri="{FF2B5EF4-FFF2-40B4-BE49-F238E27FC236}">
                  <a16:creationId xmlns:a16="http://schemas.microsoft.com/office/drawing/2014/main" id="{969FE1E8-1C76-0375-984B-25696EB88A00}"/>
                </a:ext>
              </a:extLst>
            </p:cNvPr>
            <p:cNvSpPr/>
            <p:nvPr/>
          </p:nvSpPr>
          <p:spPr>
            <a:xfrm>
              <a:off x="660400" y="1874856"/>
              <a:ext cx="8575040" cy="4296836"/>
            </a:xfrm>
            <a:prstGeom prst="roundRect">
              <a:avLst>
                <a:gd name="adj" fmla="val 6027"/>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lang="zh-CN" altLang="en-US" sz="2400" b="1"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2" name="a0b8655a-7b50-4086-ac98-15c876d3900a.source.5.zh-Hans.pptx">
              <a:extLst>
                <a:ext uri="{FF2B5EF4-FFF2-40B4-BE49-F238E27FC236}">
                  <a16:creationId xmlns:a16="http://schemas.microsoft.com/office/drawing/2014/main" id="{134AE2D3-B994-B8A6-CAC7-5D8FD37E4D4E}"/>
                </a:ext>
              </a:extLst>
            </p:cNvPr>
            <p:cNvGrpSpPr/>
            <p:nvPr/>
          </p:nvGrpSpPr>
          <p:grpSpPr>
            <a:xfrm>
              <a:off x="660399" y="1265256"/>
              <a:ext cx="10858500" cy="5060868"/>
              <a:chOff x="660399" y="1073232"/>
              <a:chExt cx="10858500" cy="5060868"/>
            </a:xfrm>
          </p:grpSpPr>
          <p:grpSp>
            <p:nvGrpSpPr>
              <p:cNvPr id="4" name="组合 3">
                <a:extLst>
                  <a:ext uri="{FF2B5EF4-FFF2-40B4-BE49-F238E27FC236}">
                    <a16:creationId xmlns:a16="http://schemas.microsoft.com/office/drawing/2014/main" id="{66BFCF79-4DF0-C42F-EC27-19F686667DE4}"/>
                  </a:ext>
                </a:extLst>
              </p:cNvPr>
              <p:cNvGrpSpPr/>
              <p:nvPr/>
            </p:nvGrpSpPr>
            <p:grpSpPr>
              <a:xfrm>
                <a:off x="660399" y="1073232"/>
                <a:ext cx="10858500" cy="5060868"/>
                <a:chOff x="660399" y="1073232"/>
                <a:chExt cx="10858500" cy="5060868"/>
              </a:xfrm>
            </p:grpSpPr>
            <p:sp>
              <p:nvSpPr>
                <p:cNvPr id="3" name="Title">
                  <a:extLst>
                    <a:ext uri="{FF2B5EF4-FFF2-40B4-BE49-F238E27FC236}">
                      <a16:creationId xmlns:a16="http://schemas.microsoft.com/office/drawing/2014/main" id="{77FDC5BE-EA2B-F734-96CC-8E2356F88049}"/>
                    </a:ext>
                  </a:extLst>
                </p:cNvPr>
                <p:cNvSpPr txBox="1"/>
                <p:nvPr/>
              </p:nvSpPr>
              <p:spPr>
                <a:xfrm>
                  <a:off x="660399" y="1073232"/>
                  <a:ext cx="10858500" cy="609600"/>
                </a:xfrm>
                <a:prstGeom prst="rect">
                  <a:avLst/>
                </a:prstGeom>
                <a:noFill/>
              </p:spPr>
              <p:txBody>
                <a:bodyPr vert="horz" wrap="square" rtlCol="0" anchor="ctr">
                  <a:normAutofit/>
                </a:bodyPr>
                <a:lstStyle/>
                <a:p>
                  <a:r>
                    <a:rPr lang="zh-CN" altLang="en-US" sz="2400" b="1" dirty="0"/>
                    <a:t>在危机情况下维护品牌形象的有效手段</a:t>
                  </a:r>
                  <a:endParaRPr lang="en-US" dirty="0"/>
                </a:p>
              </p:txBody>
            </p:sp>
            <p:grpSp>
              <p:nvGrpSpPr>
                <p:cNvPr id="23" name="组合 22">
                  <a:extLst>
                    <a:ext uri="{FF2B5EF4-FFF2-40B4-BE49-F238E27FC236}">
                      <a16:creationId xmlns:a16="http://schemas.microsoft.com/office/drawing/2014/main" id="{400CE552-C701-69C1-67FD-A781A89E933A}"/>
                    </a:ext>
                  </a:extLst>
                </p:cNvPr>
                <p:cNvGrpSpPr>
                  <a:grpSpLocks/>
                </p:cNvGrpSpPr>
                <p:nvPr/>
              </p:nvGrpSpPr>
              <p:grpSpPr>
                <a:xfrm>
                  <a:off x="660400" y="1869887"/>
                  <a:ext cx="3795450" cy="1313605"/>
                  <a:chOff x="797462" y="1963790"/>
                  <a:chExt cx="3220935" cy="1410021"/>
                </a:xfrm>
              </p:grpSpPr>
              <p:sp>
                <p:nvSpPr>
                  <p:cNvPr id="14" name="Bullet1">
                    <a:extLst>
                      <a:ext uri="{FF2B5EF4-FFF2-40B4-BE49-F238E27FC236}">
                        <a16:creationId xmlns:a16="http://schemas.microsoft.com/office/drawing/2014/main" id="{D155BF43-6749-2C77-4C00-25A46418B5D8}"/>
                      </a:ext>
                    </a:extLst>
                  </p:cNvPr>
                  <p:cNvSpPr>
                    <a:spLocks/>
                  </p:cNvSpPr>
                  <p:nvPr/>
                </p:nvSpPr>
                <p:spPr>
                  <a:xfrm>
                    <a:off x="797462" y="1963790"/>
                    <a:ext cx="3220935" cy="43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latin typeface="Arial" panose="020B0604020202020204" pitchFamily="34" charset="0"/>
                        <a:ea typeface="微软雅黑" panose="020B0503020204020204" pitchFamily="34" charset="-122"/>
                        <a:sym typeface="Arial" panose="020B0604020202020204" pitchFamily="34" charset="0"/>
                      </a:rPr>
                      <a:t>危机识别与预警</a:t>
                    </a:r>
                    <a:endParaRPr lang="en-US" dirty="0"/>
                  </a:p>
                </p:txBody>
              </p:sp>
              <p:sp>
                <p:nvSpPr>
                  <p:cNvPr id="15" name="Text1">
                    <a:extLst>
                      <a:ext uri="{FF2B5EF4-FFF2-40B4-BE49-F238E27FC236}">
                        <a16:creationId xmlns:a16="http://schemas.microsoft.com/office/drawing/2014/main" id="{FFA3E89F-BC85-AB93-D725-7EA70FA503CD}"/>
                      </a:ext>
                    </a:extLst>
                  </p:cNvPr>
                  <p:cNvSpPr/>
                  <p:nvPr/>
                </p:nvSpPr>
                <p:spPr>
                  <a:xfrm>
                    <a:off x="797463" y="2399540"/>
                    <a:ext cx="3220934" cy="97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及时发现潜在危机并建立预警机制，是维护品牌形象的第一步，能够有效减少危机对品牌的负面影响。</a:t>
                    </a:r>
                    <a:endParaRPr lang="en-US" dirty="0"/>
                  </a:p>
                </p:txBody>
              </p:sp>
            </p:grpSp>
            <p:grpSp>
              <p:nvGrpSpPr>
                <p:cNvPr id="5" name="组合 1">
                  <a:extLst>
                    <a:ext uri="{FF2B5EF4-FFF2-40B4-BE49-F238E27FC236}">
                      <a16:creationId xmlns:a16="http://schemas.microsoft.com/office/drawing/2014/main" id="{5FA8223E-E6C2-131B-536F-AB523810350C}"/>
                    </a:ext>
                  </a:extLst>
                </p:cNvPr>
                <p:cNvGrpSpPr>
                  <a:grpSpLocks/>
                </p:cNvGrpSpPr>
                <p:nvPr/>
              </p:nvGrpSpPr>
              <p:grpSpPr>
                <a:xfrm>
                  <a:off x="660400" y="3345192"/>
                  <a:ext cx="3795450" cy="1313605"/>
                  <a:chOff x="797462" y="1963790"/>
                  <a:chExt cx="3220935" cy="1410021"/>
                </a:xfrm>
              </p:grpSpPr>
              <p:sp>
                <p:nvSpPr>
                  <p:cNvPr id="6" name="Bullet2">
                    <a:extLst>
                      <a:ext uri="{FF2B5EF4-FFF2-40B4-BE49-F238E27FC236}">
                        <a16:creationId xmlns:a16="http://schemas.microsoft.com/office/drawing/2014/main" id="{DC4C95A7-435A-031E-C594-2418E60164AA}"/>
                      </a:ext>
                    </a:extLst>
                  </p:cNvPr>
                  <p:cNvSpPr>
                    <a:spLocks/>
                  </p:cNvSpPr>
                  <p:nvPr/>
                </p:nvSpPr>
                <p:spPr>
                  <a:xfrm>
                    <a:off x="797462" y="1963790"/>
                    <a:ext cx="3220935" cy="43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latin typeface="Arial" panose="020B0604020202020204" pitchFamily="34" charset="0"/>
                        <a:ea typeface="微软雅黑" panose="020B0503020204020204" pitchFamily="34" charset="-122"/>
                        <a:sym typeface="Arial" panose="020B0604020202020204" pitchFamily="34" charset="0"/>
                      </a:rPr>
                      <a:t>快速响应策略</a:t>
                    </a:r>
                    <a:endParaRPr lang="en-US" dirty="0"/>
                  </a:p>
                </p:txBody>
              </p:sp>
              <p:sp>
                <p:nvSpPr>
                  <p:cNvPr id="7" name="Text2">
                    <a:extLst>
                      <a:ext uri="{FF2B5EF4-FFF2-40B4-BE49-F238E27FC236}">
                        <a16:creationId xmlns:a16="http://schemas.microsoft.com/office/drawing/2014/main" id="{31C1B419-9737-2878-7C17-7328151C3A1B}"/>
                      </a:ext>
                    </a:extLst>
                  </p:cNvPr>
                  <p:cNvSpPr/>
                  <p:nvPr/>
                </p:nvSpPr>
                <p:spPr>
                  <a:xfrm>
                    <a:off x="797463" y="2399540"/>
                    <a:ext cx="3220934" cy="97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制定快速响应计划，明确责任分工，确保在危机发生时迅速行动，展现品牌负责任的态度。</a:t>
                    </a:r>
                    <a:endParaRPr lang="en-US" dirty="0"/>
                  </a:p>
                </p:txBody>
              </p:sp>
            </p:grpSp>
            <p:grpSp>
              <p:nvGrpSpPr>
                <p:cNvPr id="8" name="组合 7">
                  <a:extLst>
                    <a:ext uri="{FF2B5EF4-FFF2-40B4-BE49-F238E27FC236}">
                      <a16:creationId xmlns:a16="http://schemas.microsoft.com/office/drawing/2014/main" id="{0366F0FF-9F93-1922-8DF2-A61475146725}"/>
                    </a:ext>
                  </a:extLst>
                </p:cNvPr>
                <p:cNvGrpSpPr>
                  <a:grpSpLocks/>
                </p:cNvGrpSpPr>
                <p:nvPr/>
              </p:nvGrpSpPr>
              <p:grpSpPr>
                <a:xfrm>
                  <a:off x="660400" y="4820495"/>
                  <a:ext cx="3795450" cy="1313605"/>
                  <a:chOff x="797462" y="1963790"/>
                  <a:chExt cx="3220935" cy="1410021"/>
                </a:xfrm>
              </p:grpSpPr>
              <p:sp>
                <p:nvSpPr>
                  <p:cNvPr id="9" name="Bullet3">
                    <a:extLst>
                      <a:ext uri="{FF2B5EF4-FFF2-40B4-BE49-F238E27FC236}">
                        <a16:creationId xmlns:a16="http://schemas.microsoft.com/office/drawing/2014/main" id="{F0A38C26-F5D6-5DAE-883C-C5809F0262BA}"/>
                      </a:ext>
                    </a:extLst>
                  </p:cNvPr>
                  <p:cNvSpPr>
                    <a:spLocks/>
                  </p:cNvSpPr>
                  <p:nvPr/>
                </p:nvSpPr>
                <p:spPr>
                  <a:xfrm>
                    <a:off x="797462" y="1963790"/>
                    <a:ext cx="3220935" cy="43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latin typeface="Arial" panose="020B0604020202020204" pitchFamily="34" charset="0"/>
                        <a:ea typeface="微软雅黑" panose="020B0503020204020204" pitchFamily="34" charset="-122"/>
                        <a:sym typeface="Arial" panose="020B0604020202020204" pitchFamily="34" charset="0"/>
                      </a:rPr>
                      <a:t>沟通渠道管理</a:t>
                    </a:r>
                    <a:endParaRPr lang="en-US" dirty="0"/>
                  </a:p>
                </p:txBody>
              </p:sp>
              <p:sp>
                <p:nvSpPr>
                  <p:cNvPr id="10" name="Text3">
                    <a:extLst>
                      <a:ext uri="{FF2B5EF4-FFF2-40B4-BE49-F238E27FC236}">
                        <a16:creationId xmlns:a16="http://schemas.microsoft.com/office/drawing/2014/main" id="{0713877C-8110-CE3E-98CF-A7F0F498CFDD}"/>
                      </a:ext>
                    </a:extLst>
                  </p:cNvPr>
                  <p:cNvSpPr/>
                  <p:nvPr/>
                </p:nvSpPr>
                <p:spPr>
                  <a:xfrm>
                    <a:off x="797463" y="2399540"/>
                    <a:ext cx="3220934" cy="97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确保信息透明，通过官方渠道及时发布准确信息，避免谣言传播，增强公众对品牌的信任感。</a:t>
                    </a:r>
                    <a:endParaRPr lang="en-US" dirty="0"/>
                  </a:p>
                </p:txBody>
              </p:sp>
            </p:grpSp>
            <p:grpSp>
              <p:nvGrpSpPr>
                <p:cNvPr id="21" name="组合 20">
                  <a:extLst>
                    <a:ext uri="{FF2B5EF4-FFF2-40B4-BE49-F238E27FC236}">
                      <a16:creationId xmlns:a16="http://schemas.microsoft.com/office/drawing/2014/main" id="{6488FD61-91B7-FE2D-CAA6-D44C644960C1}"/>
                    </a:ext>
                  </a:extLst>
                </p:cNvPr>
                <p:cNvGrpSpPr>
                  <a:grpSpLocks/>
                </p:cNvGrpSpPr>
                <p:nvPr/>
              </p:nvGrpSpPr>
              <p:grpSpPr>
                <a:xfrm>
                  <a:off x="4700850" y="1869887"/>
                  <a:ext cx="3795450" cy="1313605"/>
                  <a:chOff x="797462" y="1963790"/>
                  <a:chExt cx="3220935" cy="1410021"/>
                </a:xfrm>
              </p:grpSpPr>
              <p:sp>
                <p:nvSpPr>
                  <p:cNvPr id="22" name="Bullet4">
                    <a:extLst>
                      <a:ext uri="{FF2B5EF4-FFF2-40B4-BE49-F238E27FC236}">
                        <a16:creationId xmlns:a16="http://schemas.microsoft.com/office/drawing/2014/main" id="{6A9D252C-05E9-3865-ADD5-34D6BD9F1E67}"/>
                      </a:ext>
                    </a:extLst>
                  </p:cNvPr>
                  <p:cNvSpPr>
                    <a:spLocks/>
                  </p:cNvSpPr>
                  <p:nvPr/>
                </p:nvSpPr>
                <p:spPr>
                  <a:xfrm>
                    <a:off x="797462" y="1963790"/>
                    <a:ext cx="3220935" cy="43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latin typeface="Arial" panose="020B0604020202020204" pitchFamily="34" charset="0"/>
                        <a:ea typeface="微软雅黑" panose="020B0503020204020204" pitchFamily="34" charset="-122"/>
                        <a:sym typeface="Arial" panose="020B0604020202020204" pitchFamily="34" charset="0"/>
                      </a:rPr>
                      <a:t>媒体关系维护</a:t>
                    </a:r>
                    <a:endParaRPr lang="en-US" dirty="0"/>
                  </a:p>
                </p:txBody>
              </p:sp>
              <p:sp>
                <p:nvSpPr>
                  <p:cNvPr id="24" name="Text4">
                    <a:extLst>
                      <a:ext uri="{FF2B5EF4-FFF2-40B4-BE49-F238E27FC236}">
                        <a16:creationId xmlns:a16="http://schemas.microsoft.com/office/drawing/2014/main" id="{D673E8AA-8E61-937D-6910-54307984C878}"/>
                      </a:ext>
                    </a:extLst>
                  </p:cNvPr>
                  <p:cNvSpPr/>
                  <p:nvPr/>
                </p:nvSpPr>
                <p:spPr>
                  <a:xfrm>
                    <a:off x="797463" y="2399540"/>
                    <a:ext cx="3220934" cy="97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加强与媒体的合作，主动传递正面信息，借助媒体力量修复品牌形象，提升品牌的公信力。</a:t>
                    </a:r>
                    <a:endParaRPr lang="en-US" dirty="0"/>
                  </a:p>
                </p:txBody>
              </p:sp>
            </p:grpSp>
            <p:grpSp>
              <p:nvGrpSpPr>
                <p:cNvPr id="25" name="组合 24">
                  <a:extLst>
                    <a:ext uri="{FF2B5EF4-FFF2-40B4-BE49-F238E27FC236}">
                      <a16:creationId xmlns:a16="http://schemas.microsoft.com/office/drawing/2014/main" id="{01B5F30C-1948-F8BF-98E2-74009C070FC5}"/>
                    </a:ext>
                  </a:extLst>
                </p:cNvPr>
                <p:cNvGrpSpPr>
                  <a:grpSpLocks/>
                </p:cNvGrpSpPr>
                <p:nvPr/>
              </p:nvGrpSpPr>
              <p:grpSpPr>
                <a:xfrm>
                  <a:off x="4700850" y="3345192"/>
                  <a:ext cx="3795450" cy="1313605"/>
                  <a:chOff x="797462" y="1963790"/>
                  <a:chExt cx="3220935" cy="1410021"/>
                </a:xfrm>
              </p:grpSpPr>
              <p:sp>
                <p:nvSpPr>
                  <p:cNvPr id="26" name="Bullet5">
                    <a:extLst>
                      <a:ext uri="{FF2B5EF4-FFF2-40B4-BE49-F238E27FC236}">
                        <a16:creationId xmlns:a16="http://schemas.microsoft.com/office/drawing/2014/main" id="{9E3ED73C-90D0-2A4E-D237-B88A6F8E0277}"/>
                      </a:ext>
                    </a:extLst>
                  </p:cNvPr>
                  <p:cNvSpPr>
                    <a:spLocks/>
                  </p:cNvSpPr>
                  <p:nvPr/>
                </p:nvSpPr>
                <p:spPr>
                  <a:xfrm>
                    <a:off x="797462" y="1963790"/>
                    <a:ext cx="3220935" cy="43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latin typeface="Arial" panose="020B0604020202020204" pitchFamily="34" charset="0"/>
                        <a:ea typeface="微软雅黑" panose="020B0503020204020204" pitchFamily="34" charset="-122"/>
                        <a:sym typeface="Arial" panose="020B0604020202020204" pitchFamily="34" charset="0"/>
                      </a:rPr>
                      <a:t>长期品牌建设</a:t>
                    </a:r>
                    <a:endParaRPr lang="en-US" dirty="0"/>
                  </a:p>
                </p:txBody>
              </p:sp>
              <p:sp>
                <p:nvSpPr>
                  <p:cNvPr id="27" name="Text5">
                    <a:extLst>
                      <a:ext uri="{FF2B5EF4-FFF2-40B4-BE49-F238E27FC236}">
                        <a16:creationId xmlns:a16="http://schemas.microsoft.com/office/drawing/2014/main" id="{67444042-1F17-78E2-1A29-65B6E383FA6B}"/>
                      </a:ext>
                    </a:extLst>
                  </p:cNvPr>
                  <p:cNvSpPr/>
                  <p:nvPr/>
                </p:nvSpPr>
                <p:spPr>
                  <a:xfrm>
                    <a:off x="797463" y="2399540"/>
                    <a:ext cx="3220934" cy="97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在危机后持续优化品牌形象，通过优质产品和服务重建消费者信心，确保品牌价值的长期稳定。</a:t>
                    </a:r>
                    <a:endParaRPr lang="en-US" dirty="0"/>
                  </a:p>
                </p:txBody>
              </p:sp>
            </p:grpSp>
          </p:grpSp>
          <p:sp>
            <p:nvSpPr>
              <p:cNvPr id="11" name="PictureMisc1">
                <a:extLst>
                  <a:ext uri="{FF2B5EF4-FFF2-40B4-BE49-F238E27FC236}">
                    <a16:creationId xmlns:a16="http://schemas.microsoft.com/office/drawing/2014/main" id="{03D00E28-E711-81B2-A6EF-810873E0436D}"/>
                  </a:ext>
                </a:extLst>
              </p:cNvPr>
              <p:cNvSpPr>
                <a:spLocks/>
              </p:cNvSpPr>
              <p:nvPr/>
            </p:nvSpPr>
            <p:spPr>
              <a:xfrm>
                <a:off x="8677275" y="1713848"/>
                <a:ext cx="2841624" cy="4295242"/>
              </a:xfrm>
              <a:prstGeom prst="roundRect">
                <a:avLst>
                  <a:gd name="adj" fmla="val 3993"/>
                </a:avLst>
              </a:prstGeom>
              <a:blipFill>
                <a:blip r:embed="rId2"/>
                <a:srcRect/>
                <a:stretch>
                  <a:fillRect l="-85233" r="-8447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hasCustomPrompt="1"/>
          </p:nvPr>
        </p:nvSpPr>
        <p:spPr/>
        <p:txBody>
          <a:bodyPr/>
          <a:lstStyle/>
          <a:p>
            <a:r>
              <a:rPr lang="zh-CN" altLang="en-US" dirty="0"/>
              <a:t>危机公关与品牌保护</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21"/>
          <p:cNvSpPr>
            <a:spLocks noGrp="1"/>
          </p:cNvSpPr>
          <p:nvPr>
            <p:ph type="ctrTitle" hasCustomPrompt="1"/>
          </p:nvPr>
        </p:nvSpPr>
        <p:spPr/>
        <p:txBody>
          <a:bodyPr/>
          <a:lstStyle/>
          <a:p>
            <a:r>
              <a:rPr lang="zh-CN" altLang="en-US" dirty="0"/>
              <a:t>谢谢观看</a:t>
            </a:r>
            <a:endParaRPr lang="en-US" dirty="0"/>
          </a:p>
        </p:txBody>
      </p:sp>
      <p:sp>
        <p:nvSpPr>
          <p:cNvPr id="23" name="文本占位符 22"/>
          <p:cNvSpPr>
            <a:spLocks noGrp="1"/>
          </p:cNvSpPr>
          <p:nvPr>
            <p:ph type="body" sz="quarter" idx="13" hasCustomPrompt="1"/>
          </p:nvPr>
        </p:nvSpPr>
        <p:spPr/>
        <p:txBody>
          <a:bodyPr/>
          <a:lstStyle/>
          <a:p>
            <a:r>
              <a:rPr lang="zh-CN" altLang="en-US" dirty="0"/>
              <a:t>Presenter name</a:t>
            </a:r>
            <a:endParaRPr lang="en-US" dirty="0"/>
          </a:p>
        </p:txBody>
      </p:sp>
      <p:sp>
        <p:nvSpPr>
          <p:cNvPr id="24" name="文本占位符 23"/>
          <p:cNvSpPr>
            <a:spLocks noGrp="1"/>
          </p:cNvSpPr>
          <p:nvPr>
            <p:ph type="body" sz="quarter" idx="14" hasCustomPrompt="1"/>
          </p:nvPr>
        </p:nvSpPr>
        <p:spPr/>
        <p:txBody>
          <a:bodyPr/>
          <a:lstStyle/>
          <a:p>
            <a:r>
              <a:rPr lang="zh-CN" altLang="en-US" dirty="0"/>
              <a:t>2025/05/15</a:t>
            </a:r>
            <a:endParaRPr lang="en-US" dirty="0"/>
          </a:p>
        </p:txBody>
      </p:sp>
    </p:spTree>
  </p:cSld>
  <p:clrMapOvr>
    <a:masterClrMapping/>
  </p:clrMapOvr>
</p:sld>
</file>

<file path=ppt/slides/slide21.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Presenter name">
  <a:themeElements>
    <a:clrScheme name="新主题色">
      <a:dk1>
        <a:srgbClr val="000000"/>
      </a:dk1>
      <a:lt1>
        <a:srgbClr val="FFFFFF"/>
      </a:lt1>
      <a:dk2>
        <a:srgbClr val="778495"/>
      </a:dk2>
      <a:lt2>
        <a:srgbClr val="F0F0F0"/>
      </a:lt2>
      <a:accent1>
        <a:srgbClr val="2874E5"/>
      </a:accent1>
      <a:accent2>
        <a:srgbClr val="62CB78"/>
      </a:accent2>
      <a:accent3>
        <a:srgbClr val="44B4CF"/>
      </a:accent3>
      <a:accent4>
        <a:srgbClr val="7995D8"/>
      </a:accent4>
      <a:accent5>
        <a:srgbClr val="9FAFB9"/>
      </a:accent5>
      <a:accent6>
        <a:srgbClr val="B4BEC7"/>
      </a:accent6>
      <a:hlink>
        <a:srgbClr val="564EF8"/>
      </a:hlink>
      <a:folHlink>
        <a:srgbClr val="BFBFBF"/>
      </a:folHlink>
    </a:clrScheme>
    <a:fontScheme name="Presenter name">
      <a:majorFont>
        <a:latin typeface="Arial"/>
        <a:ea typeface="微软雅黑"/>
        <a:cs typeface=""/>
      </a:majorFont>
      <a:minorFont>
        <a:latin typeface="Arial"/>
        <a:ea typeface="微软雅黑"/>
        <a:cs typeface=""/>
      </a:minorFont>
    </a:fontScheme>
    <a:fmtScheme name="Presenter na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er na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2093</Words>
  <Application>Microsoft Office PowerPoint</Application>
  <PresentationFormat>宽屏</PresentationFormat>
  <Paragraphs>204</Paragraphs>
  <Slides>20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Arial</vt:lpstr>
      <vt:lpstr>Times New Roman</vt:lpstr>
      <vt:lpstr>Designed by Presenter name</vt:lpstr>
      <vt:lpstr>Work Summary. 通用行业工作总结</vt:lpstr>
      <vt:lpstr>PowerPoint 演示文稿</vt:lpstr>
      <vt:lpstr>行业整体概述</vt:lpstr>
      <vt:lpstr>行业背景与发展历程</vt:lpstr>
      <vt:lpstr>行业规模与市场分布</vt:lpstr>
      <vt:lpstr>行业竞争格局</vt:lpstr>
      <vt:lpstr>行业技术革新</vt:lpstr>
      <vt:lpstr>核心业务回顾</vt:lpstr>
      <vt:lpstr>产品与服务创新</vt:lpstr>
      <vt:lpstr>客户满意度提升</vt:lpstr>
      <vt:lpstr>成本控制与效率提升</vt:lpstr>
      <vt:lpstr>数据驱动决策</vt:lpstr>
      <vt:lpstr>团队建设与人才培养</vt:lpstr>
      <vt:lpstr>员工培训与发展</vt:lpstr>
      <vt:lpstr>绩效考核与激励机制</vt:lpstr>
      <vt:lpstr>风险管理与问题应对</vt:lpstr>
      <vt:lpstr>技术更新风险</vt:lpstr>
      <vt:lpstr>内部管理风险</vt:lpstr>
      <vt:lpstr>危机公关与品牌保护</vt:lpstr>
      <vt:lpstr>谢谢观看</vt:lpstr>
    </vt:vector>
  </TitlesOfParts>
  <Company>Presenter name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Presenter name PowerPoint Template</dc:title>
  <dc:creator>Presenter name</dc:creator>
  <cp:lastModifiedBy>hhq123</cp:lastModifiedBy>
  <cp:revision>115</cp:revision>
  <dcterms:created xsi:type="dcterms:W3CDTF">2023-06-05T05:58:43Z</dcterms:created>
  <dcterms:modified xsi:type="dcterms:W3CDTF">2025-07-10T05:39:42Z</dcterms:modified>
</cp:coreProperties>
</file>